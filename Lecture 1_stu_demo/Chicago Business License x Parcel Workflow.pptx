
<file path=[Content_Types].xml><?xml version="1.0" encoding="utf-8"?>
<Types xmlns="http://schemas.openxmlformats.org/package/2006/content-types">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slides/slide20.xml" Type="http://schemas.openxmlformats.org/officeDocument/2006/relationships/slide"/><Relationship Id="rId29" Target="slides/slide21.xml" Type="http://schemas.openxmlformats.org/officeDocument/2006/relationships/slide"/><Relationship Id="rId3" Target="presProps.xml" Type="http://schemas.openxmlformats.org/officeDocument/2006/relationships/presProps"/><Relationship Id="rId30" Target="slides/slide22.xml" Type="http://schemas.openxmlformats.org/officeDocument/2006/relationships/slide"/><Relationship Id="rId31" Target="slides/slide23.xml" Type="http://schemas.openxmlformats.org/officeDocument/2006/relationships/slide"/><Relationship Id="rId32" Target="slides/slide24.xml" Type="http://schemas.openxmlformats.org/officeDocument/2006/relationships/slide"/><Relationship Id="rId33" Target="slides/slide25.xml" Type="http://schemas.openxmlformats.org/officeDocument/2006/relationships/slide"/><Relationship Id="rId34" Target="slides/slide26.xml" Type="http://schemas.openxmlformats.org/officeDocument/2006/relationships/slide"/><Relationship Id="rId35" Target="slides/slide27.xml" Type="http://schemas.openxmlformats.org/officeDocument/2006/relationships/slide"/><Relationship Id="rId36" Target="slides/slide28.xml" Type="http://schemas.openxmlformats.org/officeDocument/2006/relationships/slide"/><Relationship Id="rId37" Target="slides/slide29.xml" Type="http://schemas.openxmlformats.org/officeDocument/2006/relationships/slide"/><Relationship Id="rId38" Target="notesSlides/notesSlide1.xml" Type="http://schemas.openxmlformats.org/officeDocument/2006/relationships/notesSlide"/><Relationship Id="rId39" Target="notesSlides/notesSlide2.xml" Type="http://schemas.openxmlformats.org/officeDocument/2006/relationships/notesSlide"/><Relationship Id="rId4" Target="slideMasters/slideMaster1.xml" Type="http://schemas.openxmlformats.org/officeDocument/2006/relationships/slideMaster"/><Relationship Id="rId40" Target="notesSlides/notesSlide3.xml" Type="http://schemas.openxmlformats.org/officeDocument/2006/relationships/notesSlide"/><Relationship Id="rId41" Target="notesSlides/notesSlide4.xml" Type="http://schemas.openxmlformats.org/officeDocument/2006/relationships/notesSlide"/><Relationship Id="rId42" Target="notesSlides/notesSlide5.xml" Type="http://schemas.openxmlformats.org/officeDocument/2006/relationships/notesSlide"/><Relationship Id="rId43" Target="notesSlides/notesSlide6.xml" Type="http://schemas.openxmlformats.org/officeDocument/2006/relationships/notesSlide"/><Relationship Id="rId44" Target="notesSlides/notesSlide7.xml" Type="http://schemas.openxmlformats.org/officeDocument/2006/relationships/notesSlide"/><Relationship Id="rId45" Target="notesSlides/notesSlide8.xml" Type="http://schemas.openxmlformats.org/officeDocument/2006/relationships/notesSlide"/><Relationship Id="rId46" Target="notesSlides/notesSlide9.xml" Type="http://schemas.openxmlformats.org/officeDocument/2006/relationships/notesSlide"/><Relationship Id="rId47" Target="notesSlides/notesSlide10.xml" Type="http://schemas.openxmlformats.org/officeDocument/2006/relationships/notesSlide"/><Relationship Id="rId48" Target="notesSlides/notesSlide11.xml" Type="http://schemas.openxmlformats.org/officeDocument/2006/relationships/notesSlide"/><Relationship Id="rId49" Target="notesSlides/notesSlide12.xml" Type="http://schemas.openxmlformats.org/officeDocument/2006/relationships/notesSlide"/><Relationship Id="rId50" Target="notesSlides/notesSlide13.xml" Type="http://schemas.openxmlformats.org/officeDocument/2006/relationships/notesSlide"/><Relationship Id="rId51" Target="notesSlides/notesSlide14.xml" Type="http://schemas.openxmlformats.org/officeDocument/2006/relationships/notesSlide"/><Relationship Id="rId52" Target="notesSlides/notesSlide15.xml" Type="http://schemas.openxmlformats.org/officeDocument/2006/relationships/notesSlide"/><Relationship Id="rId53" Target="notesSlides/notesSlide16.xml" Type="http://schemas.openxmlformats.org/officeDocument/2006/relationships/notesSlide"/><Relationship Id="rId54" Target="notesSlides/notesSlide17.xml" Type="http://schemas.openxmlformats.org/officeDocument/2006/relationships/notesSlide"/><Relationship Id="rId55" Target="notesSlides/notesSlide18.xml" Type="http://schemas.openxmlformats.org/officeDocument/2006/relationships/notesSlide"/><Relationship Id="rId56" Target="notesSlides/notesSlide19.xml" Type="http://schemas.openxmlformats.org/officeDocument/2006/relationships/notesSlide"/><Relationship Id="rId57" Target="notesSlides/notesSlide20.xml" Type="http://schemas.openxmlformats.org/officeDocument/2006/relationships/notesSlide"/><Relationship Id="rId58" Target="notesSlides/notesSlide21.xml" Type="http://schemas.openxmlformats.org/officeDocument/2006/relationships/notesSlide"/><Relationship Id="rId59" Target="notesSlides/notesSlide22.xml" Type="http://schemas.openxmlformats.org/officeDocument/2006/relationships/notesSlide"/><Relationship Id="rId6" Target="notesMasters/notesMaster1.xml" Type="http://schemas.openxmlformats.org/officeDocument/2006/relationships/notesMaster"/><Relationship Id="rId60" Target="notesSlides/notesSlide23.xml" Type="http://schemas.openxmlformats.org/officeDocument/2006/relationships/notesSlide"/><Relationship Id="rId61" Target="notesSlides/notesSlide24.xml" Type="http://schemas.openxmlformats.org/officeDocument/2006/relationships/notesSlide"/><Relationship Id="rId62" Target="notesSlides/notesSlide25.xml" Type="http://schemas.openxmlformats.org/officeDocument/2006/relationships/notesSlide"/><Relationship Id="rId63" Target="notesSlides/notesSlide26.xml" Type="http://schemas.openxmlformats.org/officeDocument/2006/relationships/notesSlide"/><Relationship Id="rId64" Target="notesSlides/notesSlide27.xml" Type="http://schemas.openxmlformats.org/officeDocument/2006/relationships/notesSlide"/><Relationship Id="rId65" Target="notesSlides/notesSlide28.xml" Type="http://schemas.openxmlformats.org/officeDocument/2006/relationships/notesSlide"/><Relationship Id="rId66" Target="notesSlides/notesSlide29.xml" Type="http://schemas.openxmlformats.org/officeDocument/2006/relationships/notesSlide"/><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200">
                <a:solidFill>
                  <a:srgbClr val="000000"/>
                </a:solidFill>
                <a:latin typeface="Noto Sans SC"/>
                <a:ea typeface="Noto Sans SC"/>
                <a:cs typeface="Noto Sans SC"/>
                <a:sym typeface="Noto Sans SC"/>
              </a:rPr>
              <a:t>大家好，欢迎参加本次关于“芝加哥商业许可证与地块数据工作流”的演示。今天，我们将深入探讨如何将芝加哥的商业许可证记录、评估员分类数据以及地块多边形数据进行整合分析。本次演示将作为第一讲的实践指南，帮助大家理解整个数据处理流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首先，我们来看一下本项目的背景和学习目标。本次课程的核心目标是掌握一个完整的商业数据分析流程。具体来说，我们将学习如何理解项目背景、导入和检查数据、通过PIN到分类的映射构建商业地块子集、使用空间连接匹配商业许可证点与地块，并最终导出干净的数据用于后续分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8333"/>
              </a:lnSpc>
            </a:pPr>
            <a:r>
              <a:rPr lang="en-US" b="false" i="false" strike="noStrike" u="none" sz="1200">
                <a:solidFill>
                  <a:srgbClr val="000000"/>
                </a:solidFill>
                <a:latin typeface="Songti SC"/>
                <a:ea typeface="Songti SC"/>
                <a:cs typeface="Songti SC"/>
                <a:sym typeface="Songti SC"/>
              </a:rPr>
              <a:t>本次演示的笔记本结构分为四个部分。第一部分是准备工作和项目背景介绍，涵盖环境配置和数据源梳理。第二部分将详细讲解数据导入和对各个数据集的理解，确保数据质量。第三部分是核心的组合工作流，包含商业地块子集构建和空间连接匹配两个关键步骤。最后，第四部分将展示如何将单年度的工作流扩展为可处理多年数据的可扩展管道，以实现自动化和复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现在我们进入第一部分：准备工作。首先是环境和Python基础。我们推荐使用Python 3.11或更高版本，以获得更好的性能和兼容性。</a:t>
            </a:r>
          </a:p>
          <a:p>
            <a:pPr algn="l" indent="0">
              <a:lnSpc>
                <a:spcPct val="100000"/>
              </a:lnSpc>
            </a:pPr>
            <a:r>
              <a:rPr lang="en-US" b="false" i="false" strike="noStrike" u="none" sz="1400">
                <a:solidFill>
                  <a:srgbClr val="000000"/>
                </a:solidFill>
              </a:rPr>
              <a:t>在项目根目录下创建一个本地虚拟环境是非常必要的，这能有效隔离项目间的依赖冲突。同时，请注意在编辑器中，确保你的Python脚本和Jupyter笔记本都使用同一个解释器，避免环境不一致带来的问题。</a:t>
            </a:r>
          </a:p>
          <a:p>
            <a:pPr algn="l" indent="0">
              <a:lnSpc>
                <a:spcPct val="100000"/>
              </a:lnSpc>
            </a:pPr>
            <a:r>
              <a:rPr lang="en-US" b="false" i="false" strike="noStrike" u="none" sz="1400">
                <a:solidFill>
                  <a:srgbClr val="000000"/>
                </a:solidFill>
              </a:rPr>
              <a:t>接下来是依赖包。对于本次项目，我们需要的核心包包括：用于数据处理的 pandas，空间分析的 geopandas 和 shapely，数据读取的 pyogrio、fiona 和 pyarrow，以及绘图用的 matplotlib。</a:t>
            </a:r>
          </a:p>
          <a:p>
            <a:pPr algn="l" indent="0">
              <a:lnSpc>
                <a:spcPct val="100000"/>
              </a:lnSpc>
            </a:pPr>
            <a:r>
              <a:rPr lang="en-US" b="false" i="false" strike="noStrike" u="none" sz="1400">
                <a:solidFill>
                  <a:srgbClr val="000000"/>
                </a:solidFill>
              </a:rPr>
              <a:t>此外，还有两个非常实用的辅助工具：使用 requests 可以方便地调用API获取网络数据；使用 tqdm 可以为循环任务添加进度条，让你更直观地了解程序运行状态。建议大家提前安装好这些工具，为后续的分析做好准备。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是任务背景。芝加哥的商业许可证记录包含位置信息，但它们并没有直接链接到地块多边形。因此，我们的项目目标是：从评估员的分类信息中识别出商业地块，将商业许可证的位置匹配到地块几何图形上，构建可供分析的年度表格，并以快速、可复用的格式保存输出。</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项目的核心挑战在于，商业许可证是带经纬度的点记录，而地块是多边形要素，两者没有直接的连接键。在进行空间匹配前，我们必须先构建一个仅包含商业地块的子集。我们的解决方案模式是：先进行PIN到分类的映射，然后执行点在多边形内的空间连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现在我们进入第二部分：数据导入和来源概述。本次演示主要涉及三个数据输入：芝加哥商业许可证数据、库克县评估员评估价值数据，以及按年份划分的本地地块shapefile。需要注意的是，本笔记本采用“本地优先”的设计风格，在线端点仅作为可选参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首先来看商业许可证数据集。在本次演示中，我们主要读取本地的完整CSV文件以确保课堂演示的稳定性。在线数据源作为备选。在按年份或几何可用性筛选之前，我们需要先检查数据的列。关键列包括许可证ID、公司名称、许可证描述、日期、状态、经纬度和地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是地块数据集，我们以2016年为例。在演示中，我们将加载选定年份的地块多边形，确认行数和坐标参考系统，并在连接前检查一些结构性列。关键列包括用于跨数据集匹配的标准化PIN10、地块类型代码、面积、周长，以及用于空间连接的几何图形。</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那么，为什么我们需要PIN到分类的映射呢？核心逻辑是这样的：首先，使用评估价值表将PIN映射到分类；然后，选择商业分类代码；接着，将评估员的PIN格式转换为地块兼容的键；之后，将选定的PIN连接到地块多边形；最后，从许可证点到商业地块运行空间连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200">
                <a:solidFill>
                  <a:srgbClr val="000000"/>
                </a:solidFill>
                <a:latin typeface="Noto Sans SC"/>
                <a:ea typeface="Noto Sans SC"/>
                <a:cs typeface="Noto Sans SC"/>
                <a:sym typeface="Noto Sans SC"/>
              </a:rPr>
              <a:t>一个关键步骤是PIN格式的对齐。评估员的PIN和地块的PIN10格式不同，例如前者是带分隔符的，后者是纯数字的。我们的标准化规则是：移除非数字字符，保留前10位数字，必要时补零，并将结果存储为`pin10_key`，以便后续连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筛选商业分类时，我们采用分类代码策略，而不是地块类型标签。我们使用两层选择逻辑：主要白名单包含来自主要组5、7、8的核心商业分类；补充白名单则包含来自其他组的混合用途和部分商业分类。这一步的输出是一个标准化的目标商业分类代码列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200">
                <a:solidFill>
                  <a:srgbClr val="000000"/>
                </a:solidFill>
                <a:latin typeface="Calibri"/>
                <a:ea typeface="Calibri"/>
                <a:cs typeface="Calibri"/>
                <a:sym typeface="Calibri"/>
              </a:rPr>
              <a:t>现在我们进入第三部分：组合工作流。这一部分将把独立的数据集整合成一个分析工作流。它包含三个操作阶段：首先，从评估员数据中筛选出商业PIN分类记录；其次，将筛选后的商业PIN与地块数据连接；最后，将商业许可证匹配到商业地块上。</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第一步是根据商业分类筛选PIN。输入是评估员评估价值数据集。我们的目标是只保留那些分类属于选定商业列表的记录，并建立一个原始PIN、分类和标准化pin10_key之间的清晰映射。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构建筛选后的PIN分类记录时，我们的处理逻辑支持本地CSV模式和在线API模式。处理大文件时只读取需要的列，将分类代码和PIN值标准化，并在需要时分块导出去重后的记录。这一步至关重要，因为它是连接评估员分类和地块几何图形的桥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汇总和保存阶段，主要输出包括唯一的筛选后PIN分类表、分类分布汇总、带有分类计数和列表的PIN10级汇总，以及用于重现性的进度和分析文件。一个重要的教学点是，要将原始筛选记录和地块级汇总作为单独的输出保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第二步是将地块与评估的商业分类相结合。我们的目标是加载选定年份的一个地块图层，将地块多边形连接到第一步生成的商业PIN汇总，并生成一个仅包含商业地块的数据集。这将为下一步的空间连接创建地理空间目标图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200">
                <a:solidFill>
                  <a:srgbClr val="000000"/>
                </a:solidFill>
                <a:latin typeface="Songti SC"/>
                <a:ea typeface="Songti SC"/>
                <a:cs typeface="Songti SC"/>
                <a:sym typeface="Songti SC"/>
              </a:rPr>
              <a:t>在加载地块和第一步输出时，我们的处理逻辑包括读取选定年份的地块shapefile，读取第一步筛选后的PIN分类导出文件，将地块的PIN10标准化为相同的pin10_key格式，并在合并前验证行数和坐标参考系统。一个关键检查是，如果地块文件或第一步导出文件缺失，应提前终止并给出明确的错误提示，避免程序运行到一半崩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聚合、合并和导出阶段，我们首先按pin10_key对筛选后的分类进行分组，计算每个地块的分类计数，并构建分类列表以保留多分类地块。然后执行内连接，只保留商业地块。主要输出是包含商业地块几何图形的GeoPackage和包含商业地块属性的CSV文件，这些文件已经结构化，便于后续的空间分析或商业分析使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第三步是将商业许可证匹配到商业地块。我们的目标是准备一年的商业许可证记录，将有效的许可证行转换为点几何图形，然后将这些点与商业地块多边形进行空间匹配，并保存匹配结果以供分析。这一步将行政记录与物理地理联系起来，是后续分析商业活动分布模式的关键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200">
                <a:solidFill>
                  <a:srgbClr val="000000"/>
                </a:solidFill>
                <a:latin typeface="Songti SC"/>
                <a:ea typeface="Songti SC"/>
                <a:cs typeface="Songti SC"/>
                <a:sym typeface="Songti SC"/>
              </a:rPr>
              <a:t>在标准化和筛选单年度许可证时，处理逻辑支持本地CSV和在线API加载，标准化列名，解析日期和坐标，并为选定年份构建有效性逻辑。同时，我们会分离出所有有效行和带有可用坐标的有效行。这个过程中会产生一些重要的派生字段，如`start_eff`、`is_valid_in_year`等。</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200">
                <a:solidFill>
                  <a:srgbClr val="000000"/>
                </a:solidFill>
                <a:latin typeface="Songti SC"/>
                <a:ea typeface="Songti SC"/>
                <a:cs typeface="Songti SC"/>
                <a:sym typeface="Songti SC"/>
              </a:rPr>
              <a:t>空间连接和质量保证阶段的地理空间工作流包括：将许可证的经纬度转换为点几何图形，将点重新投影到地块的坐标参考系统，应用“内”谓词进行空间连接，并检查匹配的行数、唯一许可证和唯一地块。质量检查包括计算匹配率、按许可证组分布以及预览连接后的属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最后，在导出匹配输出阶段，主要输出是匹配后许可证记录的地理空间Parquet文件。我们选择Parquet格式是因为它存储紧凑、下游读取速度快，并且非常适合分析管道。此外，可选的预览地图可以帮助学生直观地验证连接是否符合预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现在我们进入第四部分：多年期扩展。这一部分将把单年度的工作流转换为一个可扩展的管道。其目的包括：检测可用的地块年份，添加可选的Google Drive地块源，在不同年份间复用第二步和第三步的逻辑，并编写一个整合的过程日志。</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在多年期扩展中，首先是检测可用年份和输出路径。本地工作流会自动搜索地块目录并检测年份，这避免了在管道中硬编码年份列表。同时，我们增加了Google Drive共享链接的打开功能，用于处理存储在云端的地块数据。其核心思想是解析文件夹页面，找到压缩包，并通过HTTP范围请求检查其内容。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我们将年度逻辑封装成一个可重用的函数。这个函数负责加载地块、标准化键、构建商业地块、筛选许可证、运行空间连接和保存输出。然后，我们为所有年份运行这个工作流。其执行模式是一次性加载源数据，然后遍历目标年份，可选择跳过已有输出，并保存运行日志。这是课堂演示的生产友好版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回顾整个工作流，关键的输出包括：第一步的筛选后PIN分类导出和分类汇总表；第二步的商业地块GeoPackage和地块属性CSV；第三步的匹配后许可证地理空间Parquet；以及第四部分的多年期过程日志。</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最后，总结一下本次课程的教学要点。第一，公共数据集在合并前通常需要进行键的标准化。第二，应在空间匹配前进行地块筛选以减少噪声。第三，空间连接在强大的表格预处理后效果最佳。第四，如果工作流需要跨多年扩展，导出结构至关重要。最后，一个好的教学笔记本需要在可重现性、清晰度和可扩展性之间取得平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感谢大家的参与。本次演示到此结束。我们展示了如何从原始的公共数据出发，通过一系列处理步骤，最终得到可供分析的地理空间输出。希望这次演示能帮助大家更好地理解商业数据分析的实际应用。谢谢！</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png" Type="http://schemas.openxmlformats.org/officeDocument/2006/relationships/image"/><Relationship Id="rId3" Target="../media/image9.png" Type="http://schemas.openxmlformats.org/officeDocument/2006/relationships/image"/><Relationship Id="rId4" Target="../media/image10.png" Type="http://schemas.openxmlformats.org/officeDocument/2006/relationships/image"/><Relationship Id="rId5" Target="../media/image11.png" Type="http://schemas.openxmlformats.org/officeDocument/2006/relationships/image"/><Relationship Id="rId6" Target="../media/image12.png" Type="http://schemas.openxmlformats.org/officeDocument/2006/relationships/image"/><Relationship Id="rId7" Target="../media/image13.png" Type="http://schemas.openxmlformats.org/officeDocument/2006/relationships/image"/><Relationship Id="rId8"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png" Type="http://schemas.openxmlformats.org/officeDocument/2006/relationships/image"/><Relationship Id="rId3"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22.png" Type="http://schemas.openxmlformats.org/officeDocument/2006/relationships/image"/><Relationship Id="rId11" Target="../media/image23.svg" Type="http://schemas.openxmlformats.org/officeDocument/2006/relationships/image"/><Relationship Id="rId12" Target="../media/image24.png" Type="http://schemas.openxmlformats.org/officeDocument/2006/relationships/image"/><Relationship Id="rId13" Target="../media/image25.svg" Type="http://schemas.openxmlformats.org/officeDocument/2006/relationships/image"/><Relationship Id="rId14" Target="../media/image26.png" Type="http://schemas.openxmlformats.org/officeDocument/2006/relationships/image"/><Relationship Id="rId15" Target="../media/image27.svg" Type="http://schemas.openxmlformats.org/officeDocument/2006/relationships/image"/><Relationship Id="rId16" Target="../notesSlides/notesSlide9.xml" Type="http://schemas.openxmlformats.org/officeDocument/2006/relationships/notesSlide"/><Relationship Id="rId2" Target="../media/image14.png" Type="http://schemas.openxmlformats.org/officeDocument/2006/relationships/image"/><Relationship Id="rId3" Target="../media/image15.sv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 Id="rId6" Target="../media/image18.png" Type="http://schemas.openxmlformats.org/officeDocument/2006/relationships/image"/><Relationship Id="rId7" Target="../media/image19.svg" Type="http://schemas.openxmlformats.org/officeDocument/2006/relationships/image"/><Relationship Id="rId8" Target="../media/image20.png" Type="http://schemas.openxmlformats.org/officeDocument/2006/relationships/image"/><Relationship Id="rId9" Target="../media/image21.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26.png" Type="http://schemas.openxmlformats.org/officeDocument/2006/relationships/image"/><Relationship Id="rId11" Target="../media/image27.svg" Type="http://schemas.openxmlformats.org/officeDocument/2006/relationships/image"/><Relationship Id="rId12" Target="../notesSlides/notesSlide10.xml" Type="http://schemas.openxmlformats.org/officeDocument/2006/relationships/notesSlide"/><Relationship Id="rId2" Target="../media/image28.png" Type="http://schemas.openxmlformats.org/officeDocument/2006/relationships/image"/><Relationship Id="rId3" Target="../media/image29.svg" Type="http://schemas.openxmlformats.org/officeDocument/2006/relationships/image"/><Relationship Id="rId4" Target="../media/image30.png" Type="http://schemas.openxmlformats.org/officeDocument/2006/relationships/image"/><Relationship Id="rId5" Target="../media/image31.svg" Type="http://schemas.openxmlformats.org/officeDocument/2006/relationships/image"/><Relationship Id="rId6" Target="../media/image32.png" Type="http://schemas.openxmlformats.org/officeDocument/2006/relationships/image"/><Relationship Id="rId7" Target="../media/image33.svg" Type="http://schemas.openxmlformats.org/officeDocument/2006/relationships/image"/><Relationship Id="rId8" Target="../media/image34.png" Type="http://schemas.openxmlformats.org/officeDocument/2006/relationships/image"/><Relationship Id="rId9" Target="../media/image35.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11.xml" Type="http://schemas.openxmlformats.org/officeDocument/2006/relationships/notesSlide"/><Relationship Id="rId2" Target="../media/image2.png" Type="http://schemas.openxmlformats.org/officeDocument/2006/relationships/image"/><Relationship Id="rId3" Target="../media/image9.png" Type="http://schemas.openxmlformats.org/officeDocument/2006/relationships/image"/><Relationship Id="rId4" Target="../media/image36.png" Type="http://schemas.openxmlformats.org/officeDocument/2006/relationships/image"/><Relationship Id="rId5" Target="../media/image37.png" Type="http://schemas.openxmlformats.org/officeDocument/2006/relationships/image"/><Relationship Id="rId6" Target="../media/image10.png" Type="http://schemas.openxmlformats.org/officeDocument/2006/relationships/image"/><Relationship Id="rId7" Target="../media/image11.png" Type="http://schemas.openxmlformats.org/officeDocument/2006/relationships/image"/><Relationship Id="rId8" Target="../media/image12.png" Type="http://schemas.openxmlformats.org/officeDocument/2006/relationships/image"/><Relationship Id="rId9" Target="../media/image1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png" Type="http://schemas.openxmlformats.org/officeDocument/2006/relationships/image"/><Relationship Id="rId3" Target="../media/image38.png" Type="http://schemas.openxmlformats.org/officeDocument/2006/relationships/image"/><Relationship Id="rId4" Target="../media/image39.svg" Type="http://schemas.openxmlformats.org/officeDocument/2006/relationships/image"/><Relationship Id="rId5" Target="../media/image40.png" Type="http://schemas.openxmlformats.org/officeDocument/2006/relationships/image"/><Relationship Id="rId6" Target="../media/image41.svg" Type="http://schemas.openxmlformats.org/officeDocument/2006/relationships/image"/><Relationship Id="rId7"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png" Type="http://schemas.openxmlformats.org/officeDocument/2006/relationships/image"/><Relationship Id="rId3" Target="../media/image42.png" Type="http://schemas.openxmlformats.org/officeDocument/2006/relationships/image"/><Relationship Id="rId4"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png" Type="http://schemas.openxmlformats.org/officeDocument/2006/relationships/image"/><Relationship Id="rId3" Target="../media/image43.png" Type="http://schemas.openxmlformats.org/officeDocument/2006/relationships/image"/><Relationship Id="rId4" Target="../media/image44.svg" Type="http://schemas.openxmlformats.org/officeDocument/2006/relationships/image"/><Relationship Id="rId5" Target="../media/image45.png" Type="http://schemas.openxmlformats.org/officeDocument/2006/relationships/image"/><Relationship Id="rId6" Target="../media/image46.svg" Type="http://schemas.openxmlformats.org/officeDocument/2006/relationships/image"/><Relationship Id="rId7"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png" Type="http://schemas.openxmlformats.org/officeDocument/2006/relationships/image"/><Relationship Id="rId3" Target="../media/image47.png" Type="http://schemas.openxmlformats.org/officeDocument/2006/relationships/image"/><Relationship Id="rId4" Target="../media/image48.svg" Type="http://schemas.openxmlformats.org/officeDocument/2006/relationships/image"/><Relationship Id="rId5"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54.svg" Type="http://schemas.openxmlformats.org/officeDocument/2006/relationships/image"/><Relationship Id="rId11" Target="../notesSlides/notesSlide16.xml" Type="http://schemas.openxmlformats.org/officeDocument/2006/relationships/notesSlide"/><Relationship Id="rId2" Target="../media/image2.png" Type="http://schemas.openxmlformats.org/officeDocument/2006/relationships/image"/><Relationship Id="rId3" Target="../media/image28.png" Type="http://schemas.openxmlformats.org/officeDocument/2006/relationships/image"/><Relationship Id="rId4" Target="../media/image29.svg" Type="http://schemas.openxmlformats.org/officeDocument/2006/relationships/image"/><Relationship Id="rId5" Target="../media/image49.png" Type="http://schemas.openxmlformats.org/officeDocument/2006/relationships/image"/><Relationship Id="rId6" Target="../media/image50.svg" Type="http://schemas.openxmlformats.org/officeDocument/2006/relationships/image"/><Relationship Id="rId7" Target="../media/image51.png" Type="http://schemas.openxmlformats.org/officeDocument/2006/relationships/image"/><Relationship Id="rId8" Target="../media/image52.svg" Type="http://schemas.openxmlformats.org/officeDocument/2006/relationships/image"/><Relationship Id="rId9" Target="../media/image53.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17.xml" Type="http://schemas.openxmlformats.org/officeDocument/2006/relationships/notesSlide"/><Relationship Id="rId2" Target="../media/image55.png" Type="http://schemas.openxmlformats.org/officeDocument/2006/relationships/image"/><Relationship Id="rId3" Target="../media/image56.svg" Type="http://schemas.openxmlformats.org/officeDocument/2006/relationships/image"/><Relationship Id="rId4" Target="../media/image34.png" Type="http://schemas.openxmlformats.org/officeDocument/2006/relationships/image"/><Relationship Id="rId5" Target="../media/image35.svg" Type="http://schemas.openxmlformats.org/officeDocument/2006/relationships/image"/><Relationship Id="rId6" Target="../media/image57.png" Type="http://schemas.openxmlformats.org/officeDocument/2006/relationships/image"/><Relationship Id="rId7" Target="../media/image58.svg" Type="http://schemas.openxmlformats.org/officeDocument/2006/relationships/image"/><Relationship Id="rId8" Target="../media/image51.png" Type="http://schemas.openxmlformats.org/officeDocument/2006/relationships/image"/><Relationship Id="rId9" Target="../media/image52.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png" Type="http://schemas.openxmlformats.org/officeDocument/2006/relationships/image"/><Relationship Id="rId3" Target="../media/image9.png" Type="http://schemas.openxmlformats.org/officeDocument/2006/relationships/image"/><Relationship Id="rId4" Target="../media/image36.png" Type="http://schemas.openxmlformats.org/officeDocument/2006/relationships/image"/><Relationship Id="rId5" Target="../media/image37.png" Type="http://schemas.openxmlformats.org/officeDocument/2006/relationships/image"/><Relationship Id="rId6" Target="../media/image13.png" Type="http://schemas.openxmlformats.org/officeDocument/2006/relationships/image"/><Relationship Id="rId7" Target="../media/image10.png" Type="http://schemas.openxmlformats.org/officeDocument/2006/relationships/image"/><Relationship Id="rId8" Target="../notesSlides/notesSlide18.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9.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20.xml" Type="http://schemas.openxmlformats.org/officeDocument/2006/relationships/notesSlide"/><Relationship Id="rId2" Target="../media/image59.png" Type="http://schemas.openxmlformats.org/officeDocument/2006/relationships/image"/><Relationship Id="rId3" Target="../media/image60.svg" Type="http://schemas.openxmlformats.org/officeDocument/2006/relationships/image"/><Relationship Id="rId4" Target="../media/image61.png" Type="http://schemas.openxmlformats.org/officeDocument/2006/relationships/image"/><Relationship Id="rId5" Target="../media/image62.svg" Type="http://schemas.openxmlformats.org/officeDocument/2006/relationships/image"/><Relationship Id="rId6" Target="../media/image63.png" Type="http://schemas.openxmlformats.org/officeDocument/2006/relationships/image"/><Relationship Id="rId7" Target="../media/image64.svg" Type="http://schemas.openxmlformats.org/officeDocument/2006/relationships/image"/><Relationship Id="rId8" Target="../media/image65.png" Type="http://schemas.openxmlformats.org/officeDocument/2006/relationships/image"/><Relationship Id="rId9" Target="../media/image66.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21.xml" Type="http://schemas.openxmlformats.org/officeDocument/2006/relationships/notesSlide"/><Relationship Id="rId2" Target="../media/image2.png" Type="http://schemas.openxmlformats.org/officeDocument/2006/relationships/image"/><Relationship Id="rId3" Target="../media/image67.png" Type="http://schemas.openxmlformats.org/officeDocument/2006/relationships/image"/><Relationship Id="rId4" Target="../media/image68.png" Type="http://schemas.openxmlformats.org/officeDocument/2006/relationships/image"/><Relationship Id="rId5" Target="../media/image69.png" Type="http://schemas.openxmlformats.org/officeDocument/2006/relationships/image"/><Relationship Id="rId6" Target="../media/image37.png" Type="http://schemas.openxmlformats.org/officeDocument/2006/relationships/image"/><Relationship Id="rId7" Target="../media/image70.png" Type="http://schemas.openxmlformats.org/officeDocument/2006/relationships/image"/><Relationship Id="rId8" Target="../media/image71.png" Type="http://schemas.openxmlformats.org/officeDocument/2006/relationships/image"/><Relationship Id="rId9" Target="../media/image72.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22.xml" Type="http://schemas.openxmlformats.org/officeDocument/2006/relationships/notesSlide"/><Relationship Id="rId2" Target="../media/image2.png" Type="http://schemas.openxmlformats.org/officeDocument/2006/relationships/image"/><Relationship Id="rId3" Target="../media/image9.png" Type="http://schemas.openxmlformats.org/officeDocument/2006/relationships/image"/><Relationship Id="rId4" Target="../media/image36.png" Type="http://schemas.openxmlformats.org/officeDocument/2006/relationships/image"/><Relationship Id="rId5" Target="../media/image37.png" Type="http://schemas.openxmlformats.org/officeDocument/2006/relationships/image"/><Relationship Id="rId6" Target="../media/image13.png" Type="http://schemas.openxmlformats.org/officeDocument/2006/relationships/image"/><Relationship Id="rId7" Target="../media/image10.png" Type="http://schemas.openxmlformats.org/officeDocument/2006/relationships/image"/><Relationship Id="rId8" Target="../media/image11.png" Type="http://schemas.openxmlformats.org/officeDocument/2006/relationships/image"/><Relationship Id="rId9" Target="../media/image12.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png" Type="http://schemas.openxmlformats.org/officeDocument/2006/relationships/image"/><Relationship Id="rId3" Target="../media/image73.png" Type="http://schemas.openxmlformats.org/officeDocument/2006/relationships/image"/><Relationship Id="rId4" Target="../media/image74.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26.png" Type="http://schemas.openxmlformats.org/officeDocument/2006/relationships/image"/><Relationship Id="rId8" Target="../media/image27.svg" Type="http://schemas.openxmlformats.org/officeDocument/2006/relationships/image"/><Relationship Id="rId9" Target="../notesSlides/notesSlide23.xml" Type="http://schemas.openxmlformats.org/officeDocument/2006/relationships/notesSlide"/></Relationships>
</file>

<file path=ppt/slides/_rels/slide24.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24.xml" Type="http://schemas.openxmlformats.org/officeDocument/2006/relationships/notesSlide"/><Relationship Id="rId2" Target="../media/image75.png" Type="http://schemas.openxmlformats.org/officeDocument/2006/relationships/image"/><Relationship Id="rId3" Target="../media/image76.svg" Type="http://schemas.openxmlformats.org/officeDocument/2006/relationships/image"/><Relationship Id="rId4" Target="../media/image77.png" Type="http://schemas.openxmlformats.org/officeDocument/2006/relationships/image"/><Relationship Id="rId5" Target="../media/image78.svg" Type="http://schemas.openxmlformats.org/officeDocument/2006/relationships/image"/><Relationship Id="rId6" Target="../media/image79.png" Type="http://schemas.openxmlformats.org/officeDocument/2006/relationships/image"/><Relationship Id="rId7" Target="../media/image80.svg" Type="http://schemas.openxmlformats.org/officeDocument/2006/relationships/image"/><Relationship Id="rId8" Target="../media/image81.png" Type="http://schemas.openxmlformats.org/officeDocument/2006/relationships/image"/><Relationship Id="rId9" Target="../media/image82.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5.xml" Type="http://schemas.openxmlformats.org/officeDocument/2006/relationships/notesSlide"/></Relationships>
</file>

<file path=ppt/slides/_rels/slide2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png" Type="http://schemas.openxmlformats.org/officeDocument/2006/relationships/image"/><Relationship Id="rId3" Target="../media/image83.png" Type="http://schemas.openxmlformats.org/officeDocument/2006/relationships/image"/><Relationship Id="rId4" Target="../media/image84.svg" Type="http://schemas.openxmlformats.org/officeDocument/2006/relationships/image"/><Relationship Id="rId5" Target="../media/image85.png" Type="http://schemas.openxmlformats.org/officeDocument/2006/relationships/image"/><Relationship Id="rId6" Target="../media/image86.svg" Type="http://schemas.openxmlformats.org/officeDocument/2006/relationships/image"/><Relationship Id="rId7" Target="../notesSlides/notesSlide26.xml" Type="http://schemas.openxmlformats.org/officeDocument/2006/relationships/notesSlide"/></Relationships>
</file>

<file path=ppt/slides/_rels/slide27.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7.xml" Type="http://schemas.openxmlformats.org/officeDocument/2006/relationships/notesSlide"/></Relationships>
</file>

<file path=ppt/slides/_rels/slide2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png" Type="http://schemas.openxmlformats.org/officeDocument/2006/relationships/image"/><Relationship Id="rId3" Target="../media/image9.png" Type="http://schemas.openxmlformats.org/officeDocument/2006/relationships/image"/><Relationship Id="rId4" Target="../media/image36.png" Type="http://schemas.openxmlformats.org/officeDocument/2006/relationships/image"/><Relationship Id="rId5" Target="../media/image37.png" Type="http://schemas.openxmlformats.org/officeDocument/2006/relationships/image"/><Relationship Id="rId6" Target="../media/image13.png" Type="http://schemas.openxmlformats.org/officeDocument/2006/relationships/image"/><Relationship Id="rId7" Target="../notesSlides/notesSlide28.xml" Type="http://schemas.openxmlformats.org/officeDocument/2006/relationships/notesSlide"/></Relationships>
</file>

<file path=ppt/slides/_rels/slide2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notesSlides/notesSlide29.xml" Type="http://schemas.openxmlformats.org/officeDocument/2006/relationships/notesSlide"/><Relationship Id="rId5" Target="../media/image8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5400000" flipH="false" flipV="false">
            <a:off x="7797800" y="3098800"/>
            <a:ext cx="6858000" cy="1016000"/>
          </a:xfrm>
          <a:prstGeom prst="rect">
            <a:avLst/>
          </a:prstGeom>
          <a:noFill/>
          <a:ln w="12700" cmpd="sng" cap="flat">
            <a:noFill/>
            <a:prstDash val="solid"/>
            <a:round/>
          </a:ln>
        </p:spPr>
        <p:txBody>
          <a:bodyPr anchor="t" rtlCol="false" anchorCtr="false" vert="horz" wrap="square" lIns="88900" rIns="88900" tIns="50800" bIns="50800"/>
          <a:lstStyle/>
          <a:p>
            <a:pPr algn="l" indent="0">
              <a:lnSpc>
                <a:spcPct val="100000"/>
              </a:lnSpc>
              <a:defRPr/>
            </a:pPr>
            <a:r>
              <a:rPr lang="en-US" b="false" i="false" strike="noStrike" u="none" sz="11600">
                <a:solidFill>
                  <a:srgbClr val="FFFFFF">
                    <a:alpha val="10980"/>
                  </a:srgbClr>
                </a:solidFill>
                <a:latin typeface="MiSans Bold"/>
                <a:ea typeface="MiSans Bold"/>
                <a:cs typeface="MiSans Bold"/>
                <a:sym typeface="MiSans Bold"/>
              </a:rPr>
              <a:t>2026</a:t>
            </a:r>
            <a:endParaRPr lang="en-US" sz="1100"/>
          </a:p>
        </p:txBody>
      </p:sp>
      <p:pic>
        <p:nvPicPr>
          <p:cNvPr name="Picture 3" id="3"/>
          <p:cNvPicPr>
            <a:picLocks noChangeAspect="true"/>
          </p:cNvPicPr>
          <p:nvPr/>
        </p:nvPicPr>
        <p:blipFill>
          <a:blip r:embed="rId2"/>
          <a:srcRect l="230" r="230" t="0" b="0"/>
          <a:stretch>
            <a:fillRect/>
          </a:stretch>
        </p:blipFill>
        <p:spPr>
          <a:xfrm rot="0" flipH="false" flipV="false">
            <a:off x="6718300" y="-12700"/>
            <a:ext cx="6172200" cy="6883400"/>
          </a:xfrm>
          <a:prstGeom prst="rect">
            <a:avLst/>
          </a:prstGeom>
          <a:noFill/>
          <a:ln w="25400" cmpd="sng" cap="flat">
            <a:noFill/>
            <a:prstDash val="solid"/>
            <a:round/>
          </a:ln>
        </p:spPr>
      </p:pic>
      <p:sp>
        <p:nvSpPr>
          <p:cNvPr name="AutoShape 4" id="4"/>
          <p:cNvSpPr/>
          <p:nvPr/>
        </p:nvSpPr>
        <p:spPr>
          <a:xfrm rot="0" flipH="false" flipV="false">
            <a:off x="5448300" y="152400"/>
            <a:ext cx="127000" cy="127000"/>
          </a:xfrm>
          <a:prstGeom prst="ellipse">
            <a:avLst/>
          </a:prstGeom>
          <a:solidFill>
            <a:srgbClr val="FFC844">
              <a:alpha val="4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5740400" y="152400"/>
            <a:ext cx="127000" cy="127000"/>
          </a:xfrm>
          <a:prstGeom prst="ellipse">
            <a:avLst/>
          </a:prstGeom>
          <a:solidFill>
            <a:srgbClr val="FFC844">
              <a:alpha val="4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6032500" y="152400"/>
            <a:ext cx="127000" cy="127000"/>
          </a:xfrm>
          <a:prstGeom prst="ellipse">
            <a:avLst/>
          </a:prstGeom>
          <a:solidFill>
            <a:srgbClr val="FFC844">
              <a:alpha val="4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6324600" y="152400"/>
            <a:ext cx="127000" cy="127000"/>
          </a:xfrm>
          <a:prstGeom prst="ellipse">
            <a:avLst/>
          </a:prstGeom>
          <a:solidFill>
            <a:srgbClr val="FFC844">
              <a:alpha val="4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5156200" y="152400"/>
            <a:ext cx="127000" cy="127000"/>
          </a:xfrm>
          <a:prstGeom prst="ellipse">
            <a:avLst/>
          </a:prstGeom>
          <a:solidFill>
            <a:srgbClr val="FFC844">
              <a:alpha val="4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5448300" y="419100"/>
            <a:ext cx="127000" cy="127000"/>
          </a:xfrm>
          <a:prstGeom prst="ellipse">
            <a:avLst/>
          </a:prstGeom>
          <a:solidFill>
            <a:srgbClr val="FFC844">
              <a:alpha val="4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5740400" y="419100"/>
            <a:ext cx="127000" cy="127000"/>
          </a:xfrm>
          <a:prstGeom prst="ellipse">
            <a:avLst/>
          </a:prstGeom>
          <a:solidFill>
            <a:srgbClr val="FFC844">
              <a:alpha val="4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6032500" y="419100"/>
            <a:ext cx="127000" cy="127000"/>
          </a:xfrm>
          <a:prstGeom prst="ellipse">
            <a:avLst/>
          </a:prstGeom>
          <a:solidFill>
            <a:srgbClr val="FFC844">
              <a:alpha val="4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6324600" y="419100"/>
            <a:ext cx="127000" cy="127000"/>
          </a:xfrm>
          <a:prstGeom prst="ellipse">
            <a:avLst/>
          </a:prstGeom>
          <a:solidFill>
            <a:srgbClr val="FFC844">
              <a:alpha val="4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5156200" y="419100"/>
            <a:ext cx="127000" cy="127000"/>
          </a:xfrm>
          <a:prstGeom prst="ellipse">
            <a:avLst/>
          </a:prstGeom>
          <a:solidFill>
            <a:srgbClr val="FFC844">
              <a:alpha val="4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5448300" y="685800"/>
            <a:ext cx="127000" cy="127000"/>
          </a:xfrm>
          <a:prstGeom prst="ellipse">
            <a:avLst/>
          </a:prstGeom>
          <a:solidFill>
            <a:srgbClr val="FFC844">
              <a:alpha val="4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5740400" y="685800"/>
            <a:ext cx="127000" cy="127000"/>
          </a:xfrm>
          <a:prstGeom prst="ellipse">
            <a:avLst/>
          </a:prstGeom>
          <a:solidFill>
            <a:srgbClr val="FFC844">
              <a:alpha val="4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6032500" y="685800"/>
            <a:ext cx="127000" cy="127000"/>
          </a:xfrm>
          <a:prstGeom prst="ellipse">
            <a:avLst/>
          </a:prstGeom>
          <a:solidFill>
            <a:srgbClr val="FFC844">
              <a:alpha val="4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6324600" y="685800"/>
            <a:ext cx="127000" cy="127000"/>
          </a:xfrm>
          <a:prstGeom prst="ellipse">
            <a:avLst/>
          </a:prstGeom>
          <a:solidFill>
            <a:srgbClr val="FFC844">
              <a:alpha val="4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5156200" y="685800"/>
            <a:ext cx="127000" cy="127000"/>
          </a:xfrm>
          <a:prstGeom prst="ellipse">
            <a:avLst/>
          </a:prstGeom>
          <a:solidFill>
            <a:srgbClr val="FFC844">
              <a:alpha val="4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4876800" y="152400"/>
            <a:ext cx="127000" cy="127000"/>
          </a:xfrm>
          <a:prstGeom prst="ellipse">
            <a:avLst/>
          </a:prstGeom>
          <a:solidFill>
            <a:srgbClr val="FFC844">
              <a:alpha val="4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4876800" y="419100"/>
            <a:ext cx="127000" cy="127000"/>
          </a:xfrm>
          <a:prstGeom prst="ellipse">
            <a:avLst/>
          </a:prstGeom>
          <a:solidFill>
            <a:srgbClr val="FFC844">
              <a:alpha val="4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4559300" y="152400"/>
            <a:ext cx="127000" cy="127000"/>
          </a:xfrm>
          <a:prstGeom prst="ellipse">
            <a:avLst/>
          </a:prstGeom>
          <a:solidFill>
            <a:srgbClr val="FFC844">
              <a:alpha val="4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5448300" y="952500"/>
            <a:ext cx="127000" cy="127000"/>
          </a:xfrm>
          <a:prstGeom prst="ellipse">
            <a:avLst/>
          </a:prstGeom>
          <a:solidFill>
            <a:srgbClr val="FFC844">
              <a:alpha val="4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5740400" y="952500"/>
            <a:ext cx="127000" cy="127000"/>
          </a:xfrm>
          <a:prstGeom prst="ellipse">
            <a:avLst/>
          </a:prstGeom>
          <a:solidFill>
            <a:srgbClr val="FFC844">
              <a:alpha val="4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6032500" y="952500"/>
            <a:ext cx="127000" cy="127000"/>
          </a:xfrm>
          <a:prstGeom prst="ellipse">
            <a:avLst/>
          </a:prstGeom>
          <a:solidFill>
            <a:srgbClr val="FFC844">
              <a:alpha val="4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6324600" y="952500"/>
            <a:ext cx="127000" cy="127000"/>
          </a:xfrm>
          <a:prstGeom prst="ellipse">
            <a:avLst/>
          </a:prstGeom>
          <a:solidFill>
            <a:srgbClr val="FFC844">
              <a:alpha val="4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457200" y="2286000"/>
            <a:ext cx="6616700" cy="1651000"/>
          </a:xfrm>
          <a:prstGeom prst="rect">
            <a:avLst/>
          </a:prstGeom>
          <a:noFill/>
          <a:ln w="12700" cmpd="sng" cap="flat">
            <a:noFill/>
            <a:prstDash val="solid"/>
            <a:round/>
          </a:ln>
        </p:spPr>
        <p:txBody>
          <a:bodyPr anchor="ctr" rtlCol="false" anchorCtr="false" vert="horz" wrap="square" lIns="88900" rIns="88900" tIns="50800" bIns="50800"/>
          <a:lstStyle/>
          <a:p>
            <a:pPr algn="l" indent="0">
              <a:lnSpc>
                <a:spcPct val="91666"/>
              </a:lnSpc>
              <a:defRPr/>
            </a:pPr>
            <a:r>
              <a:rPr lang="en-US" b="true" i="false" strike="noStrike" u="none" sz="7200">
                <a:solidFill>
                  <a:srgbClr val="FFC844"/>
                </a:solidFill>
                <a:latin typeface="MiSans Heavy"/>
                <a:ea typeface="MiSans Heavy"/>
                <a:cs typeface="MiSans Heavy"/>
                <a:sym typeface="MiSans Heavy"/>
              </a:rPr>
              <a:t>Chicago Business License</a:t>
            </a:r>
            <a:r>
              <a:rPr lang="en-US" b="true" i="false" strike="noStrike" u="none" sz="7200">
                <a:solidFill>
                  <a:srgbClr val="FFC844"/>
                </a:solidFill>
                <a:latin typeface="MiSans Heavy"/>
                <a:ea typeface="MiSans Heavy"/>
                <a:cs typeface="MiSans Heavy"/>
                <a:sym typeface="MiSans Heavy"/>
              </a:rPr>
              <a:t/>
            </a:r>
            <a:br>
              <a:rPr lang="en-US" b="true" i="false" strike="noStrike" u="none" sz="7200">
                <a:solidFill>
                  <a:srgbClr val="FFC844"/>
                </a:solidFill>
                <a:latin typeface="MiSans Heavy"/>
                <a:ea typeface="MiSans Heavy"/>
                <a:cs typeface="MiSans Heavy"/>
                <a:sym typeface="MiSans Heavy"/>
              </a:rPr>
            </a:br>
            <a:r>
              <a:rPr lang="en-US" b="true" i="false" strike="noStrike" u="none" sz="7200">
                <a:solidFill>
                  <a:srgbClr val="FFC844"/>
                </a:solidFill>
                <a:latin typeface="MiSans Heavy"/>
                <a:ea typeface="MiSans Heavy"/>
                <a:cs typeface="MiSans Heavy"/>
                <a:sym typeface="MiSans Heavy"/>
              </a:rPr>
              <a:t>x Parcel</a:t>
            </a:r>
            <a:endParaRPr lang="en-US" sz="1100"/>
          </a:p>
        </p:txBody>
      </p:sp>
      <p:sp>
        <p:nvSpPr>
          <p:cNvPr name="AutoShape 27" id="27"/>
          <p:cNvSpPr/>
          <p:nvPr/>
        </p:nvSpPr>
        <p:spPr>
          <a:xfrm rot="0" flipH="false" flipV="false">
            <a:off x="457200" y="4064000"/>
            <a:ext cx="6616700" cy="1143000"/>
          </a:xfrm>
          <a:prstGeom prst="rect">
            <a:avLst/>
          </a:prstGeom>
          <a:noFill/>
          <a:ln w="12700" cmpd="sng" cap="flat">
            <a:noFill/>
            <a:prstDash val="solid"/>
            <a:round/>
          </a:ln>
        </p:spPr>
        <p:txBody>
          <a:bodyPr anchor="ctr" rtlCol="false" anchorCtr="false" vert="horz" wrap="square" lIns="88900" rIns="88900" tIns="50800" bIns="50800"/>
          <a:lstStyle/>
          <a:p>
            <a:pPr algn="l" indent="0">
              <a:lnSpc>
                <a:spcPct val="100000"/>
              </a:lnSpc>
              <a:defRPr/>
            </a:pPr>
            <a:r>
              <a:rPr lang="en-US" b="false" i="false" strike="noStrike" u="none" sz="5200">
                <a:solidFill>
                  <a:srgbClr val="FA6400"/>
                </a:solidFill>
                <a:latin typeface="MiSans Bold"/>
                <a:ea typeface="MiSans Bold"/>
                <a:cs typeface="MiSans Bold"/>
                <a:sym typeface="MiSans Bold"/>
              </a:rPr>
              <a:t>Lecture 1 Demo Guide</a:t>
            </a:r>
            <a:endParaRPr lang="en-US" sz="1100"/>
          </a:p>
        </p:txBody>
      </p:sp>
      <p:sp>
        <p:nvSpPr>
          <p:cNvPr name="AutoShape 28" id="28"/>
          <p:cNvSpPr/>
          <p:nvPr/>
        </p:nvSpPr>
        <p:spPr>
          <a:xfrm rot="5400000" flipH="false" flipV="false">
            <a:off x="38100" y="1498600"/>
            <a:ext cx="1231900" cy="393700"/>
          </a:xfrm>
          <a:prstGeom prst="roundRect">
            <a:avLst>
              <a:gd name="adj" fmla="val 0"/>
            </a:avLst>
          </a:prstGeom>
          <a:solidFill>
            <a:srgbClr val="FFC844">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9" id="29"/>
          <p:cNvSpPr/>
          <p:nvPr/>
        </p:nvSpPr>
        <p:spPr>
          <a:xfrm rot="0" flipH="false" flipV="false">
            <a:off x="457200" y="1079500"/>
            <a:ext cx="1231900" cy="393700"/>
          </a:xfrm>
          <a:prstGeom prst="roundRect">
            <a:avLst>
              <a:gd name="adj" fmla="val 0"/>
            </a:avLst>
          </a:prstGeom>
          <a:solidFill>
            <a:srgbClr val="FFC844">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0" id="30"/>
          <p:cNvSpPr/>
          <p:nvPr/>
        </p:nvSpPr>
        <p:spPr>
          <a:xfrm rot="2700000" flipH="false" flipV="false">
            <a:off x="660400" y="1625600"/>
            <a:ext cx="1041400" cy="393700"/>
          </a:xfrm>
          <a:prstGeom prst="roundRect">
            <a:avLst>
              <a:gd name="adj" fmla="val 0"/>
            </a:avLst>
          </a:prstGeom>
          <a:solidFill>
            <a:srgbClr val="FFC844">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1" id="31"/>
          <p:cNvPicPr>
            <a:picLocks noChangeAspect="true"/>
          </p:cNvPicPr>
          <p:nvPr/>
        </p:nvPicPr>
        <p:blipFill>
          <a:blip r:embed="rId3"/>
          <a:srcRect l="0" r="0" t="469" b="469"/>
          <a:stretch>
            <a:fillRect/>
          </a:stretch>
        </p:blipFill>
        <p:spPr>
          <a:xfrm rot="0" flipH="false" flipV="false">
            <a:off x="444500" y="279400"/>
            <a:ext cx="2552700" cy="355600"/>
          </a:xfrm>
          <a:prstGeom prst="rect">
            <a:avLst/>
          </a:prstGeom>
          <a:noFill/>
          <a:ln w="25400" cmpd="sng" cap="flat">
            <a:noFill/>
            <a:prstDash val="solid"/>
            <a:round/>
          </a:ln>
        </p:spPr>
      </p:pic>
      <p:sp>
        <p:nvSpPr>
          <p:cNvPr name="AutoShape 32" id="32"/>
          <p:cNvSpPr/>
          <p:nvPr/>
        </p:nvSpPr>
        <p:spPr>
          <a:xfrm rot="0" flipH="false" flipV="false">
            <a:off x="469900" y="5334000"/>
            <a:ext cx="6959600" cy="1270000"/>
          </a:xfrm>
          <a:prstGeom prst="rect">
            <a:avLst/>
          </a:prstGeom>
          <a:noFill/>
          <a:ln w="12700" cmpd="sng" cap="flat">
            <a:noFill/>
            <a:prstDash val="solid"/>
            <a:round/>
          </a:ln>
        </p:spPr>
        <p:txBody>
          <a:bodyPr anchor="t" rtlCol="false" anchorCtr="false" vert="horz" wrap="square" lIns="88900" rIns="88900" tIns="50800" bIns="50800"/>
          <a:lstStyle/>
          <a:p>
            <a:pPr algn="l" indent="0">
              <a:lnSpc>
                <a:spcPct val="108333"/>
              </a:lnSpc>
              <a:defRPr/>
            </a:pPr>
            <a:r>
              <a:rPr lang="en-US" b="false" i="false" strike="noStrike" u="none" sz="1800">
                <a:solidFill>
                  <a:srgbClr val="374151"/>
                </a:solidFill>
                <a:latin typeface="Noto Sans SC"/>
                <a:ea typeface="Noto Sans SC"/>
                <a:cs typeface="Noto Sans SC"/>
                <a:sym typeface="Noto Sans SC"/>
              </a:rPr>
              <a:t>Business Data Analytics Workflow for Chicago business licenses, assessor class records, and parcel polygons</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508000" y="381000"/>
            <a:ext cx="10160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0000"/>
                </a:solidFill>
                <a:latin typeface="HarmonyOS Sans SC Bold"/>
                <a:ea typeface="HarmonyOS Sans SC Bold"/>
                <a:cs typeface="HarmonyOS Sans SC Bold"/>
                <a:sym typeface="HarmonyOS Sans SC Bold"/>
              </a:rPr>
              <a:t>Project Background</a:t>
            </a:r>
            <a:endParaRPr lang="en-US" sz="1100"/>
          </a:p>
        </p:txBody>
      </p:sp>
      <p:sp>
        <p:nvSpPr>
          <p:cNvPr name="AutoShape 3" id="3"/>
          <p:cNvSpPr/>
          <p:nvPr/>
        </p:nvSpPr>
        <p:spPr>
          <a:xfrm rot="0" flipH="false" flipV="false">
            <a:off x="317500" y="508000"/>
            <a:ext cx="152400" cy="508000"/>
          </a:xfrm>
          <a:prstGeom prst="roundRect">
            <a:avLst>
              <a:gd name="adj" fmla="val 0"/>
            </a:avLst>
          </a:prstGeom>
          <a:solidFill>
            <a:srgbClr val="FECD5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317500" y="1397000"/>
            <a:ext cx="11557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400">
                <a:solidFill>
                  <a:srgbClr val="1F2329"/>
                </a:solidFill>
                <a:latin typeface="Noto Sans SC"/>
                <a:ea typeface="Noto Sans SC"/>
                <a:cs typeface="Noto Sans SC"/>
                <a:sym typeface="Noto Sans SC"/>
              </a:rPr>
              <a:t>Learning Goals</a:t>
            </a:r>
            <a:endParaRPr lang="en-US" sz="1100"/>
          </a:p>
        </p:txBody>
      </p:sp>
      <p:sp>
        <p:nvSpPr>
          <p:cNvPr name="AutoShape 5" id="5"/>
          <p:cNvSpPr/>
          <p:nvPr/>
        </p:nvSpPr>
        <p:spPr>
          <a:xfrm rot="0" flipH="false" flipV="false">
            <a:off x="317500" y="2286000"/>
            <a:ext cx="5588000" cy="4064000"/>
          </a:xfrm>
          <a:prstGeom prst="roundRect">
            <a:avLst>
              <a:gd name="adj" fmla="val 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571500" y="2540000"/>
            <a:ext cx="5080000" cy="355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spcBef>
                <a:spcPts val="1000"/>
              </a:spcBef>
              <a:defRPr/>
            </a:pPr>
            <a:r>
              <a:rPr lang="en-US" b="true" i="false" strike="noStrike" u="none" sz="1600">
                <a:solidFill>
                  <a:srgbClr val="F59E0B"/>
                </a:solidFill>
                <a:latin typeface="Noto Sans SC"/>
                <a:ea typeface="Noto Sans SC"/>
                <a:cs typeface="Noto Sans SC"/>
                <a:sym typeface="Noto Sans SC"/>
              </a:rPr>
              <a:t>01.</a:t>
            </a:r>
            <a:r>
              <a:rPr lang="en-US" b="false" i="false" strike="noStrike" u="none" sz="1500">
                <a:solidFill>
                  <a:srgbClr val="374151"/>
                </a:solidFill>
                <a:latin typeface="Noto Sans SC"/>
                <a:ea typeface="Noto Sans SC"/>
                <a:cs typeface="Noto Sans SC"/>
                <a:sym typeface="Noto Sans SC"/>
              </a:rPr>
              <a:t>Understand the project context and core data sources</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spcBef>
                <a:spcPts val="2000"/>
              </a:spcBef>
            </a:pPr>
            <a:r>
              <a:rPr lang="en-US" b="true" i="false" strike="noStrike" u="none" sz="1600">
                <a:solidFill>
                  <a:srgbClr val="F59E0B"/>
                </a:solidFill>
                <a:latin typeface="Noto Sans SC"/>
                <a:ea typeface="Noto Sans SC"/>
                <a:cs typeface="Noto Sans SC"/>
                <a:sym typeface="Noto Sans SC"/>
              </a:rPr>
              <a:t>02.</a:t>
            </a:r>
            <a:r>
              <a:rPr lang="en-US" b="false" i="false" strike="noStrike" u="none" sz="1500">
                <a:solidFill>
                  <a:srgbClr val="374151"/>
                </a:solidFill>
                <a:latin typeface="Noto Sans SC"/>
                <a:ea typeface="Noto Sans SC"/>
                <a:cs typeface="Noto Sans SC"/>
                <a:sym typeface="Noto Sans SC"/>
              </a:rPr>
              <a:t>Import and inspect local and online public datasets</a:t>
            </a:r>
            <a:r>
              <a:rPr lang="en-US" b="false" i="false" strike="noStrike" u="none" sz="1600">
                <a:solidFill>
                  <a:srgbClr val="1F2329"/>
                </a:solidFill>
                <a:latin typeface="Noto Sans SC"/>
                <a:ea typeface="Noto Sans SC"/>
                <a:cs typeface="Noto Sans SC"/>
                <a:sym typeface="Noto Sans SC"/>
              </a:rPr>
              <a:t/>
            </a:r>
          </a:p>
          <a:p>
            <a:pPr algn="l" indent="0">
              <a:lnSpc>
                <a:spcPct val="125000"/>
              </a:lnSpc>
              <a:spcBef>
                <a:spcPts val="2000"/>
              </a:spcBef>
            </a:pPr>
            <a:r>
              <a:rPr lang="en-US" b="true" i="false" strike="noStrike" u="none" sz="1600">
                <a:solidFill>
                  <a:srgbClr val="F59E0B"/>
                </a:solidFill>
                <a:latin typeface="Noto Sans SC"/>
                <a:ea typeface="Noto Sans SC"/>
                <a:cs typeface="Noto Sans SC"/>
                <a:sym typeface="Noto Sans SC"/>
              </a:rPr>
              <a:t>03.</a:t>
            </a:r>
            <a:r>
              <a:rPr lang="en-US" b="false" i="false" strike="noStrike" u="none" sz="1500">
                <a:solidFill>
                  <a:srgbClr val="374151"/>
                </a:solidFill>
                <a:latin typeface="Noto Sans SC"/>
                <a:ea typeface="Noto Sans SC"/>
                <a:cs typeface="Noto Sans SC"/>
                <a:sym typeface="Noto Sans SC"/>
              </a:rPr>
              <a:t>Build a commercial parcel subset through PIN to class mapping</a:t>
            </a:r>
          </a:p>
        </p:txBody>
      </p:sp>
      <p:sp>
        <p:nvSpPr>
          <p:cNvPr name="AutoShape 7" id="7"/>
          <p:cNvSpPr/>
          <p:nvPr/>
        </p:nvSpPr>
        <p:spPr>
          <a:xfrm rot="0" flipH="false" flipV="false">
            <a:off x="6223000" y="2286000"/>
            <a:ext cx="5588000" cy="4064000"/>
          </a:xfrm>
          <a:prstGeom prst="roundRect">
            <a:avLst>
              <a:gd name="adj" fmla="val 0"/>
            </a:avLst>
          </a:prstGeom>
          <a:solidFill>
            <a:srgbClr val="FEFCE8">
              <a:alpha val="100000"/>
            </a:srgbClr>
          </a:solidFill>
          <a:ln w="25400" cmpd="sng" cap="flat">
            <a:solidFill>
              <a:srgbClr val="FECD56">
                <a:alpha val="100000"/>
              </a:srgbClr>
            </a:solid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6477000" y="2540000"/>
            <a:ext cx="5080000" cy="355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spcBef>
                <a:spcPts val="1000"/>
              </a:spcBef>
              <a:defRPr/>
            </a:pPr>
            <a:r>
              <a:rPr lang="en-US" b="true" i="false" strike="noStrike" u="none" sz="1600">
                <a:solidFill>
                  <a:srgbClr val="D97706"/>
                </a:solidFill>
                <a:latin typeface="Noto Sans SC"/>
                <a:ea typeface="Noto Sans SC"/>
                <a:cs typeface="Noto Sans SC"/>
                <a:sym typeface="Noto Sans SC"/>
              </a:rPr>
              <a:t>04.</a:t>
            </a:r>
            <a:r>
              <a:rPr lang="en-US" b="false" i="false" strike="noStrike" u="none" sz="1500">
                <a:solidFill>
                  <a:srgbClr val="374151"/>
                </a:solidFill>
                <a:latin typeface="Noto Sans SC"/>
                <a:ea typeface="Noto Sans SC"/>
                <a:cs typeface="Noto Sans SC"/>
                <a:sym typeface="Noto Sans SC"/>
              </a:rPr>
              <a:t>Match business license points to parcel polygons with a spatial join</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spcBef>
                <a:spcPts val="6000"/>
              </a:spcBef>
            </a:pPr>
            <a:r>
              <a:rPr lang="en-US" b="true" i="false" strike="noStrike" u="none" sz="1600">
                <a:solidFill>
                  <a:srgbClr val="D97706"/>
                </a:solidFill>
                <a:latin typeface="Noto Sans SC"/>
                <a:ea typeface="Noto Sans SC"/>
                <a:cs typeface="Noto Sans SC"/>
                <a:sym typeface="Noto Sans SC"/>
              </a:rPr>
              <a:t>05.</a:t>
            </a:r>
            <a:r>
              <a:rPr lang="en-US" b="false" i="false" strike="noStrike" u="none" sz="1500">
                <a:solidFill>
                  <a:srgbClr val="374151"/>
                </a:solidFill>
                <a:latin typeface="Noto Sans SC"/>
                <a:ea typeface="Noto Sans SC"/>
                <a:cs typeface="Noto Sans SC"/>
                <a:sym typeface="Noto Sans SC"/>
              </a:rPr>
              <a:t>Export clean outputs for downstream analytics</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596900" y="254000"/>
            <a:ext cx="10515600" cy="1016000"/>
          </a:xfrm>
          <a:prstGeom prst="rect">
            <a:avLst/>
          </a:prstGeom>
          <a:noFill/>
          <a:ln w="12700" cmpd="sng" cap="flat">
            <a:noFill/>
            <a:prstDash val="solid"/>
            <a:round/>
          </a:ln>
        </p:spPr>
        <p:txBody>
          <a:bodyPr anchor="ctr" rtlCol="false" anchorCtr="false" vert="horz" wrap="square" lIns="88900" rIns="88900" tIns="50800" bIns="50800"/>
          <a:lstStyle/>
          <a:p>
            <a:pPr algn="ctr" indent="0">
              <a:lnSpc>
                <a:spcPct val="91666"/>
              </a:lnSpc>
              <a:defRPr/>
            </a:pPr>
            <a:r>
              <a:rPr lang="en-US" b="true" i="false" strike="noStrike" u="none" sz="4400">
                <a:solidFill>
                  <a:srgbClr val="000000"/>
                </a:solidFill>
                <a:latin typeface="Calibri"/>
                <a:ea typeface="Calibri"/>
                <a:cs typeface="Calibri"/>
                <a:sym typeface="Calibri"/>
              </a:rPr>
              <a:t>Notebook Structure</a:t>
            </a:r>
            <a:endParaRPr lang="en-US" sz="1100"/>
          </a:p>
        </p:txBody>
      </p:sp>
      <p:sp>
        <p:nvSpPr>
          <p:cNvPr name="AutoShape 3" id="3"/>
          <p:cNvSpPr/>
          <p:nvPr/>
        </p:nvSpPr>
        <p:spPr>
          <a:xfrm rot="0" flipH="false" flipV="false">
            <a:off x="736600" y="1651000"/>
            <a:ext cx="3378200" cy="4508500"/>
          </a:xfrm>
          <a:prstGeom prst="roundRect">
            <a:avLst>
              <a:gd name="adj" fmla="val 0"/>
            </a:avLst>
          </a:prstGeom>
          <a:solidFill>
            <a:srgbClr val="FECE5C">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901700" y="2921000"/>
            <a:ext cx="3048000" cy="1905000"/>
          </a:xfrm>
          <a:prstGeom prst="rect">
            <a:avLst/>
          </a:prstGeom>
          <a:noFill/>
          <a:ln w="12700" cmpd="sng" cap="flat">
            <a:noFill/>
            <a:prstDash val="solid"/>
            <a:round/>
          </a:ln>
        </p:spPr>
        <p:txBody>
          <a:bodyPr anchor="ctr" rtlCol="false" anchorCtr="false" vert="horz" wrap="square" lIns="127000" rIns="127000" tIns="127000" bIns="127000"/>
          <a:lstStyle/>
          <a:p>
            <a:pPr algn="ctr" indent="0">
              <a:lnSpc>
                <a:spcPct val="108333"/>
              </a:lnSpc>
              <a:defRPr/>
            </a:pPr>
            <a:r>
              <a:rPr lang="en-US" b="true" i="false" strike="noStrike" u="none" sz="2800">
                <a:solidFill>
                  <a:srgbClr val="000000"/>
                </a:solidFill>
                <a:latin typeface="Calibri"/>
                <a:ea typeface="Calibri"/>
                <a:cs typeface="Calibri"/>
                <a:sym typeface="Calibri"/>
              </a:rPr>
              <a:t>Data Analysis</a:t>
            </a:r>
            <a:r>
              <a:rPr lang="en-US" b="false" i="false" strike="noStrike" u="none" sz="1600">
                <a:solidFill>
                  <a:srgbClr val="1F2329"/>
                </a:solidFill>
                <a:latin typeface="Calibri"/>
                <a:ea typeface="Calibri"/>
                <a:cs typeface="Calibri"/>
                <a:sym typeface="Calibri"/>
              </a:rPr>
              <a:t/>
            </a:r>
            <a:endParaRPr lang="en-US" sz="1100"/>
          </a:p>
          <a:p>
            <a:pPr algn="ctr" indent="0">
              <a:lnSpc>
                <a:spcPct val="108333"/>
              </a:lnSpc>
            </a:pPr>
            <a:r>
              <a:rPr lang="en-US" b="true" i="false" strike="noStrike" u="none" sz="2800">
                <a:solidFill>
                  <a:srgbClr val="000000"/>
                </a:solidFill>
                <a:latin typeface="Calibri"/>
                <a:ea typeface="Calibri"/>
                <a:cs typeface="Calibri"/>
                <a:sym typeface="Calibri"/>
              </a:rPr>
              <a:t>Workflow</a:t>
            </a:r>
            <a:r>
              <a:rPr lang="en-US" b="false" i="false" strike="noStrike" u="none" sz="1600">
                <a:solidFill>
                  <a:srgbClr val="1F2329"/>
                </a:solidFill>
                <a:latin typeface="Calibri"/>
                <a:ea typeface="Calibri"/>
                <a:cs typeface="Calibri"/>
                <a:sym typeface="Calibri"/>
              </a:rPr>
              <a:t/>
            </a:r>
          </a:p>
          <a:p>
            <a:pPr algn="ctr" indent="0">
              <a:lnSpc>
                <a:spcPct val="125000"/>
              </a:lnSpc>
            </a:pPr>
            <a:r>
              <a:rPr lang="en-US" b="false" i="false" strike="noStrike" u="none" sz="1600">
                <a:solidFill>
                  <a:srgbClr val="262626"/>
                </a:solidFill>
                <a:latin typeface="Calibri"/>
                <a:ea typeface="Calibri"/>
                <a:cs typeface="Calibri"/>
                <a:sym typeface="Calibri"/>
              </a:rPr>
              <a:t>4 Key Stages</a:t>
            </a:r>
          </a:p>
        </p:txBody>
      </p:sp>
      <p:sp>
        <p:nvSpPr>
          <p:cNvPr name="AutoShape 5" id="5"/>
          <p:cNvSpPr/>
          <p:nvPr/>
        </p:nvSpPr>
        <p:spPr>
          <a:xfrm rot="0" flipH="false" flipV="false">
            <a:off x="4318000" y="1905000"/>
            <a:ext cx="2286000" cy="762000"/>
          </a:xfrm>
          <a:prstGeom prst="roundRect">
            <a:avLst>
              <a:gd name="adj" fmla="val 15000"/>
            </a:avLst>
          </a:prstGeom>
          <a:solidFill>
            <a:srgbClr val="FA6400">
              <a:alpha val="100000"/>
            </a:srgbClr>
          </a:solidFill>
          <a:ln w="25400" cmpd="sng" cap="flat">
            <a:noFill/>
            <a:prstDash val="solid"/>
            <a:round/>
          </a:ln>
        </p:spPr>
        <p:txBody>
          <a:bodyPr anchor="ctr" rtlCol="false" anchorCtr="false" vert="horz" wrap="square" lIns="88900" rIns="88900" tIns="50800" bIns="50800"/>
          <a:lstStyle/>
          <a:p>
            <a:pPr algn="ctr" indent="0">
              <a:lnSpc>
                <a:spcPct val="100000"/>
              </a:lnSpc>
              <a:defRPr/>
            </a:pPr>
            <a:r>
              <a:rPr lang="en-US" b="true" i="false" strike="noStrike" u="none" sz="1800">
                <a:solidFill>
                  <a:srgbClr val="FFFFFF"/>
                </a:solidFill>
                <a:latin typeface="Calibri"/>
                <a:ea typeface="Calibri"/>
                <a:cs typeface="Calibri"/>
                <a:sym typeface="Calibri"/>
              </a:rPr>
              <a:t>Part 1 &amp; 2: Setup &amp; Data</a:t>
            </a:r>
            <a:endParaRPr lang="en-US" sz="1100"/>
          </a:p>
        </p:txBody>
      </p:sp>
      <p:sp>
        <p:nvSpPr>
          <p:cNvPr name="AutoShape 6" id="6"/>
          <p:cNvSpPr/>
          <p:nvPr/>
        </p:nvSpPr>
        <p:spPr>
          <a:xfrm rot="0" flipH="false" flipV="false">
            <a:off x="4318000" y="2921000"/>
            <a:ext cx="2286000" cy="3048000"/>
          </a:xfrm>
          <a:prstGeom prst="roundRect">
            <a:avLst>
              <a:gd name="adj" fmla="val 0"/>
            </a:avLst>
          </a:prstGeom>
          <a:solidFill>
            <a:srgbClr val="F9FAFB">
              <a:alpha val="100000"/>
            </a:srgbClr>
          </a:solidFill>
          <a:ln w="25400" cmpd="sng" cap="flat">
            <a:noFill/>
            <a:prstDash val="solid"/>
            <a:round/>
          </a:ln>
        </p:spPr>
        <p:txBody>
          <a:bodyPr anchor="t" rtlCol="false" anchorCtr="false" vert="horz" wrap="square" lIns="127000" rIns="127000" tIns="152400" bIns="152400"/>
          <a:lstStyle/>
          <a:p>
            <a:pPr algn="l" indent="0">
              <a:lnSpc>
                <a:spcPct val="108333"/>
              </a:lnSpc>
              <a:spcBef>
                <a:spcPts val="500"/>
              </a:spcBef>
              <a:defRPr/>
            </a:pPr>
            <a:r>
              <a:rPr lang="en-US" b="true" i="false" strike="noStrike" u="none" sz="1600">
                <a:solidFill>
                  <a:srgbClr val="FA6400"/>
                </a:solidFill>
                <a:latin typeface="Calibri"/>
                <a:ea typeface="Calibri"/>
                <a:cs typeface="Calibri"/>
                <a:sym typeface="Calibri"/>
              </a:rPr>
              <a:t>● Part 1: Preparation</a:t>
            </a:r>
            <a:r>
              <a:rPr lang="en-US" b="false" i="false" strike="noStrike" u="none" sz="1600">
                <a:solidFill>
                  <a:srgbClr val="1F2329"/>
                </a:solidFill>
                <a:latin typeface="Calibri"/>
                <a:ea typeface="Calibri"/>
                <a:cs typeface="Calibri"/>
                <a:sym typeface="Calibri"/>
              </a:rPr>
              <a:t/>
            </a:r>
            <a:endParaRPr lang="en-US" sz="1100"/>
          </a:p>
          <a:p>
            <a:pPr algn="l" indent="0">
              <a:lnSpc>
                <a:spcPct val="100000"/>
              </a:lnSpc>
            </a:pPr>
            <a:r>
              <a:rPr lang="en-US" b="false" i="false" strike="noStrike" u="none" sz="1200">
                <a:solidFill>
                  <a:srgbClr val="374151"/>
                </a:solidFill>
                <a:latin typeface="Calibri"/>
                <a:ea typeface="Calibri"/>
                <a:cs typeface="Calibri"/>
                <a:sym typeface="Calibri"/>
              </a:rPr>
              <a:t>Understand project context, core data sources, set up Python environment &amp; install packages.</a:t>
            </a:r>
            <a:r>
              <a:rPr lang="en-US" b="false" i="false" strike="noStrike" u="none" sz="1600">
                <a:solidFill>
                  <a:srgbClr val="1F2329"/>
                </a:solidFill>
                <a:latin typeface="Calibri"/>
                <a:ea typeface="Calibri"/>
                <a:cs typeface="Calibri"/>
                <a:sym typeface="Calibri"/>
              </a:rPr>
              <a:t/>
            </a:r>
          </a:p>
          <a:p>
            <a:pPr algn="l" indent="0">
              <a:lnSpc>
                <a:spcPct val="108333"/>
              </a:lnSpc>
              <a:spcBef>
                <a:spcPts val="1000"/>
              </a:spcBef>
            </a:pPr>
            <a:r>
              <a:rPr lang="en-US" b="true" i="false" strike="noStrike" u="none" sz="1600">
                <a:solidFill>
                  <a:srgbClr val="FA6400"/>
                </a:solidFill>
                <a:latin typeface="Calibri"/>
                <a:ea typeface="Calibri"/>
                <a:cs typeface="Calibri"/>
                <a:sym typeface="Calibri"/>
              </a:rPr>
              <a:t>● Part 2: Dataset Insight</a:t>
            </a:r>
            <a:r>
              <a:rPr lang="en-US" b="false" i="false" strike="noStrike" u="none" sz="1600">
                <a:solidFill>
                  <a:srgbClr val="1F2329"/>
                </a:solidFill>
                <a:latin typeface="Calibri"/>
                <a:ea typeface="Calibri"/>
                <a:cs typeface="Calibri"/>
                <a:sym typeface="Calibri"/>
              </a:rPr>
              <a:t/>
            </a:r>
          </a:p>
          <a:p>
            <a:pPr algn="l" indent="0">
              <a:lnSpc>
                <a:spcPct val="100000"/>
              </a:lnSpc>
            </a:pPr>
            <a:r>
              <a:rPr lang="en-US" b="false" i="false" strike="noStrike" u="none" sz="1200">
                <a:solidFill>
                  <a:srgbClr val="374151"/>
                </a:solidFill>
                <a:latin typeface="Calibri"/>
                <a:ea typeface="Calibri"/>
                <a:cs typeface="Calibri"/>
                <a:sym typeface="Calibri"/>
              </a:rPr>
              <a:t>Import local/online datasets, inspect data quality, understand structure &amp; key columns.</a:t>
            </a:r>
          </a:p>
        </p:txBody>
      </p:sp>
      <p:sp>
        <p:nvSpPr>
          <p:cNvPr name="AutoShape 7" id="7"/>
          <p:cNvSpPr/>
          <p:nvPr/>
        </p:nvSpPr>
        <p:spPr>
          <a:xfrm rot="0" flipH="false" flipV="false">
            <a:off x="6794500" y="1905000"/>
            <a:ext cx="2286000" cy="762000"/>
          </a:xfrm>
          <a:prstGeom prst="roundRect">
            <a:avLst>
              <a:gd name="adj" fmla="val 15000"/>
            </a:avLst>
          </a:prstGeom>
          <a:solidFill>
            <a:srgbClr val="FECC53">
              <a:alpha val="100000"/>
            </a:srgbClr>
          </a:solidFill>
          <a:ln w="25400" cmpd="sng" cap="flat">
            <a:noFill/>
            <a:prstDash val="solid"/>
            <a:round/>
          </a:ln>
        </p:spPr>
        <p:txBody>
          <a:bodyPr anchor="ctr" rtlCol="false" anchorCtr="false" vert="horz" wrap="square" lIns="88900" rIns="88900" tIns="50800" bIns="50800"/>
          <a:lstStyle/>
          <a:p>
            <a:pPr algn="ctr" indent="0">
              <a:lnSpc>
                <a:spcPct val="100000"/>
              </a:lnSpc>
              <a:defRPr/>
            </a:pPr>
            <a:r>
              <a:rPr lang="en-US" b="true" i="false" strike="noStrike" u="none" sz="1800">
                <a:solidFill>
                  <a:srgbClr val="000000"/>
                </a:solidFill>
                <a:latin typeface="Calibri"/>
                <a:ea typeface="Calibri"/>
                <a:cs typeface="Calibri"/>
                <a:sym typeface="Calibri"/>
              </a:rPr>
              <a:t>Part 3: Core Combination</a:t>
            </a:r>
            <a:endParaRPr lang="en-US" sz="1100"/>
          </a:p>
        </p:txBody>
      </p:sp>
      <p:sp>
        <p:nvSpPr>
          <p:cNvPr name="AutoShape 8" id="8"/>
          <p:cNvSpPr/>
          <p:nvPr/>
        </p:nvSpPr>
        <p:spPr>
          <a:xfrm rot="0" flipH="false" flipV="false">
            <a:off x="6794500" y="2921000"/>
            <a:ext cx="2286000" cy="3048000"/>
          </a:xfrm>
          <a:prstGeom prst="roundRect">
            <a:avLst>
              <a:gd name="adj" fmla="val 0"/>
            </a:avLst>
          </a:prstGeom>
          <a:solidFill>
            <a:srgbClr val="F9FAFB">
              <a:alpha val="100000"/>
            </a:srgbClr>
          </a:solidFill>
          <a:ln w="25400" cmpd="sng" cap="flat">
            <a:noFill/>
            <a:prstDash val="solid"/>
            <a:round/>
          </a:ln>
        </p:spPr>
        <p:txBody>
          <a:bodyPr anchor="t" rtlCol="false" anchorCtr="false" vert="horz" wrap="square" lIns="127000" rIns="127000" tIns="152400" bIns="152400"/>
          <a:lstStyle/>
          <a:p>
            <a:pPr algn="l" indent="0">
              <a:lnSpc>
                <a:spcPct val="108333"/>
              </a:lnSpc>
              <a:defRPr/>
            </a:pPr>
            <a:r>
              <a:rPr lang="en-US" b="true" i="false" strike="noStrike" u="none" sz="1600">
                <a:solidFill>
                  <a:srgbClr val="B45309"/>
                </a:solidFill>
                <a:latin typeface="Calibri"/>
                <a:ea typeface="Calibri"/>
                <a:cs typeface="Calibri"/>
                <a:sym typeface="Calibri"/>
              </a:rPr>
              <a:t>● Spatial &amp; Attribute Matching</a:t>
            </a:r>
            <a:r>
              <a:rPr lang="en-US" b="false" i="false" strike="noStrike" u="none" sz="1600">
                <a:solidFill>
                  <a:srgbClr val="1F2329"/>
                </a:solidFill>
                <a:latin typeface="Calibri"/>
                <a:ea typeface="Calibri"/>
                <a:cs typeface="Calibri"/>
                <a:sym typeface="Calibri"/>
              </a:rPr>
              <a:t/>
            </a:r>
            <a:endParaRPr lang="en-US" sz="1100"/>
          </a:p>
          <a:p>
            <a:pPr algn="l" indent="0">
              <a:lnSpc>
                <a:spcPct val="116666"/>
              </a:lnSpc>
              <a:spcBef>
                <a:spcPts val="800"/>
              </a:spcBef>
            </a:pPr>
            <a:r>
              <a:rPr lang="en-US" b="false" i="false" strike="noStrike" u="none" sz="1200">
                <a:solidFill>
                  <a:srgbClr val="374151"/>
                </a:solidFill>
                <a:latin typeface="Calibri"/>
                <a:ea typeface="Calibri"/>
                <a:cs typeface="Calibri"/>
                <a:sym typeface="Calibri"/>
              </a:rPr>
              <a:t>1. Build commercial parcel subsets with PIN-class mapping.</a:t>
            </a:r>
            <a:r>
              <a:rPr lang="en-US" b="false" i="false" strike="noStrike" u="none" sz="1600">
                <a:solidFill>
                  <a:srgbClr val="1F2329"/>
                </a:solidFill>
                <a:latin typeface="Calibri"/>
                <a:ea typeface="Calibri"/>
                <a:cs typeface="Calibri"/>
                <a:sym typeface="Calibri"/>
              </a:rPr>
              <a:t/>
            </a:r>
          </a:p>
          <a:p>
            <a:pPr algn="l" indent="0">
              <a:lnSpc>
                <a:spcPct val="116666"/>
              </a:lnSpc>
              <a:spcBef>
                <a:spcPts val="600"/>
              </a:spcBef>
            </a:pPr>
            <a:r>
              <a:rPr lang="en-US" b="false" i="false" strike="noStrike" u="none" sz="1200">
                <a:solidFill>
                  <a:srgbClr val="374151"/>
                </a:solidFill>
                <a:latin typeface="Calibri"/>
                <a:ea typeface="Calibri"/>
                <a:cs typeface="Calibri"/>
                <a:sym typeface="Calibri"/>
              </a:rPr>
              <a:t>2. Perform spatial join to match business license points to parcel polygons.</a:t>
            </a:r>
          </a:p>
        </p:txBody>
      </p:sp>
      <p:sp>
        <p:nvSpPr>
          <p:cNvPr name="AutoShape 9" id="9"/>
          <p:cNvSpPr/>
          <p:nvPr/>
        </p:nvSpPr>
        <p:spPr>
          <a:xfrm rot="0" flipH="false" flipV="false">
            <a:off x="9271000" y="1905000"/>
            <a:ext cx="2286000" cy="762000"/>
          </a:xfrm>
          <a:prstGeom prst="roundRect">
            <a:avLst>
              <a:gd name="adj" fmla="val 15000"/>
            </a:avLst>
          </a:prstGeom>
          <a:solidFill>
            <a:srgbClr val="2563EB">
              <a:alpha val="100000"/>
            </a:srgbClr>
          </a:solidFill>
          <a:ln w="25400" cmpd="sng" cap="flat">
            <a:noFill/>
            <a:prstDash val="solid"/>
            <a:round/>
          </a:ln>
        </p:spPr>
        <p:txBody>
          <a:bodyPr anchor="ctr" rtlCol="false" anchorCtr="false" vert="horz" wrap="square" lIns="88900" rIns="88900" tIns="50800" bIns="50800"/>
          <a:lstStyle/>
          <a:p>
            <a:pPr algn="ctr" indent="0">
              <a:lnSpc>
                <a:spcPct val="100000"/>
              </a:lnSpc>
              <a:defRPr/>
            </a:pPr>
            <a:r>
              <a:rPr lang="en-US" b="true" i="false" strike="noStrike" u="none" sz="1800">
                <a:solidFill>
                  <a:srgbClr val="FFFFFF"/>
                </a:solidFill>
                <a:latin typeface="Calibri"/>
                <a:ea typeface="Calibri"/>
                <a:cs typeface="Calibri"/>
                <a:sym typeface="Calibri"/>
              </a:rPr>
              <a:t>Part 4: Scalable Pipeline</a:t>
            </a:r>
            <a:endParaRPr lang="en-US" sz="1100"/>
          </a:p>
        </p:txBody>
      </p:sp>
      <p:sp>
        <p:nvSpPr>
          <p:cNvPr name="AutoShape 10" id="10"/>
          <p:cNvSpPr/>
          <p:nvPr/>
        </p:nvSpPr>
        <p:spPr>
          <a:xfrm rot="0" flipH="false" flipV="false">
            <a:off x="9271000" y="2921000"/>
            <a:ext cx="2286000" cy="3048000"/>
          </a:xfrm>
          <a:prstGeom prst="roundRect">
            <a:avLst>
              <a:gd name="adj" fmla="val 0"/>
            </a:avLst>
          </a:prstGeom>
          <a:solidFill>
            <a:srgbClr val="F9FAFB">
              <a:alpha val="100000"/>
            </a:srgbClr>
          </a:solidFill>
          <a:ln w="25400" cmpd="sng" cap="flat">
            <a:noFill/>
            <a:prstDash val="solid"/>
            <a:round/>
          </a:ln>
        </p:spPr>
        <p:txBody>
          <a:bodyPr anchor="t" rtlCol="false" anchorCtr="false" vert="horz" wrap="square" lIns="127000" rIns="127000" tIns="152400" bIns="152400"/>
          <a:lstStyle/>
          <a:p>
            <a:pPr algn="l" indent="0">
              <a:lnSpc>
                <a:spcPct val="108333"/>
              </a:lnSpc>
              <a:defRPr/>
            </a:pPr>
            <a:r>
              <a:rPr lang="en-US" b="true" i="false" strike="noStrike" u="none" sz="1600">
                <a:solidFill>
                  <a:srgbClr val="2563EB"/>
                </a:solidFill>
                <a:latin typeface="Calibri"/>
                <a:ea typeface="Calibri"/>
                <a:cs typeface="Calibri"/>
                <a:sym typeface="Calibri"/>
              </a:rPr>
              <a:t>● Multi-Year Scalability</a:t>
            </a:r>
            <a:r>
              <a:rPr lang="en-US" b="false" i="false" strike="noStrike" u="none" sz="1600">
                <a:solidFill>
                  <a:srgbClr val="1F2329"/>
                </a:solidFill>
                <a:latin typeface="Calibri"/>
                <a:ea typeface="Calibri"/>
                <a:cs typeface="Calibri"/>
                <a:sym typeface="Calibri"/>
              </a:rPr>
              <a:t/>
            </a:r>
            <a:endParaRPr lang="en-US" sz="1100"/>
          </a:p>
          <a:p>
            <a:pPr algn="l" indent="0">
              <a:lnSpc>
                <a:spcPct val="116666"/>
              </a:lnSpc>
              <a:spcBef>
                <a:spcPts val="1500"/>
              </a:spcBef>
            </a:pPr>
            <a:r>
              <a:rPr lang="en-US" b="false" i="false" strike="noStrike" u="none" sz="1200">
                <a:solidFill>
                  <a:srgbClr val="374151"/>
                </a:solidFill>
                <a:latin typeface="Calibri"/>
                <a:ea typeface="Calibri"/>
                <a:cs typeface="Calibri"/>
                <a:sym typeface="Calibri"/>
              </a:rPr>
              <a:t>Refactor the one-year workflow into a robust, automated, and scalable pipeline that can efficiently process and integrate data across multiple years.</a:t>
            </a:r>
            <a:r>
              <a:rPr lang="en-US" b="false" i="false" strike="noStrike" u="none" sz="1600">
                <a:solidFill>
                  <a:srgbClr val="1F2329"/>
                </a:solidFill>
                <a:latin typeface="Calibri"/>
                <a:ea typeface="Calibri"/>
                <a:cs typeface="Calibri"/>
                <a:sym typeface="Calibri"/>
              </a:rPr>
              <a:t/>
            </a:r>
          </a:p>
          <a:p>
            <a:pPr algn="l" indent="0">
              <a:lnSpc>
                <a:spcPct val="116666"/>
              </a:lnSpc>
              <a:spcBef>
                <a:spcPts val="1500"/>
              </a:spcBef>
            </a:pPr>
            <a:r>
              <a:rPr lang="en-US" b="false" i="true" strike="noStrike" u="none" sz="1200">
                <a:solidFill>
                  <a:srgbClr val="6B7280"/>
                </a:solidFill>
                <a:latin typeface="Calibri"/>
                <a:ea typeface="Calibri"/>
                <a:cs typeface="Calibri"/>
                <a:sym typeface="Calibri"/>
              </a:rPr>
              <a:t>Goal: Reusability &amp; Efficiency</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058400" y="4673600"/>
            <a:ext cx="3759200" cy="3759200"/>
          </a:xfrm>
          <a:prstGeom prst="ellipse">
            <a:avLst/>
          </a:prstGeom>
          <a:solidFill>
            <a:srgbClr val="FFC844">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520700" y="279400"/>
            <a:ext cx="2552700" cy="355600"/>
          </a:xfrm>
          <a:prstGeom prst="roundRect">
            <a:avLst>
              <a:gd name="adj" fmla="val 0"/>
            </a:avLst>
          </a:prstGeom>
          <a:solidFill>
            <a:srgbClr val="F3F4F6">
              <a:alpha val="100000"/>
            </a:srgbClr>
          </a:solidFill>
          <a:ln w="254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9CA3AF"/>
                </a:solidFill>
                <a:latin typeface="Poppins"/>
                <a:ea typeface="Poppins"/>
                <a:cs typeface="Poppins"/>
                <a:sym typeface="Poppins"/>
              </a:rPr>
              <a:t>Module Logo</a:t>
            </a:r>
            <a:endParaRPr lang="en-US" sz="1100"/>
          </a:p>
        </p:txBody>
      </p:sp>
      <p:sp>
        <p:nvSpPr>
          <p:cNvPr name="AutoShape 4" id="4"/>
          <p:cNvSpPr/>
          <p:nvPr/>
        </p:nvSpPr>
        <p:spPr>
          <a:xfrm rot="0" flipH="false" flipV="false">
            <a:off x="762000" y="8763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2F4F4F"/>
                </a:solidFill>
                <a:latin typeface="Poppins"/>
                <a:ea typeface="Poppins"/>
                <a:cs typeface="Poppins"/>
                <a:sym typeface="Poppins"/>
              </a:rPr>
              <a:t>1-1. Preparation: Environment and Python Basics</a:t>
            </a:r>
            <a:endParaRPr lang="en-US" sz="1100"/>
          </a:p>
        </p:txBody>
      </p:sp>
      <p:cxnSp>
        <p:nvCxnSpPr>
          <p:cNvPr name="Connector 5" id="5"/>
          <p:cNvCxnSpPr/>
          <p:nvPr/>
        </p:nvCxnSpPr>
        <p:spPr>
          <a:xfrm rot="-4092" flipH="false" flipV="false">
            <a:off x="762004" y="1708150"/>
            <a:ext cx="10668000" cy="12700"/>
          </a:xfrm>
          <a:prstGeom prst="straightConnector1">
            <a:avLst/>
          </a:prstGeom>
          <a:solidFill>
            <a:srgbClr val="DEE0E3">
              <a:alpha val="100000"/>
            </a:srgbClr>
          </a:solidFill>
          <a:ln w="12700" cmpd="sng" cap="flat">
            <a:solidFill>
              <a:srgbClr val="2F4F4F">
                <a:alpha val="30000"/>
              </a:srgbClr>
            </a:solidFill>
            <a:prstDash val="solid"/>
            <a:round/>
            <a:headEnd type="none" w="med" len="med"/>
            <a:tailEnd type="none" w="med" len="med"/>
          </a:ln>
        </p:spPr>
      </p:cxnSp>
      <p:sp>
        <p:nvSpPr>
          <p:cNvPr name="AutoShape 6" id="6"/>
          <p:cNvSpPr/>
          <p:nvPr/>
        </p:nvSpPr>
        <p:spPr>
          <a:xfrm rot="0" flipH="false" flipV="false">
            <a:off x="762000" y="2032000"/>
            <a:ext cx="5207000" cy="2032000"/>
          </a:xfrm>
          <a:prstGeom prst="roundRect">
            <a:avLst>
              <a:gd name="adj" fmla="val 625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286000"/>
            <a:ext cx="457200" cy="457200"/>
          </a:xfrm>
          <a:prstGeom prst="rect">
            <a:avLst/>
          </a:prstGeom>
        </p:spPr>
      </p:pic>
      <p:sp>
        <p:nvSpPr>
          <p:cNvPr name="AutoShape 8" id="8"/>
          <p:cNvSpPr/>
          <p:nvPr/>
        </p:nvSpPr>
        <p:spPr>
          <a:xfrm rot="0" flipH="false" flipV="false">
            <a:off x="1651000" y="2222500"/>
            <a:ext cx="4064000" cy="1651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true" i="false" strike="noStrike" u="none" sz="1800">
                <a:solidFill>
                  <a:srgbClr val="2F4F4F"/>
                </a:solidFill>
                <a:latin typeface="Poppins"/>
                <a:ea typeface="Poppins"/>
                <a:cs typeface="Poppins"/>
                <a:sym typeface="Poppins"/>
              </a:rPr>
              <a:t>Environment Setup</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false" i="false" strike="noStrike" u="none" sz="1300">
                <a:solidFill>
                  <a:srgbClr val="374151"/>
                </a:solidFill>
                <a:latin typeface="Noto Sans SC"/>
                <a:ea typeface="Noto Sans SC"/>
                <a:cs typeface="Noto Sans SC"/>
                <a:sym typeface="Noto Sans SC"/>
              </a:rPr>
              <a:t>•</a:t>
            </a:r>
            <a:r>
              <a:rPr lang="en-US" b="true" i="false" strike="noStrike" u="none" sz="1300">
                <a:solidFill>
                  <a:srgbClr val="374151"/>
                </a:solidFill>
                <a:latin typeface="Noto Sans SC"/>
                <a:ea typeface="Noto Sans SC"/>
                <a:cs typeface="Noto Sans SC"/>
                <a:sym typeface="Noto Sans SC"/>
              </a:rPr>
              <a:t>Python Version:</a:t>
            </a:r>
            <a:r>
              <a:rPr lang="en-US" b="false" i="false" strike="noStrike" u="none" sz="1300">
                <a:solidFill>
                  <a:srgbClr val="374151"/>
                </a:solidFill>
                <a:latin typeface="Noto Sans SC"/>
                <a:ea typeface="Noto Sans SC"/>
                <a:cs typeface="Noto Sans SC"/>
                <a:sym typeface="Noto Sans SC"/>
              </a:rPr>
              <a:t>Use 3.11 or above for better performance &amp; features.</a:t>
            </a:r>
            <a:r>
              <a:rPr lang="en-US" b="false" i="false" strike="noStrike" u="none" sz="1600">
                <a:solidFill>
                  <a:srgbClr val="1F2329"/>
                </a:solidFill>
                <a:latin typeface="Noto Sans SC"/>
                <a:ea typeface="Noto Sans SC"/>
                <a:cs typeface="Noto Sans SC"/>
                <a:sym typeface="Noto Sans SC"/>
              </a:rPr>
              <a:t/>
            </a:r>
          </a:p>
          <a:p>
            <a:pPr algn="l" indent="0">
              <a:lnSpc>
                <a:spcPct val="108333"/>
              </a:lnSpc>
            </a:pPr>
            <a:r>
              <a:rPr lang="en-US" b="false" i="false" strike="noStrike" u="none" sz="1300">
                <a:solidFill>
                  <a:srgbClr val="374151"/>
                </a:solidFill>
                <a:latin typeface="Noto Sans SC"/>
                <a:ea typeface="Noto Sans SC"/>
                <a:cs typeface="Noto Sans SC"/>
                <a:sym typeface="Noto Sans SC"/>
              </a:rPr>
              <a:t>•</a:t>
            </a:r>
            <a:r>
              <a:rPr lang="en-US" b="true" i="false" strike="noStrike" u="none" sz="1300">
                <a:solidFill>
                  <a:srgbClr val="374151"/>
                </a:solidFill>
                <a:latin typeface="Noto Sans SC"/>
                <a:ea typeface="Noto Sans SC"/>
                <a:cs typeface="Noto Sans SC"/>
                <a:sym typeface="Noto Sans SC"/>
              </a:rPr>
              <a:t>Virtual Env:</a:t>
            </a:r>
            <a:r>
              <a:rPr lang="en-US" b="false" i="false" strike="noStrike" u="none" sz="1300">
                <a:solidFill>
                  <a:srgbClr val="374151"/>
                </a:solidFill>
                <a:latin typeface="Noto Sans SC"/>
                <a:ea typeface="Noto Sans SC"/>
                <a:cs typeface="Noto Sans SC"/>
                <a:sym typeface="Noto Sans SC"/>
              </a:rPr>
              <a:t>Create one in your project root to avoid dependency conflicts.</a:t>
            </a:r>
            <a:r>
              <a:rPr lang="en-US" b="false" i="false" strike="noStrike" u="none" sz="1600">
                <a:solidFill>
                  <a:srgbClr val="1F2329"/>
                </a:solidFill>
                <a:latin typeface="Noto Sans SC"/>
                <a:ea typeface="Noto Sans SC"/>
                <a:cs typeface="Noto Sans SC"/>
                <a:sym typeface="Noto Sans SC"/>
              </a:rPr>
              <a:t/>
            </a:r>
          </a:p>
          <a:p>
            <a:pPr algn="l" indent="0">
              <a:lnSpc>
                <a:spcPct val="108333"/>
              </a:lnSpc>
            </a:pPr>
            <a:r>
              <a:rPr lang="en-US" b="false" i="false" strike="noStrike" u="none" sz="1300">
                <a:solidFill>
                  <a:srgbClr val="374151"/>
                </a:solidFill>
                <a:latin typeface="Noto Sans SC"/>
                <a:ea typeface="Noto Sans SC"/>
                <a:cs typeface="Noto Sans SC"/>
                <a:sym typeface="Noto Sans SC"/>
              </a:rPr>
              <a:t>•</a:t>
            </a:r>
            <a:r>
              <a:rPr lang="en-US" b="true" i="false" strike="noStrike" u="none" sz="1300">
                <a:solidFill>
                  <a:srgbClr val="374151"/>
                </a:solidFill>
                <a:latin typeface="Noto Sans SC"/>
                <a:ea typeface="Noto Sans SC"/>
                <a:cs typeface="Noto Sans SC"/>
                <a:sym typeface="Noto Sans SC"/>
              </a:rPr>
              <a:t>Interpreter:</a:t>
            </a:r>
            <a:r>
              <a:rPr lang="en-US" b="false" i="false" strike="noStrike" u="none" sz="1300">
                <a:solidFill>
                  <a:srgbClr val="374151"/>
                </a:solidFill>
                <a:latin typeface="Noto Sans SC"/>
                <a:ea typeface="Noto Sans SC"/>
                <a:cs typeface="Noto Sans SC"/>
                <a:sym typeface="Noto Sans SC"/>
              </a:rPr>
              <a:t>Ensure scripts &amp; notebooks use the same selected interpreter.</a:t>
            </a:r>
          </a:p>
        </p:txBody>
      </p:sp>
      <p:sp>
        <p:nvSpPr>
          <p:cNvPr name="AutoShape 9" id="9"/>
          <p:cNvSpPr/>
          <p:nvPr/>
        </p:nvSpPr>
        <p:spPr>
          <a:xfrm rot="0" flipH="false" flipV="false">
            <a:off x="762000" y="4254500"/>
            <a:ext cx="5207000" cy="2032000"/>
          </a:xfrm>
          <a:prstGeom prst="roundRect">
            <a:avLst>
              <a:gd name="adj" fmla="val 625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016000" y="4508500"/>
            <a:ext cx="457200" cy="457200"/>
          </a:xfrm>
          <a:prstGeom prst="rect">
            <a:avLst/>
          </a:prstGeom>
        </p:spPr>
      </p:pic>
      <p:sp>
        <p:nvSpPr>
          <p:cNvPr name="AutoShape 11" id="11"/>
          <p:cNvSpPr/>
          <p:nvPr/>
        </p:nvSpPr>
        <p:spPr>
          <a:xfrm rot="0" flipH="false" flipV="false">
            <a:off x="1651000" y="4445000"/>
            <a:ext cx="4064000" cy="1651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true" i="false" strike="noStrike" u="none" sz="1800">
                <a:solidFill>
                  <a:srgbClr val="2F4F4F"/>
                </a:solidFill>
                <a:latin typeface="Poppins"/>
                <a:ea typeface="Poppins"/>
                <a:cs typeface="Poppins"/>
                <a:sym typeface="Poppins"/>
              </a:rPr>
              <a:t>Core Data &amp; GIS Libraries</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false" i="false" strike="noStrike" u="none" sz="1300">
                <a:solidFill>
                  <a:srgbClr val="374151"/>
                </a:solidFill>
                <a:latin typeface="Noto Sans SC"/>
                <a:ea typeface="Noto Sans SC"/>
                <a:cs typeface="Noto Sans SC"/>
                <a:sym typeface="Noto Sans SC"/>
              </a:rPr>
              <a:t>Essential for data processing, spatial analysis &amp; visualization:</a:t>
            </a:r>
            <a:r>
              <a:rPr lang="en-US" b="false" i="false" strike="noStrike" u="none" sz="1600">
                <a:solidFill>
                  <a:srgbClr val="1F2329"/>
                </a:solidFill>
                <a:latin typeface="Noto Sans SC"/>
                <a:ea typeface="Noto Sans SC"/>
                <a:cs typeface="Noto Sans SC"/>
                <a:sym typeface="Noto Sans SC"/>
              </a:rPr>
              <a:t/>
            </a:r>
          </a:p>
          <a:p>
            <a:pPr algn="l" indent="0">
              <a:lnSpc>
                <a:spcPct val="116666"/>
              </a:lnSpc>
            </a:pPr>
            <a:r>
              <a:rPr lang="en-US" b="true" i="false" strike="noStrike" u="none" sz="1300">
                <a:solidFill>
                  <a:srgbClr val="4B5563"/>
                </a:solidFill>
                <a:latin typeface="Poppins"/>
                <a:ea typeface="Poppins"/>
                <a:cs typeface="Poppins"/>
                <a:sym typeface="Poppins"/>
              </a:rPr>
              <a:t>pandas, geopandas, matplotlib, pyarrow, shapely, pyogrio, fiona</a:t>
            </a:r>
          </a:p>
        </p:txBody>
      </p:sp>
      <p:sp>
        <p:nvSpPr>
          <p:cNvPr name="AutoShape 12" id="12"/>
          <p:cNvSpPr/>
          <p:nvPr/>
        </p:nvSpPr>
        <p:spPr>
          <a:xfrm rot="0" flipH="false" flipV="false">
            <a:off x="6223000" y="2032000"/>
            <a:ext cx="5207000" cy="4254500"/>
          </a:xfrm>
          <a:prstGeom prst="roundRect">
            <a:avLst>
              <a:gd name="adj" fmla="val 2985"/>
            </a:avLst>
          </a:prstGeom>
          <a:solidFill>
            <a:srgbClr val="EBF5F5">
              <a:alpha val="100000"/>
            </a:srgbClr>
          </a:solidFill>
          <a:ln w="12700" cmpd="sng" cap="flat">
            <a:solidFill>
              <a:srgbClr val="CCE2E2">
                <a:alpha val="10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477000" y="2413000"/>
            <a:ext cx="508000" cy="508000"/>
          </a:xfrm>
          <a:prstGeom prst="rect">
            <a:avLst/>
          </a:prstGeom>
        </p:spPr>
      </p:pic>
      <p:sp>
        <p:nvSpPr>
          <p:cNvPr name="AutoShape 14" id="14"/>
          <p:cNvSpPr/>
          <p:nvPr/>
        </p:nvSpPr>
        <p:spPr>
          <a:xfrm rot="0" flipH="false" flipV="false">
            <a:off x="7239000" y="2413000"/>
            <a:ext cx="3937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D97706"/>
                </a:solidFill>
                <a:latin typeface="Poppins"/>
                <a:ea typeface="Poppins"/>
                <a:cs typeface="Poppins"/>
                <a:sym typeface="Poppins"/>
              </a:rPr>
              <a:t>Optional Helper Packages</a:t>
            </a:r>
            <a:endParaRPr lang="en-US" sz="1100"/>
          </a:p>
        </p:txBody>
      </p:sp>
      <p:sp>
        <p:nvSpPr>
          <p:cNvPr name="AutoShape 15" id="15"/>
          <p:cNvSpPr/>
          <p:nvPr/>
        </p:nvSpPr>
        <p:spPr>
          <a:xfrm rot="0" flipH="false" flipV="false">
            <a:off x="6477000" y="3429000"/>
            <a:ext cx="4699000" cy="2286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true" i="false" strike="noStrike" u="none" sz="1500">
                <a:solidFill>
                  <a:srgbClr val="1F2329"/>
                </a:solidFill>
                <a:latin typeface="Noto Sans SC"/>
                <a:ea typeface="Noto Sans SC"/>
                <a:cs typeface="Noto Sans SC"/>
                <a:sym typeface="Noto Sans SC"/>
              </a:rPr>
              <a:t>1. requests</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4B5563"/>
                </a:solidFill>
                <a:latin typeface="Noto Sans SC"/>
                <a:ea typeface="Noto Sans SC"/>
                <a:cs typeface="Noto Sans SC"/>
                <a:sym typeface="Noto Sans SC"/>
              </a:rPr>
              <a:t>Simplifies HTTP requests to fetch data from APIs or web services.</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spcBef>
                <a:spcPts val="1500"/>
              </a:spcBef>
            </a:pPr>
            <a:r>
              <a:rPr lang="en-US" b="true" i="false" strike="noStrike" u="none" sz="1500">
                <a:solidFill>
                  <a:srgbClr val="1F2329"/>
                </a:solidFill>
                <a:latin typeface="Noto Sans SC"/>
                <a:ea typeface="Noto Sans SC"/>
                <a:cs typeface="Noto Sans SC"/>
                <a:sym typeface="Noto Sans SC"/>
              </a:rPr>
              <a:t>2. tqdm</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4B5563"/>
                </a:solidFill>
                <a:latin typeface="Noto Sans SC"/>
                <a:ea typeface="Noto Sans SC"/>
                <a:cs typeface="Noto Sans SC"/>
                <a:sym typeface="Noto Sans SC"/>
              </a:rPr>
              <a:t>Creates progress bars for loops and long-running tasks, improving visibility.</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058400" y="4673600"/>
            <a:ext cx="3759200" cy="3759200"/>
          </a:xfrm>
          <a:prstGeom prst="ellipse">
            <a:avLst/>
          </a:prstGeom>
          <a:solidFill>
            <a:srgbClr val="FFC844">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 id="3"/>
          <p:cNvPicPr>
            <a:picLocks noChangeAspect="true"/>
          </p:cNvPicPr>
          <p:nvPr/>
        </p:nvPicPr>
        <p:blipFill>
          <a:blip r:embed="rId2"/>
          <a:srcRect l="0" r="0" t="469" b="469"/>
          <a:stretch>
            <a:fillRect/>
          </a:stretch>
        </p:blipFill>
        <p:spPr>
          <a:xfrm rot="0" flipH="false" flipV="false">
            <a:off x="520700" y="279400"/>
            <a:ext cx="2552700" cy="355600"/>
          </a:xfrm>
          <a:prstGeom prst="rect">
            <a:avLst/>
          </a:prstGeom>
          <a:noFill/>
          <a:ln w="25400" cmpd="sng" cap="flat">
            <a:noFill/>
            <a:prstDash val="solid"/>
            <a:round/>
          </a:ln>
        </p:spPr>
      </p:pic>
      <p:sp>
        <p:nvSpPr>
          <p:cNvPr name="AutoShape 4" id="4"/>
          <p:cNvSpPr/>
          <p:nvPr/>
        </p:nvSpPr>
        <p:spPr>
          <a:xfrm rot="0" flipH="false" flipV="false">
            <a:off x="762000" y="876300"/>
            <a:ext cx="10668000" cy="5588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3600">
                <a:solidFill>
                  <a:srgbClr val="2F4F4F"/>
                </a:solidFill>
                <a:latin typeface="Poppins"/>
                <a:ea typeface="Poppins"/>
                <a:cs typeface="Poppins"/>
                <a:sym typeface="Poppins"/>
              </a:rPr>
              <a:t>Part 1. Preparation: 1-2. Task Background</a:t>
            </a:r>
            <a:endParaRPr lang="en-US" sz="1100"/>
          </a:p>
        </p:txBody>
      </p:sp>
      <p:cxnSp>
        <p:nvCxnSpPr>
          <p:cNvPr name="Connector 5" id="5"/>
          <p:cNvCxnSpPr/>
          <p:nvPr/>
        </p:nvCxnSpPr>
        <p:spPr>
          <a:xfrm rot="-4092" flipH="false" flipV="false">
            <a:off x="762004" y="1581150"/>
            <a:ext cx="10668000" cy="12700"/>
          </a:xfrm>
          <a:prstGeom prst="straightConnector1">
            <a:avLst/>
          </a:prstGeom>
          <a:solidFill>
            <a:srgbClr val="DEE0E3">
              <a:alpha val="100000"/>
            </a:srgbClr>
          </a:solidFill>
          <a:ln w="12700" cmpd="sng" cap="flat">
            <a:solidFill>
              <a:srgbClr val="2F4F4F">
                <a:alpha val="30000"/>
              </a:srgbClr>
            </a:solidFill>
            <a:prstDash val="solid"/>
            <a:round/>
            <a:headEnd type="none" w="med" len="med"/>
            <a:tailEnd type="none" w="med" len="med"/>
          </a:ln>
        </p:spPr>
      </p:cxnSp>
      <p:sp>
        <p:nvSpPr>
          <p:cNvPr name="AutoShape 6" id="6"/>
          <p:cNvSpPr/>
          <p:nvPr/>
        </p:nvSpPr>
        <p:spPr>
          <a:xfrm rot="0" flipH="false" flipV="false">
            <a:off x="762000" y="1892300"/>
            <a:ext cx="5080000" cy="381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200">
                <a:solidFill>
                  <a:srgbClr val="2F4F4F"/>
                </a:solidFill>
                <a:latin typeface="Poppins"/>
                <a:ea typeface="Poppins"/>
                <a:cs typeface="Poppins"/>
                <a:sym typeface="Poppins"/>
              </a:rPr>
              <a:t>Task Background</a:t>
            </a:r>
            <a:endParaRPr lang="en-US" sz="1100"/>
          </a:p>
        </p:txBody>
      </p:sp>
      <p:pic>
        <p:nvPicPr>
          <p:cNvPr name="Picture 7" id="7"/>
          <p:cNvPicPr>
            <a:picLocks noChangeAspect="true"/>
          </p:cNvPicPr>
          <p:nvPr/>
        </p:nvPicPr>
        <p:blipFill>
          <a:blip r:embed="rId3"/>
          <a:srcRect l="0" r="0" t="0" b="0"/>
          <a:stretch>
            <a:fillRect/>
          </a:stretch>
        </p:blipFill>
        <p:spPr>
          <a:xfrm rot="0" flipH="false" flipV="false">
            <a:off x="762000" y="2667000"/>
            <a:ext cx="304800" cy="304800"/>
          </a:xfrm>
          <a:prstGeom prst="rect">
            <a:avLst/>
          </a:prstGeom>
          <a:noFill/>
          <a:ln w="25400" cmpd="sng" cap="flat">
            <a:noFill/>
            <a:prstDash val="solid"/>
            <a:round/>
          </a:ln>
        </p:spPr>
      </p:pic>
      <p:sp>
        <p:nvSpPr>
          <p:cNvPr name="AutoShape 8" id="8"/>
          <p:cNvSpPr/>
          <p:nvPr/>
        </p:nvSpPr>
        <p:spPr>
          <a:xfrm rot="0" flipH="false" flipV="false">
            <a:off x="1270000" y="2667000"/>
            <a:ext cx="4572000" cy="2286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600">
                <a:solidFill>
                  <a:srgbClr val="333333"/>
                </a:solidFill>
                <a:latin typeface="Poppins"/>
                <a:ea typeface="Poppins"/>
                <a:cs typeface="Poppins"/>
                <a:sym typeface="Poppins"/>
              </a:rPr>
              <a:t>Chicago business license records contain location information, but they do not directly link to parcel polygons.</a:t>
            </a:r>
            <a:endParaRPr lang="en-US" sz="1100"/>
          </a:p>
        </p:txBody>
      </p:sp>
      <p:cxnSp>
        <p:nvCxnSpPr>
          <p:cNvPr name="Connector 9" id="9"/>
          <p:cNvCxnSpPr/>
          <p:nvPr/>
        </p:nvCxnSpPr>
        <p:spPr>
          <a:xfrm rot="5389257" flipH="false" flipV="false">
            <a:off x="4064000" y="3917960"/>
            <a:ext cx="4064000" cy="12700"/>
          </a:xfrm>
          <a:prstGeom prst="straightConnector1">
            <a:avLst/>
          </a:prstGeom>
          <a:solidFill>
            <a:srgbClr val="DEE0E3">
              <a:alpha val="100000"/>
            </a:srgbClr>
          </a:solidFill>
          <a:ln w="12700" cmpd="sng" cap="flat">
            <a:solidFill>
              <a:srgbClr val="2F4F4F">
                <a:alpha val="20000"/>
              </a:srgbClr>
            </a:solidFill>
            <a:prstDash val="dash"/>
            <a:round/>
            <a:headEnd type="none" w="med" len="med"/>
            <a:tailEnd type="none" w="med" len="med"/>
          </a:ln>
        </p:spPr>
      </p:cxnSp>
      <p:sp>
        <p:nvSpPr>
          <p:cNvPr name="AutoShape 10" id="10"/>
          <p:cNvSpPr/>
          <p:nvPr/>
        </p:nvSpPr>
        <p:spPr>
          <a:xfrm rot="0" flipH="false" flipV="false">
            <a:off x="6604000" y="1892300"/>
            <a:ext cx="5080000" cy="381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200">
                <a:solidFill>
                  <a:srgbClr val="2F4F4F"/>
                </a:solidFill>
                <a:latin typeface="Poppins"/>
                <a:ea typeface="Poppins"/>
                <a:cs typeface="Poppins"/>
                <a:sym typeface="Poppins"/>
              </a:rPr>
              <a:t>Project Objectives</a:t>
            </a:r>
            <a:endParaRPr lang="en-US" sz="1100"/>
          </a:p>
        </p:txBody>
      </p:sp>
      <p:pic>
        <p:nvPicPr>
          <p:cNvPr name="Picture 11" id="11"/>
          <p:cNvPicPr>
            <a:picLocks noChangeAspect="true"/>
          </p:cNvPicPr>
          <p:nvPr/>
        </p:nvPicPr>
        <p:blipFill>
          <a:blip r:embed="rId4"/>
          <a:srcRect l="0" r="0" t="0" b="0"/>
          <a:stretch>
            <a:fillRect/>
          </a:stretch>
        </p:blipFill>
        <p:spPr>
          <a:xfrm rot="0" flipH="false" flipV="false">
            <a:off x="6604000" y="2667000"/>
            <a:ext cx="304800" cy="304800"/>
          </a:xfrm>
          <a:prstGeom prst="rect">
            <a:avLst/>
          </a:prstGeom>
          <a:noFill/>
          <a:ln w="25400" cmpd="sng" cap="flat">
            <a:noFill/>
            <a:prstDash val="solid"/>
            <a:round/>
          </a:ln>
        </p:spPr>
      </p:pic>
      <p:sp>
        <p:nvSpPr>
          <p:cNvPr name="AutoShape 12" id="12"/>
          <p:cNvSpPr/>
          <p:nvPr/>
        </p:nvSpPr>
        <p:spPr>
          <a:xfrm rot="0" flipH="false" flipV="false">
            <a:off x="7112000" y="2667000"/>
            <a:ext cx="4572000" cy="762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2F4F4F"/>
                </a:solidFill>
                <a:latin typeface="Poppins"/>
                <a:ea typeface="Poppins"/>
                <a:cs typeface="Poppins"/>
                <a:sym typeface="Poppins"/>
              </a:rPr>
              <a:t>Identify commercial parcels</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300">
                <a:solidFill>
                  <a:srgbClr val="696969"/>
                </a:solidFill>
                <a:latin typeface="Poppins"/>
                <a:ea typeface="Poppins"/>
                <a:cs typeface="Poppins"/>
                <a:sym typeface="Poppins"/>
              </a:rPr>
              <a:t>from assessor class information</a:t>
            </a:r>
            <a:endParaRPr lang="en-US" sz="1100"/>
          </a:p>
        </p:txBody>
      </p:sp>
      <p:pic>
        <p:nvPicPr>
          <p:cNvPr name="Picture 13" id="13"/>
          <p:cNvPicPr>
            <a:picLocks noChangeAspect="true"/>
          </p:cNvPicPr>
          <p:nvPr/>
        </p:nvPicPr>
        <p:blipFill>
          <a:blip r:embed="rId5"/>
          <a:srcRect l="0" r="0" t="0" b="0"/>
          <a:stretch>
            <a:fillRect/>
          </a:stretch>
        </p:blipFill>
        <p:spPr>
          <a:xfrm rot="0" flipH="false" flipV="false">
            <a:off x="6604000" y="3683000"/>
            <a:ext cx="304800" cy="304800"/>
          </a:xfrm>
          <a:prstGeom prst="rect">
            <a:avLst/>
          </a:prstGeom>
          <a:noFill/>
          <a:ln w="25400" cmpd="sng" cap="flat">
            <a:noFill/>
            <a:prstDash val="solid"/>
            <a:round/>
          </a:ln>
        </p:spPr>
      </p:pic>
      <p:sp>
        <p:nvSpPr>
          <p:cNvPr name="AutoShape 14" id="14"/>
          <p:cNvSpPr/>
          <p:nvPr/>
        </p:nvSpPr>
        <p:spPr>
          <a:xfrm rot="0" flipH="false" flipV="false">
            <a:off x="7112000" y="3683000"/>
            <a:ext cx="4572000" cy="762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2F4F4F"/>
                </a:solidFill>
                <a:latin typeface="Poppins"/>
                <a:ea typeface="Poppins"/>
                <a:cs typeface="Poppins"/>
                <a:sym typeface="Poppins"/>
              </a:rPr>
              <a:t>Match business license locations</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300">
                <a:solidFill>
                  <a:srgbClr val="696969"/>
                </a:solidFill>
                <a:latin typeface="Poppins"/>
                <a:ea typeface="Poppins"/>
                <a:cs typeface="Poppins"/>
                <a:sym typeface="Poppins"/>
              </a:rPr>
              <a:t>to parcel geometries</a:t>
            </a:r>
            <a:endParaRPr lang="en-US" sz="1100"/>
          </a:p>
        </p:txBody>
      </p:sp>
      <p:pic>
        <p:nvPicPr>
          <p:cNvPr name="Picture 15" id="15"/>
          <p:cNvPicPr>
            <a:picLocks noChangeAspect="true"/>
          </p:cNvPicPr>
          <p:nvPr/>
        </p:nvPicPr>
        <p:blipFill>
          <a:blip r:embed="rId6"/>
          <a:srcRect l="0" r="0" t="0" b="0"/>
          <a:stretch>
            <a:fillRect/>
          </a:stretch>
        </p:blipFill>
        <p:spPr>
          <a:xfrm rot="0" flipH="false" flipV="false">
            <a:off x="6604000" y="4699000"/>
            <a:ext cx="304800" cy="304800"/>
          </a:xfrm>
          <a:prstGeom prst="rect">
            <a:avLst/>
          </a:prstGeom>
          <a:noFill/>
          <a:ln w="25400" cmpd="sng" cap="flat">
            <a:noFill/>
            <a:prstDash val="solid"/>
            <a:round/>
          </a:ln>
        </p:spPr>
      </p:pic>
      <p:sp>
        <p:nvSpPr>
          <p:cNvPr name="AutoShape 16" id="16"/>
          <p:cNvSpPr/>
          <p:nvPr/>
        </p:nvSpPr>
        <p:spPr>
          <a:xfrm rot="0" flipH="false" flipV="false">
            <a:off x="7112000" y="4699000"/>
            <a:ext cx="2159000" cy="762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2F4F4F"/>
                </a:solidFill>
                <a:latin typeface="Poppins"/>
                <a:ea typeface="Poppins"/>
                <a:cs typeface="Poppins"/>
                <a:sym typeface="Poppins"/>
              </a:rPr>
              <a:t>Build analysis-ready</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300">
                <a:solidFill>
                  <a:srgbClr val="696969"/>
                </a:solidFill>
                <a:latin typeface="Poppins"/>
                <a:ea typeface="Poppins"/>
                <a:cs typeface="Poppins"/>
                <a:sym typeface="Poppins"/>
              </a:rPr>
              <a:t>yearly tables</a:t>
            </a:r>
            <a:endParaRPr lang="en-US" sz="1100"/>
          </a:p>
        </p:txBody>
      </p:sp>
      <p:pic>
        <p:nvPicPr>
          <p:cNvPr name="Picture 17" id="17"/>
          <p:cNvPicPr>
            <a:picLocks noChangeAspect="true"/>
          </p:cNvPicPr>
          <p:nvPr/>
        </p:nvPicPr>
        <p:blipFill>
          <a:blip r:embed="rId7"/>
          <a:srcRect l="0" r="0" t="0" b="0"/>
          <a:stretch>
            <a:fillRect/>
          </a:stretch>
        </p:blipFill>
        <p:spPr>
          <a:xfrm rot="0" flipH="false" flipV="false">
            <a:off x="9398000" y="4699000"/>
            <a:ext cx="304800" cy="304800"/>
          </a:xfrm>
          <a:prstGeom prst="rect">
            <a:avLst/>
          </a:prstGeom>
          <a:noFill/>
          <a:ln w="25400" cmpd="sng" cap="flat">
            <a:noFill/>
            <a:prstDash val="solid"/>
            <a:round/>
          </a:ln>
        </p:spPr>
      </p:pic>
      <p:sp>
        <p:nvSpPr>
          <p:cNvPr name="AutoShape 18" id="18"/>
          <p:cNvSpPr/>
          <p:nvPr/>
        </p:nvSpPr>
        <p:spPr>
          <a:xfrm rot="0" flipH="false" flipV="false">
            <a:off x="9906000" y="4699000"/>
            <a:ext cx="1905000" cy="762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2F4F4F"/>
                </a:solidFill>
                <a:latin typeface="Poppins"/>
                <a:ea typeface="Poppins"/>
                <a:cs typeface="Poppins"/>
                <a:sym typeface="Poppins"/>
              </a:rPr>
              <a:t>Save outputs in</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300">
                <a:solidFill>
                  <a:srgbClr val="696969"/>
                </a:solidFill>
                <a:latin typeface="Poppins"/>
                <a:ea typeface="Poppins"/>
                <a:cs typeface="Poppins"/>
                <a:sym typeface="Poppins"/>
              </a:rPr>
              <a:t>fast, reusable formats</a:t>
            </a:r>
            <a:endParaRPr lang="en-US" sz="1100"/>
          </a:p>
        </p:txBody>
      </p:sp>
      <p:cxnSp>
        <p:nvCxnSpPr>
          <p:cNvPr name="Connector 19" id="19"/>
          <p:cNvCxnSpPr/>
          <p:nvPr/>
        </p:nvCxnSpPr>
        <p:spPr>
          <a:xfrm rot="-4092" flipH="false" flipV="false">
            <a:off x="762004" y="6203950"/>
            <a:ext cx="10668000" cy="12700"/>
          </a:xfrm>
          <a:prstGeom prst="straightConnector1">
            <a:avLst/>
          </a:prstGeom>
          <a:solidFill>
            <a:srgbClr val="DEE0E3">
              <a:alpha val="100000"/>
            </a:srgbClr>
          </a:solidFill>
          <a:ln w="12700" cmpd="sng" cap="flat">
            <a:solidFill>
              <a:srgbClr val="2F4F4F">
                <a:alpha val="30000"/>
              </a:srgbClr>
            </a:solidFill>
            <a:prstDash val="solid"/>
            <a:round/>
            <a:headEnd type="none" w="med" len="med"/>
            <a:tailEnd type="none" w="med" len="med"/>
          </a:ln>
        </p:spPr>
      </p:cxnSp>
    </p:spTree>
  </p:cSld>
  <p:clrMapOvr>
    <a:masterClrMapping/>
  </p:clrMapOvr>
</p:sld>
</file>

<file path=ppt/slides/slide6.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058400" y="4673600"/>
            <a:ext cx="3759200" cy="3759200"/>
          </a:xfrm>
          <a:prstGeom prst="ellipse">
            <a:avLst/>
          </a:prstGeom>
          <a:solidFill>
            <a:srgbClr val="FFC844">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520700" y="279400"/>
            <a:ext cx="2286000" cy="355600"/>
          </a:xfrm>
          <a:prstGeom prst="roundRect">
            <a:avLst>
              <a:gd name="adj" fmla="val 0"/>
            </a:avLst>
          </a:prstGeom>
          <a:solidFill>
            <a:srgbClr val="F3F4F6">
              <a:alpha val="100000"/>
            </a:srgbClr>
          </a:solidFill>
          <a:ln w="254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6B7280"/>
                </a:solidFill>
                <a:latin typeface="Poppins"/>
                <a:ea typeface="Poppins"/>
                <a:cs typeface="Poppins"/>
                <a:sym typeface="Poppins"/>
              </a:rPr>
              <a:t>GIS PROJECT</a:t>
            </a:r>
            <a:endParaRPr lang="en-US" sz="1100"/>
          </a:p>
        </p:txBody>
      </p:sp>
      <p:sp>
        <p:nvSpPr>
          <p:cNvPr name="AutoShape 4" id="4"/>
          <p:cNvSpPr/>
          <p:nvPr/>
        </p:nvSpPr>
        <p:spPr>
          <a:xfrm rot="0" flipH="false" flipV="false">
            <a:off x="749300" y="762000"/>
            <a:ext cx="10668000" cy="381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2000">
                <a:solidFill>
                  <a:srgbClr val="6B7280"/>
                </a:solidFill>
                <a:latin typeface="Poppins"/>
                <a:ea typeface="Poppins"/>
                <a:cs typeface="Poppins"/>
                <a:sym typeface="Poppins"/>
              </a:rPr>
              <a:t>PART 1. PREPARATION</a:t>
            </a:r>
            <a:endParaRPr lang="en-US" sz="1100"/>
          </a:p>
        </p:txBody>
      </p:sp>
      <p:sp>
        <p:nvSpPr>
          <p:cNvPr name="AutoShape 5" id="5"/>
          <p:cNvSpPr/>
          <p:nvPr/>
        </p:nvSpPr>
        <p:spPr>
          <a:xfrm rot="0" flipH="false" flipV="false">
            <a:off x="749300" y="1270000"/>
            <a:ext cx="10668000" cy="5588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F4F4F"/>
                </a:solidFill>
                <a:latin typeface="Poppins"/>
                <a:ea typeface="Poppins"/>
                <a:cs typeface="Poppins"/>
                <a:sym typeface="Poppins"/>
              </a:rPr>
              <a:t>1-2. Core Challenge and Solution Pattern</a:t>
            </a:r>
            <a:endParaRPr lang="en-US" sz="1100"/>
          </a:p>
        </p:txBody>
      </p:sp>
      <p:cxnSp>
        <p:nvCxnSpPr>
          <p:cNvPr name="Connector 6" id="6"/>
          <p:cNvCxnSpPr/>
          <p:nvPr/>
        </p:nvCxnSpPr>
        <p:spPr>
          <a:xfrm rot="-4092" flipH="false" flipV="false">
            <a:off x="749304" y="2025650"/>
            <a:ext cx="10668000" cy="12700"/>
          </a:xfrm>
          <a:prstGeom prst="straightConnector1">
            <a:avLst/>
          </a:prstGeom>
          <a:solidFill>
            <a:srgbClr val="DEE0E3">
              <a:alpha val="100000"/>
            </a:srgbClr>
          </a:solidFill>
          <a:ln w="12700" cmpd="sng" cap="flat">
            <a:solidFill>
              <a:srgbClr val="2F4F4F">
                <a:alpha val="100000"/>
              </a:srgbClr>
            </a:solidFill>
            <a:prstDash val="solid"/>
            <a:round/>
            <a:headEnd type="none" w="med" len="med"/>
            <a:tailEnd type="none" w="med" len="med"/>
          </a:ln>
        </p:spPr>
      </p:cxnSp>
      <p:sp>
        <p:nvSpPr>
          <p:cNvPr name="AutoShape 7" id="7"/>
          <p:cNvSpPr/>
          <p:nvPr/>
        </p:nvSpPr>
        <p:spPr>
          <a:xfrm rot="0" flipH="false" flipV="false">
            <a:off x="749300" y="2413000"/>
            <a:ext cx="5207000" cy="508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200">
                <a:solidFill>
                  <a:srgbClr val="2F4F4F"/>
                </a:solidFill>
                <a:latin typeface="Poppins"/>
                <a:ea typeface="Poppins"/>
                <a:cs typeface="Poppins"/>
                <a:sym typeface="Poppins"/>
              </a:rPr>
              <a:t>CORE CHALLENGES</a:t>
            </a:r>
            <a:endParaRPr lang="en-US" sz="1100"/>
          </a:p>
        </p:txBody>
      </p:sp>
      <p:sp>
        <p:nvSpPr>
          <p:cNvPr name="AutoShape 8" id="8"/>
          <p:cNvSpPr/>
          <p:nvPr/>
        </p:nvSpPr>
        <p:spPr>
          <a:xfrm rot="0" flipH="false" flipV="false">
            <a:off x="749300" y="3175000"/>
            <a:ext cx="5207000" cy="762000"/>
          </a:xfrm>
          <a:prstGeom prst="roundRect">
            <a:avLst>
              <a:gd name="adj" fmla="val 16666"/>
            </a:avLst>
          </a:prstGeom>
          <a:solidFill>
            <a:srgbClr val="F0F9F8">
              <a:alpha val="100000"/>
            </a:srgbClr>
          </a:solidFill>
          <a:ln w="12700" cmpd="sng" cap="flat">
            <a:solidFill>
              <a:srgbClr val="D1D5DB">
                <a:alpha val="10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939800" y="3327400"/>
            <a:ext cx="4699000" cy="508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374151"/>
                </a:solidFill>
                <a:latin typeface="Poppins"/>
                <a:ea typeface="Poppins"/>
                <a:cs typeface="Poppins"/>
                <a:sym typeface="Poppins"/>
              </a:rPr>
              <a:t>📍 Business licenses are</a:t>
            </a:r>
            <a:r>
              <a:rPr lang="en-US" b="true" i="false" strike="noStrike" u="none" sz="1400">
                <a:solidFill>
                  <a:srgbClr val="374151"/>
                </a:solidFill>
                <a:latin typeface="Poppins"/>
                <a:ea typeface="Poppins"/>
                <a:cs typeface="Poppins"/>
                <a:sym typeface="Poppins"/>
              </a:rPr>
              <a:t>point records</a:t>
            </a:r>
            <a:r>
              <a:rPr lang="en-US" b="false" i="false" strike="noStrike" u="none" sz="1400">
                <a:solidFill>
                  <a:srgbClr val="374151"/>
                </a:solidFill>
                <a:latin typeface="Poppins"/>
                <a:ea typeface="Poppins"/>
                <a:cs typeface="Poppins"/>
                <a:sym typeface="Poppins"/>
              </a:rPr>
              <a:t>with latitude and longitude coordinates</a:t>
            </a:r>
            <a:endParaRPr lang="en-US" sz="1100"/>
          </a:p>
        </p:txBody>
      </p:sp>
      <p:sp>
        <p:nvSpPr>
          <p:cNvPr name="AutoShape 10" id="10"/>
          <p:cNvSpPr/>
          <p:nvPr/>
        </p:nvSpPr>
        <p:spPr>
          <a:xfrm rot="0" flipH="false" flipV="false">
            <a:off x="749300" y="4191000"/>
            <a:ext cx="5207000" cy="762000"/>
          </a:xfrm>
          <a:prstGeom prst="roundRect">
            <a:avLst>
              <a:gd name="adj" fmla="val 16666"/>
            </a:avLst>
          </a:prstGeom>
          <a:solidFill>
            <a:srgbClr val="F0F9F8">
              <a:alpha val="100000"/>
            </a:srgbClr>
          </a:solidFill>
          <a:ln w="12700" cmpd="sng" cap="flat">
            <a:solidFill>
              <a:srgbClr val="D1D5DB">
                <a:alpha val="10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939800" y="4343400"/>
            <a:ext cx="4699000" cy="508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374151"/>
                </a:solidFill>
                <a:latin typeface="Poppins"/>
                <a:ea typeface="Poppins"/>
                <a:cs typeface="Poppins"/>
                <a:sym typeface="Poppins"/>
              </a:rPr>
              <a:t>🗺️ Parcels are</a:t>
            </a:r>
            <a:r>
              <a:rPr lang="en-US" b="true" i="false" strike="noStrike" u="none" sz="1400">
                <a:solidFill>
                  <a:srgbClr val="374151"/>
                </a:solidFill>
                <a:latin typeface="Poppins"/>
                <a:ea typeface="Poppins"/>
                <a:cs typeface="Poppins"/>
                <a:sym typeface="Poppins"/>
              </a:rPr>
              <a:t>polygon features</a:t>
            </a:r>
            <a:r>
              <a:rPr lang="en-US" b="false" i="false" strike="noStrike" u="none" sz="1400">
                <a:solidFill>
                  <a:srgbClr val="374151"/>
                </a:solidFill>
                <a:latin typeface="Poppins"/>
                <a:ea typeface="Poppins"/>
                <a:cs typeface="Poppins"/>
                <a:sym typeface="Poppins"/>
              </a:rPr>
              <a:t>stored in a shapefile or geospatial package</a:t>
            </a:r>
            <a:endParaRPr lang="en-US" sz="1100"/>
          </a:p>
        </p:txBody>
      </p:sp>
      <p:sp>
        <p:nvSpPr>
          <p:cNvPr name="AutoShape 12" id="12"/>
          <p:cNvSpPr/>
          <p:nvPr/>
        </p:nvSpPr>
        <p:spPr>
          <a:xfrm rot="0" flipH="false" flipV="false">
            <a:off x="749300" y="5207000"/>
            <a:ext cx="5207000" cy="1143000"/>
          </a:xfrm>
          <a:prstGeom prst="roundRect">
            <a:avLst>
              <a:gd name="adj" fmla="val 11111"/>
            </a:avLst>
          </a:prstGeom>
          <a:solidFill>
            <a:srgbClr val="FFF1F2">
              <a:alpha val="100000"/>
            </a:srgbClr>
          </a:solidFill>
          <a:ln w="12700" cmpd="sng" cap="flat">
            <a:solidFill>
              <a:srgbClr val="FECACA">
                <a:alpha val="100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939800" y="5397500"/>
            <a:ext cx="4699000" cy="762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08333"/>
              </a:lnSpc>
              <a:defRPr/>
            </a:pPr>
            <a:r>
              <a:rPr lang="en-US" b="true" i="false" strike="noStrike" u="none" sz="1400">
                <a:solidFill>
                  <a:srgbClr val="B91C1C"/>
                </a:solidFill>
                <a:latin typeface="Poppins"/>
                <a:ea typeface="Poppins"/>
                <a:cs typeface="Poppins"/>
                <a:sym typeface="Poppins"/>
              </a:rPr>
              <a:t>⚠️ Key Barriers:</a:t>
            </a:r>
            <a:r>
              <a:rPr lang="en-US" b="false" i="false" strike="noStrike" u="none" sz="1400">
                <a:solidFill>
                  <a:srgbClr val="374151"/>
                </a:solidFill>
                <a:latin typeface="Poppins"/>
                <a:ea typeface="Poppins"/>
                <a:cs typeface="Poppins"/>
                <a:sym typeface="Poppins"/>
              </a:rPr>
              <a:t>No direct join key between datasets; a "commercial-only" subset must be pre-filtered before spatial matching.</a:t>
            </a:r>
            <a:endParaRPr lang="en-US" sz="1100"/>
          </a:p>
        </p:txBody>
      </p:sp>
      <p:sp>
        <p:nvSpPr>
          <p:cNvPr name="AutoShape 14" id="14"/>
          <p:cNvSpPr/>
          <p:nvPr/>
        </p:nvSpPr>
        <p:spPr>
          <a:xfrm rot="0" flipH="false" flipV="false">
            <a:off x="6350000" y="2413000"/>
            <a:ext cx="5207000" cy="3937000"/>
          </a:xfrm>
          <a:prstGeom prst="roundRect">
            <a:avLst>
              <a:gd name="adj" fmla="val 0"/>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6604000" y="2921000"/>
            <a:ext cx="4699000" cy="762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400">
                <a:solidFill>
                  <a:srgbClr val="FFC844"/>
                </a:solidFill>
                <a:latin typeface="Poppins"/>
                <a:ea typeface="Poppins"/>
                <a:cs typeface="Poppins"/>
                <a:sym typeface="Poppins"/>
              </a:rPr>
              <a:t>SOLUTION PATTERN</a:t>
            </a:r>
            <a:endParaRPr lang="en-US" sz="1100"/>
          </a:p>
        </p:txBody>
      </p:sp>
      <p:sp>
        <p:nvSpPr>
          <p:cNvPr name="AutoShape 16" id="16"/>
          <p:cNvSpPr/>
          <p:nvPr/>
        </p:nvSpPr>
        <p:spPr>
          <a:xfrm rot="0" flipH="false" flipV="false">
            <a:off x="6604000" y="4064000"/>
            <a:ext cx="4699000" cy="1778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FFFFFF"/>
                </a:solidFill>
                <a:latin typeface="Poppins"/>
                <a:ea typeface="Poppins"/>
                <a:cs typeface="Poppins"/>
                <a:sym typeface="Poppins"/>
              </a:rPr>
              <a:t>PIN-Class Mapping</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true" i="false" strike="noStrike" u="none" sz="2000">
                <a:solidFill>
                  <a:srgbClr val="FFFFFF"/>
                </a:solidFill>
                <a:latin typeface="Poppins"/>
                <a:ea typeface="Poppins"/>
                <a:cs typeface="Poppins"/>
                <a:sym typeface="Poppins"/>
              </a:rPr>
              <a:t>+</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true" i="false" strike="noStrike" u="none" sz="2000">
                <a:solidFill>
                  <a:srgbClr val="FFFFFF"/>
                </a:solidFill>
                <a:latin typeface="Poppins"/>
                <a:ea typeface="Poppins"/>
                <a:cs typeface="Poppins"/>
                <a:sym typeface="Poppins"/>
              </a:rPr>
              <a:t>Point-in-Polygon Spatial Join</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spcBef>
                <a:spcPts val="2000"/>
              </a:spcBef>
            </a:pPr>
            <a:r>
              <a:rPr lang="en-US" b="false" i="false" strike="noStrike" u="none" sz="1300">
                <a:solidFill>
                  <a:srgbClr val="D1D5DB"/>
                </a:solidFill>
                <a:latin typeface="Noto Sans SC"/>
                <a:ea typeface="Noto Sans SC"/>
                <a:cs typeface="Noto Sans SC"/>
                <a:sym typeface="Noto Sans SC"/>
              </a:rPr>
              <a:t>Map property IDs to land use classes, then perform a spatial join to match points to their corresponding polygons.</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596900" y="508000"/>
            <a:ext cx="10998200" cy="1016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000">
                <a:solidFill>
                  <a:srgbClr val="1F2329"/>
                </a:solidFill>
                <a:latin typeface="Calibri"/>
                <a:ea typeface="Calibri"/>
                <a:cs typeface="Calibri"/>
                <a:sym typeface="Calibri"/>
              </a:rPr>
              <a:t>Part 2. Data Import and Source Overview</a:t>
            </a:r>
            <a:endParaRPr lang="en-US" sz="1100"/>
          </a:p>
        </p:txBody>
      </p:sp>
      <p:sp>
        <p:nvSpPr>
          <p:cNvPr name="AutoShape 3" id="3"/>
          <p:cNvSpPr/>
          <p:nvPr/>
        </p:nvSpPr>
        <p:spPr>
          <a:xfrm rot="0" flipH="false" flipV="false">
            <a:off x="596900" y="1651000"/>
            <a:ext cx="109982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2000">
                <a:solidFill>
                  <a:srgbClr val="646A73"/>
                </a:solidFill>
                <a:latin typeface="Calibri"/>
                <a:ea typeface="Calibri"/>
                <a:cs typeface="Calibri"/>
                <a:sym typeface="Calibri"/>
              </a:rPr>
              <a:t>Three main data inputs drive the demo:</a:t>
            </a:r>
            <a:endParaRPr lang="en-US" sz="1100"/>
          </a:p>
        </p:txBody>
      </p:sp>
      <p:sp>
        <p:nvSpPr>
          <p:cNvPr name="AutoShape 4" id="4"/>
          <p:cNvSpPr/>
          <p:nvPr/>
        </p:nvSpPr>
        <p:spPr>
          <a:xfrm rot="0" flipH="false" flipV="false">
            <a:off x="762000" y="2540000"/>
            <a:ext cx="3302000" cy="3048000"/>
          </a:xfrm>
          <a:prstGeom prst="roundRect">
            <a:avLst>
              <a:gd name="adj" fmla="val 5000"/>
            </a:avLst>
          </a:prstGeom>
          <a:solidFill>
            <a:srgbClr val="F8FAFC">
              <a:alpha val="100000"/>
            </a:srgbClr>
          </a:solidFill>
          <a:ln w="12700" cmpd="sng" cap="flat">
            <a:solidFill>
              <a:srgbClr val="E2E8F0">
                <a:alpha val="10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2540000"/>
            <a:ext cx="3302000" cy="812800"/>
          </a:xfrm>
          <a:prstGeom prst="roundRect">
            <a:avLst>
              <a:gd name="adj" fmla="val 18750"/>
            </a:avLst>
          </a:prstGeom>
          <a:solidFill>
            <a:srgbClr val="EF4444">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889000" y="2667000"/>
            <a:ext cx="3048000" cy="558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FFFFFF"/>
                </a:solidFill>
                <a:latin typeface="Calibri"/>
                <a:ea typeface="Calibri"/>
                <a:cs typeface="Calibri"/>
                <a:sym typeface="Calibri"/>
              </a:rPr>
              <a:t>01. Chicago Business Licenses</a:t>
            </a:r>
            <a:endParaRPr lang="en-US" sz="1100"/>
          </a:p>
        </p:txBody>
      </p:sp>
      <p:sp>
        <p:nvSpPr>
          <p:cNvPr name="AutoShape 7" id="7"/>
          <p:cNvSpPr/>
          <p:nvPr/>
        </p:nvSpPr>
        <p:spPr>
          <a:xfrm rot="0" flipH="false" flipV="false">
            <a:off x="952500" y="3556000"/>
            <a:ext cx="2921000" cy="1778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400">
                <a:solidFill>
                  <a:srgbClr val="334155"/>
                </a:solidFill>
                <a:latin typeface="Noto Sans SC"/>
                <a:ea typeface="Noto Sans SC"/>
                <a:cs typeface="Noto Sans SC"/>
                <a:sym typeface="Noto Sans SC"/>
              </a:rPr>
              <a:t>Contains detailed information about businesses operating in Chicago, including their registered locations, types of licenses held, license issue/expiration dates, and other administrative details.</a:t>
            </a:r>
            <a:endParaRPr lang="en-US" sz="1100"/>
          </a:p>
        </p:txBody>
      </p:sp>
      <p:sp>
        <p:nvSpPr>
          <p:cNvPr name="AutoShape 8" id="8"/>
          <p:cNvSpPr/>
          <p:nvPr/>
        </p:nvSpPr>
        <p:spPr>
          <a:xfrm rot="0" flipH="false" flipV="false">
            <a:off x="4445000" y="2540000"/>
            <a:ext cx="3302000" cy="3048000"/>
          </a:xfrm>
          <a:prstGeom prst="roundRect">
            <a:avLst>
              <a:gd name="adj" fmla="val 5000"/>
            </a:avLst>
          </a:prstGeom>
          <a:solidFill>
            <a:srgbClr val="F8FAFC">
              <a:alpha val="100000"/>
            </a:srgbClr>
          </a:solidFill>
          <a:ln w="12700" cmpd="sng" cap="flat">
            <a:solidFill>
              <a:srgbClr val="E2E8F0">
                <a:alpha val="10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4445000" y="2540000"/>
            <a:ext cx="3302000" cy="812800"/>
          </a:xfrm>
          <a:prstGeom prst="roundRect">
            <a:avLst>
              <a:gd name="adj" fmla="val 18750"/>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4572000" y="2667000"/>
            <a:ext cx="3048000" cy="558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FFFFFF"/>
                </a:solidFill>
                <a:latin typeface="Calibri"/>
                <a:ea typeface="Calibri"/>
                <a:cs typeface="Calibri"/>
                <a:sym typeface="Calibri"/>
              </a:rPr>
              <a:t>02. Cook County Assessor Values</a:t>
            </a:r>
            <a:endParaRPr lang="en-US" sz="1100"/>
          </a:p>
        </p:txBody>
      </p:sp>
      <p:sp>
        <p:nvSpPr>
          <p:cNvPr name="AutoShape 11" id="11"/>
          <p:cNvSpPr/>
          <p:nvPr/>
        </p:nvSpPr>
        <p:spPr>
          <a:xfrm rot="0" flipH="false" flipV="false">
            <a:off x="4635500" y="3556000"/>
            <a:ext cx="2921000" cy="1778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400">
                <a:solidFill>
                  <a:srgbClr val="334155"/>
                </a:solidFill>
                <a:latin typeface="Noto Sans SC"/>
                <a:ea typeface="Noto Sans SC"/>
                <a:cs typeface="Noto Sans SC"/>
                <a:sym typeface="Noto Sans SC"/>
              </a:rPr>
              <a:t>Provides comprehensive property assessment data for real estate in Cook County, including Permanent Index Numbers (PINs), class codes, assessed values for tax purposes, and ownership details.</a:t>
            </a:r>
            <a:endParaRPr lang="en-US" sz="1100"/>
          </a:p>
        </p:txBody>
      </p:sp>
      <p:sp>
        <p:nvSpPr>
          <p:cNvPr name="AutoShape 12" id="12"/>
          <p:cNvSpPr/>
          <p:nvPr/>
        </p:nvSpPr>
        <p:spPr>
          <a:xfrm rot="0" flipH="false" flipV="false">
            <a:off x="8128000" y="2540000"/>
            <a:ext cx="3302000" cy="3048000"/>
          </a:xfrm>
          <a:prstGeom prst="roundRect">
            <a:avLst>
              <a:gd name="adj" fmla="val 5000"/>
            </a:avLst>
          </a:prstGeom>
          <a:solidFill>
            <a:srgbClr val="F8FAFC">
              <a:alpha val="100000"/>
            </a:srgbClr>
          </a:solidFill>
          <a:ln w="12700" cmpd="sng" cap="flat">
            <a:solidFill>
              <a:srgbClr val="E2E8F0">
                <a:alpha val="100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8128000" y="2540000"/>
            <a:ext cx="3302000" cy="812800"/>
          </a:xfrm>
          <a:prstGeom prst="roundRect">
            <a:avLst>
              <a:gd name="adj" fmla="val 1875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8255000" y="2667000"/>
            <a:ext cx="3048000" cy="558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FFFFFF"/>
                </a:solidFill>
                <a:latin typeface="Calibri"/>
                <a:ea typeface="Calibri"/>
                <a:cs typeface="Calibri"/>
                <a:sym typeface="Calibri"/>
              </a:rPr>
              <a:t>03. Local Parcel Shapefiles (by Year)</a:t>
            </a:r>
            <a:endParaRPr lang="en-US" sz="1100"/>
          </a:p>
        </p:txBody>
      </p:sp>
      <p:sp>
        <p:nvSpPr>
          <p:cNvPr name="AutoShape 15" id="15"/>
          <p:cNvSpPr/>
          <p:nvPr/>
        </p:nvSpPr>
        <p:spPr>
          <a:xfrm rot="0" flipH="false" flipV="false">
            <a:off x="8318500" y="3556000"/>
            <a:ext cx="2921000" cy="1778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400">
                <a:solidFill>
                  <a:srgbClr val="334155"/>
                </a:solidFill>
                <a:latin typeface="Noto Sans SC"/>
                <a:ea typeface="Noto Sans SC"/>
                <a:cs typeface="Noto Sans SC"/>
                <a:sym typeface="Noto Sans SC"/>
              </a:rPr>
              <a:t>Essential geospatial vector data that defines the legal boundaries of individual land parcels. This dataset is time-sensitive, reflecting boundary changes and updates for specific years.</a:t>
            </a:r>
            <a:endParaRPr lang="en-US" sz="1100"/>
          </a:p>
        </p:txBody>
      </p:sp>
      <p:sp>
        <p:nvSpPr>
          <p:cNvPr name="AutoShape 16" id="16"/>
          <p:cNvSpPr/>
          <p:nvPr/>
        </p:nvSpPr>
        <p:spPr>
          <a:xfrm rot="0" flipH="false" flipV="false">
            <a:off x="762000" y="5842000"/>
            <a:ext cx="10668000" cy="762000"/>
          </a:xfrm>
          <a:prstGeom prst="roundRect">
            <a:avLst>
              <a:gd name="adj" fmla="val 13333"/>
            </a:avLst>
          </a:prstGeom>
          <a:solidFill>
            <a:srgbClr val="FFF7ED">
              <a:alpha val="100000"/>
            </a:srgbClr>
          </a:solidFill>
          <a:ln w="12700" cmpd="sng" cap="flat">
            <a:solidFill>
              <a:srgbClr val="FB923C">
                <a:alpha val="100000"/>
              </a:srgbClr>
            </a:solidFill>
            <a:prstDash val="dash"/>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1016000" y="5994400"/>
            <a:ext cx="10160000" cy="4572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true" strike="noStrike" u="none" sz="1400">
                <a:solidFill>
                  <a:srgbClr val="C2410C"/>
                </a:solidFill>
                <a:latin typeface="Calibri"/>
                <a:ea typeface="Calibri"/>
                <a:cs typeface="Calibri"/>
                <a:sym typeface="Calibri"/>
              </a:rPr>
              <a:t>💡 The notebook is designed in a</a:t>
            </a:r>
            <a:r>
              <a:rPr lang="en-US" b="true" i="true" strike="noStrike" u="none" sz="1400">
                <a:solidFill>
                  <a:srgbClr val="C2410C"/>
                </a:solidFill>
                <a:latin typeface="Calibri"/>
                <a:ea typeface="Calibri"/>
                <a:cs typeface="Calibri"/>
                <a:sym typeface="Calibri"/>
              </a:rPr>
              <a:t>local-first</a:t>
            </a:r>
            <a:r>
              <a:rPr lang="en-US" b="false" i="true" strike="noStrike" u="none" sz="1400">
                <a:solidFill>
                  <a:srgbClr val="C2410C"/>
                </a:solidFill>
                <a:latin typeface="Calibri"/>
                <a:ea typeface="Calibri"/>
                <a:cs typeface="Calibri"/>
                <a:sym typeface="Calibri"/>
              </a:rPr>
              <a:t>style, with online endpoints kept as optional references for extended functionality.</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469" b="469"/>
          <a:stretch>
            <a:fillRect/>
          </a:stretch>
        </p:blipFill>
        <p:spPr>
          <a:xfrm rot="0" flipH="false" flipV="false">
            <a:off x="520700" y="279400"/>
            <a:ext cx="2552700" cy="355600"/>
          </a:xfrm>
          <a:prstGeom prst="rect">
            <a:avLst/>
          </a:prstGeom>
          <a:noFill/>
          <a:ln w="25400" cmpd="sng" cap="flat">
            <a:noFill/>
            <a:prstDash val="solid"/>
            <a:round/>
          </a:ln>
        </p:spPr>
      </p:pic>
      <p:sp>
        <p:nvSpPr>
          <p:cNvPr name="AutoShape 3" id="3"/>
          <p:cNvSpPr/>
          <p:nvPr/>
        </p:nvSpPr>
        <p:spPr>
          <a:xfrm rot="0" flipH="false" flipV="false">
            <a:off x="749300" y="838200"/>
            <a:ext cx="10668000" cy="5588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2F4F4F"/>
                </a:solidFill>
                <a:latin typeface="Poppins"/>
                <a:ea typeface="Poppins"/>
                <a:cs typeface="Poppins"/>
                <a:sym typeface="Poppins"/>
              </a:rPr>
              <a:t>Part 2. Data Import and Source Overview</a:t>
            </a:r>
            <a:endParaRPr lang="en-US" sz="1100"/>
          </a:p>
        </p:txBody>
      </p:sp>
      <p:cxnSp>
        <p:nvCxnSpPr>
          <p:cNvPr name="Connector 4" id="4"/>
          <p:cNvCxnSpPr/>
          <p:nvPr/>
        </p:nvCxnSpPr>
        <p:spPr>
          <a:xfrm rot="-4092" flipH="false" flipV="false">
            <a:off x="749304" y="1593850"/>
            <a:ext cx="10668000" cy="12700"/>
          </a:xfrm>
          <a:prstGeom prst="straightConnector1">
            <a:avLst/>
          </a:prstGeom>
          <a:solidFill>
            <a:srgbClr val="DEE0E3">
              <a:alpha val="100000"/>
            </a:srgbClr>
          </a:solidFill>
          <a:ln w="12700" cmpd="sng" cap="flat">
            <a:solidFill>
              <a:srgbClr val="2F4F4F">
                <a:alpha val="100000"/>
              </a:srgbClr>
            </a:solidFill>
            <a:prstDash val="solid"/>
            <a:round/>
            <a:headEnd type="none" w="med" len="med"/>
            <a:tailEnd type="none" w="med" len="med"/>
          </a:ln>
        </p:spPr>
      </p:cxnSp>
      <p:sp>
        <p:nvSpPr>
          <p:cNvPr name="AutoShape 5" id="5"/>
          <p:cNvSpPr/>
          <p:nvPr/>
        </p:nvSpPr>
        <p:spPr>
          <a:xfrm rot="0" flipH="false" flipV="false">
            <a:off x="749300" y="1905000"/>
            <a:ext cx="5080000" cy="381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2F4F4F"/>
                </a:solidFill>
                <a:latin typeface="Poppins"/>
                <a:ea typeface="Poppins"/>
                <a:cs typeface="Poppins"/>
                <a:sym typeface="Poppins"/>
              </a:rPr>
              <a:t>2-1. Business Licenses Dataset</a:t>
            </a:r>
            <a:endParaRPr lang="en-US" sz="1100"/>
          </a:p>
        </p:txBody>
      </p:sp>
      <p:sp>
        <p:nvSpPr>
          <p:cNvPr name="AutoShape 6" id="6"/>
          <p:cNvSpPr/>
          <p:nvPr/>
        </p:nvSpPr>
        <p:spPr>
          <a:xfrm rot="0" flipH="false" flipV="false">
            <a:off x="749300" y="2540000"/>
            <a:ext cx="4953000" cy="3810000"/>
          </a:xfrm>
          <a:prstGeom prst="roundRect">
            <a:avLst>
              <a:gd name="adj" fmla="val 0"/>
            </a:avLst>
          </a:prstGeom>
          <a:solidFill>
            <a:srgbClr val="F0F8FF">
              <a:alpha val="80000"/>
            </a:srgbClr>
          </a:solidFill>
          <a:ln w="12700" cmpd="sng" cap="flat">
            <a:solidFill>
              <a:srgbClr val="C8DCF0">
                <a:alpha val="100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939800" y="2794000"/>
            <a:ext cx="4572000" cy="3302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0000"/>
              </a:lnSpc>
              <a:spcAft>
                <a:spcPts val="1200"/>
              </a:spcAft>
              <a:defRPr/>
            </a:pPr>
            <a:r>
              <a:rPr lang="en-US" b="true" i="false" strike="noStrike" u="none" sz="1800">
                <a:solidFill>
                  <a:srgbClr val="2F4F4F"/>
                </a:solidFill>
                <a:latin typeface="Poppins"/>
                <a:ea typeface="Poppins"/>
                <a:cs typeface="Poppins"/>
                <a:sym typeface="Poppins"/>
              </a:rPr>
              <a:t>Main use in this demo</a:t>
            </a:r>
            <a:r>
              <a:rPr lang="en-US" b="false" i="false" strike="noStrike" u="none" sz="1600">
                <a:solidFill>
                  <a:srgbClr val="1F2329"/>
                </a:solidFill>
                <a:latin typeface="Poppins"/>
                <a:ea typeface="Poppins"/>
                <a:cs typeface="Poppins"/>
                <a:sym typeface="Poppins"/>
              </a:rPr>
              <a:t/>
            </a:r>
            <a:endParaRPr lang="en-US" sz="1100"/>
          </a:p>
          <a:p>
            <a:pPr algn="l" indent="0">
              <a:lnSpc>
                <a:spcPct val="116666"/>
              </a:lnSpc>
              <a:spcBef>
                <a:spcPts val="600"/>
              </a:spcBef>
            </a:pPr>
            <a:r>
              <a:rPr lang="en-US" b="false" i="false" strike="noStrike" u="none" sz="1400">
                <a:solidFill>
                  <a:srgbClr val="374151"/>
                </a:solidFill>
                <a:latin typeface="Poppins"/>
                <a:ea typeface="Poppins"/>
                <a:cs typeface="Poppins"/>
                <a:sym typeface="Poppins"/>
              </a:rPr>
              <a:t>• Read the full local CSV for stable classroom execution</a:t>
            </a:r>
            <a:r>
              <a:rPr lang="en-US" b="false" i="false" strike="noStrike" u="none" sz="1600">
                <a:solidFill>
                  <a:srgbClr val="1F2329"/>
                </a:solidFill>
                <a:latin typeface="Poppins"/>
                <a:ea typeface="Poppins"/>
                <a:cs typeface="Poppins"/>
                <a:sym typeface="Poppins"/>
              </a:rPr>
              <a:t/>
            </a:r>
          </a:p>
          <a:p>
            <a:pPr algn="l" indent="0">
              <a:lnSpc>
                <a:spcPct val="116666"/>
              </a:lnSpc>
              <a:spcBef>
                <a:spcPts val="600"/>
              </a:spcBef>
            </a:pPr>
            <a:r>
              <a:rPr lang="en-US" b="false" i="false" strike="noStrike" u="none" sz="1400">
                <a:solidFill>
                  <a:srgbClr val="374151"/>
                </a:solidFill>
                <a:latin typeface="Poppins"/>
                <a:ea typeface="Poppins"/>
                <a:cs typeface="Poppins"/>
                <a:sym typeface="Poppins"/>
              </a:rPr>
              <a:t>• Keep OData and resource endpoints as optional online sources</a:t>
            </a:r>
            <a:r>
              <a:rPr lang="en-US" b="false" i="false" strike="noStrike" u="none" sz="1600">
                <a:solidFill>
                  <a:srgbClr val="1F2329"/>
                </a:solidFill>
                <a:latin typeface="Poppins"/>
                <a:ea typeface="Poppins"/>
                <a:cs typeface="Poppins"/>
                <a:sym typeface="Poppins"/>
              </a:rPr>
              <a:t/>
            </a:r>
          </a:p>
          <a:p>
            <a:pPr algn="l" indent="0">
              <a:lnSpc>
                <a:spcPct val="116666"/>
              </a:lnSpc>
              <a:spcBef>
                <a:spcPts val="600"/>
              </a:spcBef>
            </a:pPr>
            <a:r>
              <a:rPr lang="en-US" b="false" i="false" strike="noStrike" u="none" sz="1400">
                <a:solidFill>
                  <a:srgbClr val="374151"/>
                </a:solidFill>
                <a:latin typeface="Poppins"/>
                <a:ea typeface="Poppins"/>
                <a:cs typeface="Poppins"/>
                <a:sym typeface="Poppins"/>
              </a:rPr>
              <a:t>• Inspect columns before filtering by year or geometry availability</a:t>
            </a:r>
          </a:p>
        </p:txBody>
      </p:sp>
      <p:cxnSp>
        <p:nvCxnSpPr>
          <p:cNvPr name="Connector 8" id="8"/>
          <p:cNvCxnSpPr/>
          <p:nvPr/>
        </p:nvCxnSpPr>
        <p:spPr>
          <a:xfrm rot="5388540" flipH="false" flipV="false">
            <a:off x="4178300" y="3803661"/>
            <a:ext cx="3810000" cy="12700"/>
          </a:xfrm>
          <a:prstGeom prst="straightConnector1">
            <a:avLst/>
          </a:prstGeom>
          <a:solidFill>
            <a:srgbClr val="DEE0E3">
              <a:alpha val="100000"/>
            </a:srgbClr>
          </a:solidFill>
          <a:ln w="12700" cmpd="sng" cap="flat">
            <a:solidFill>
              <a:srgbClr val="2F4F4F">
                <a:alpha val="30000"/>
              </a:srgbClr>
            </a:solidFill>
            <a:prstDash val="dash"/>
            <a:round/>
            <a:headEnd type="none" w="med" len="med"/>
            <a:tailEnd type="none" w="med" len="med"/>
          </a:ln>
        </p:spPr>
      </p:cxnSp>
      <p:sp>
        <p:nvSpPr>
          <p:cNvPr name="AutoShape 9" id="9"/>
          <p:cNvSpPr/>
          <p:nvPr/>
        </p:nvSpPr>
        <p:spPr>
          <a:xfrm rot="0" flipH="false" flipV="false">
            <a:off x="6464300" y="1905000"/>
            <a:ext cx="5080000" cy="381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2F4F4F"/>
                </a:solidFill>
                <a:latin typeface="Poppins"/>
                <a:ea typeface="Poppins"/>
                <a:cs typeface="Poppins"/>
                <a:sym typeface="Poppins"/>
              </a:rPr>
              <a:t>Key Columns</a:t>
            </a:r>
            <a:endParaRPr lang="en-US" sz="1100"/>
          </a:p>
        </p:txBody>
      </p:sp>
      <p:sp>
        <p:nvSpPr>
          <p:cNvPr name="AutoShape 10" id="10"/>
          <p:cNvSpPr/>
          <p:nvPr/>
        </p:nvSpPr>
        <p:spPr>
          <a:xfrm rot="0" flipH="false" flipV="false">
            <a:off x="6464300" y="2540000"/>
            <a:ext cx="4953000" cy="3810000"/>
          </a:xfrm>
          <a:prstGeom prst="roundRect">
            <a:avLst>
              <a:gd name="adj" fmla="val 0"/>
            </a:avLst>
          </a:prstGeom>
          <a:solidFill>
            <a:srgbClr val="FFFBEB">
              <a:alpha val="80000"/>
            </a:srgbClr>
          </a:solidFill>
          <a:ln w="12700" cmpd="sng" cap="flat">
            <a:solidFill>
              <a:srgbClr val="FDE68A">
                <a:alpha val="10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6654800" y="2794000"/>
            <a:ext cx="4572000" cy="3302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374151"/>
                </a:solidFill>
                <a:latin typeface="Poppins"/>
                <a:ea typeface="Poppins"/>
                <a:cs typeface="Poppins"/>
                <a:sym typeface="Poppins"/>
              </a:rPr>
              <a:t>•</a:t>
            </a:r>
            <a:r>
              <a:rPr lang="en-US" b="true" i="false" strike="noStrike" u="none" sz="1400">
                <a:solidFill>
                  <a:srgbClr val="374151"/>
                </a:solidFill>
                <a:latin typeface="Poppins"/>
                <a:ea typeface="Poppins"/>
                <a:cs typeface="Poppins"/>
                <a:sym typeface="Poppins"/>
              </a:rPr>
              <a:t>LICENSE ID</a:t>
            </a:r>
            <a:r>
              <a:rPr lang="en-US" b="false" i="false" strike="noStrike" u="none" sz="1400">
                <a:solidFill>
                  <a:srgbClr val="374151"/>
                </a:solidFill>
                <a:latin typeface="Poppins"/>
                <a:ea typeface="Poppins"/>
                <a:cs typeface="Poppins"/>
                <a:sym typeface="Poppins"/>
              </a:rPr>
              <a:t>(Unique Identifier)</a:t>
            </a:r>
            <a:r>
              <a:rPr lang="en-US" b="false" i="false" strike="noStrike" u="none" sz="1400">
                <a:solidFill>
                  <a:srgbClr val="374151"/>
                </a:solidFill>
                <a:latin typeface="Poppins"/>
                <a:ea typeface="Poppins"/>
                <a:cs typeface="Poppins"/>
                <a:sym typeface="Poppins"/>
              </a:rPr>
              <a:t/>
            </a:r>
            <a:br>
              <a:rPr lang="en-US" b="false" i="false" strike="noStrike" u="none" sz="1400">
                <a:solidFill>
                  <a:srgbClr val="374151"/>
                </a:solidFill>
                <a:latin typeface="Poppins"/>
                <a:ea typeface="Poppins"/>
                <a:cs typeface="Poppins"/>
                <a:sym typeface="Poppins"/>
              </a:rPr>
            </a:br>
            <a:r>
              <a:rPr lang="en-US" b="false" i="false" strike="noStrike" u="none" sz="1400">
                <a:solidFill>
                  <a:srgbClr val="374151"/>
                </a:solidFill>
                <a:latin typeface="Poppins"/>
                <a:ea typeface="Poppins"/>
                <a:cs typeface="Poppins"/>
                <a:sym typeface="Poppins"/>
              </a:rPr>
              <a:t>•</a:t>
            </a:r>
            <a:r>
              <a:rPr lang="en-US" b="true" i="false" strike="noStrike" u="none" sz="1400">
                <a:solidFill>
                  <a:srgbClr val="374151"/>
                </a:solidFill>
                <a:latin typeface="Poppins"/>
                <a:ea typeface="Poppins"/>
                <a:cs typeface="Poppins"/>
                <a:sym typeface="Poppins"/>
              </a:rPr>
              <a:t>LEGAL NAME</a:t>
            </a:r>
            <a:r>
              <a:rPr lang="en-US" b="false" i="false" strike="noStrike" u="none" sz="1400">
                <a:solidFill>
                  <a:srgbClr val="374151"/>
                </a:solidFill>
                <a:latin typeface="Poppins"/>
                <a:ea typeface="Poppins"/>
                <a:cs typeface="Poppins"/>
                <a:sym typeface="Poppins"/>
              </a:rPr>
              <a:t>/</a:t>
            </a:r>
            <a:r>
              <a:rPr lang="en-US" b="true" i="false" strike="noStrike" u="none" sz="1400">
                <a:solidFill>
                  <a:srgbClr val="374151"/>
                </a:solidFill>
                <a:latin typeface="Poppins"/>
                <a:ea typeface="Poppins"/>
                <a:cs typeface="Poppins"/>
                <a:sym typeface="Poppins"/>
              </a:rPr>
              <a:t>DOING BUSINESS AS NAME</a:t>
            </a:r>
            <a:r>
              <a:rPr lang="en-US" b="false" i="false" strike="noStrike" u="none" sz="1400">
                <a:solidFill>
                  <a:srgbClr val="374151"/>
                </a:solidFill>
                <a:latin typeface="Poppins"/>
                <a:ea typeface="Poppins"/>
                <a:cs typeface="Poppins"/>
                <a:sym typeface="Poppins"/>
              </a:rPr>
              <a:t>(Business Identity)</a:t>
            </a:r>
            <a:r>
              <a:rPr lang="en-US" b="false" i="false" strike="noStrike" u="none" sz="1400">
                <a:solidFill>
                  <a:srgbClr val="374151"/>
                </a:solidFill>
                <a:latin typeface="Poppins"/>
                <a:ea typeface="Poppins"/>
                <a:cs typeface="Poppins"/>
                <a:sym typeface="Poppins"/>
              </a:rPr>
              <a:t/>
            </a:r>
            <a:br>
              <a:rPr lang="en-US" b="false" i="false" strike="noStrike" u="none" sz="1400">
                <a:solidFill>
                  <a:srgbClr val="374151"/>
                </a:solidFill>
                <a:latin typeface="Poppins"/>
                <a:ea typeface="Poppins"/>
                <a:cs typeface="Poppins"/>
                <a:sym typeface="Poppins"/>
              </a:rPr>
            </a:br>
            <a:r>
              <a:rPr lang="en-US" b="false" i="false" strike="noStrike" u="none" sz="1400">
                <a:solidFill>
                  <a:srgbClr val="374151"/>
                </a:solidFill>
                <a:latin typeface="Poppins"/>
                <a:ea typeface="Poppins"/>
                <a:cs typeface="Poppins"/>
                <a:sym typeface="Poppins"/>
              </a:rPr>
              <a:t>•</a:t>
            </a:r>
            <a:r>
              <a:rPr lang="en-US" b="true" i="false" strike="noStrike" u="none" sz="1400">
                <a:solidFill>
                  <a:srgbClr val="374151"/>
                </a:solidFill>
                <a:latin typeface="Poppins"/>
                <a:ea typeface="Poppins"/>
                <a:cs typeface="Poppins"/>
                <a:sym typeface="Poppins"/>
              </a:rPr>
              <a:t>LICENSE DESCRIPTION</a:t>
            </a:r>
            <a:r>
              <a:rPr lang="en-US" b="false" i="false" strike="noStrike" u="none" sz="1400">
                <a:solidFill>
                  <a:srgbClr val="374151"/>
                </a:solidFill>
                <a:latin typeface="Poppins"/>
                <a:ea typeface="Poppins"/>
                <a:cs typeface="Poppins"/>
                <a:sym typeface="Poppins"/>
              </a:rPr>
              <a:t>(Activity Type)</a:t>
            </a:r>
            <a:r>
              <a:rPr lang="en-US" b="false" i="false" strike="noStrike" u="none" sz="1400">
                <a:solidFill>
                  <a:srgbClr val="374151"/>
                </a:solidFill>
                <a:latin typeface="Poppins"/>
                <a:ea typeface="Poppins"/>
                <a:cs typeface="Poppins"/>
                <a:sym typeface="Poppins"/>
              </a:rPr>
              <a:t/>
            </a:r>
            <a:br>
              <a:rPr lang="en-US" b="false" i="false" strike="noStrike" u="none" sz="1400">
                <a:solidFill>
                  <a:srgbClr val="374151"/>
                </a:solidFill>
                <a:latin typeface="Poppins"/>
                <a:ea typeface="Poppins"/>
                <a:cs typeface="Poppins"/>
                <a:sym typeface="Poppins"/>
              </a:rPr>
            </a:br>
            <a:r>
              <a:rPr lang="en-US" b="false" i="false" strike="noStrike" u="none" sz="1400">
                <a:solidFill>
                  <a:srgbClr val="374151"/>
                </a:solidFill>
                <a:latin typeface="Poppins"/>
                <a:ea typeface="Poppins"/>
                <a:cs typeface="Poppins"/>
                <a:sym typeface="Poppins"/>
              </a:rPr>
              <a:t>•</a:t>
            </a:r>
            <a:r>
              <a:rPr lang="en-US" b="true" i="false" strike="noStrike" u="none" sz="1400">
                <a:solidFill>
                  <a:srgbClr val="374151"/>
                </a:solidFill>
                <a:latin typeface="Poppins"/>
                <a:ea typeface="Poppins"/>
                <a:cs typeface="Poppins"/>
                <a:sym typeface="Poppins"/>
              </a:rPr>
              <a:t>LICENSE TERM START/EXPIRATION DATE</a:t>
            </a:r>
            <a:r>
              <a:rPr lang="en-US" b="false" i="false" strike="noStrike" u="none" sz="1400">
                <a:solidFill>
                  <a:srgbClr val="374151"/>
                </a:solidFill>
                <a:latin typeface="Poppins"/>
                <a:ea typeface="Poppins"/>
                <a:cs typeface="Poppins"/>
                <a:sym typeface="Poppins"/>
              </a:rPr>
              <a:t>(Validity)</a:t>
            </a:r>
            <a:r>
              <a:rPr lang="en-US" b="false" i="false" strike="noStrike" u="none" sz="1400">
                <a:solidFill>
                  <a:srgbClr val="374151"/>
                </a:solidFill>
                <a:latin typeface="Poppins"/>
                <a:ea typeface="Poppins"/>
                <a:cs typeface="Poppins"/>
                <a:sym typeface="Poppins"/>
              </a:rPr>
              <a:t/>
            </a:r>
            <a:br>
              <a:rPr lang="en-US" b="false" i="false" strike="noStrike" u="none" sz="1400">
                <a:solidFill>
                  <a:srgbClr val="374151"/>
                </a:solidFill>
                <a:latin typeface="Poppins"/>
                <a:ea typeface="Poppins"/>
                <a:cs typeface="Poppins"/>
                <a:sym typeface="Poppins"/>
              </a:rPr>
            </a:br>
            <a:r>
              <a:rPr lang="en-US" b="false" i="false" strike="noStrike" u="none" sz="1400">
                <a:solidFill>
                  <a:srgbClr val="374151"/>
                </a:solidFill>
                <a:latin typeface="Poppins"/>
                <a:ea typeface="Poppins"/>
                <a:cs typeface="Poppins"/>
                <a:sym typeface="Poppins"/>
              </a:rPr>
              <a:t>•</a:t>
            </a:r>
            <a:r>
              <a:rPr lang="en-US" b="true" i="false" strike="noStrike" u="none" sz="1400">
                <a:solidFill>
                  <a:srgbClr val="374151"/>
                </a:solidFill>
                <a:latin typeface="Poppins"/>
                <a:ea typeface="Poppins"/>
                <a:cs typeface="Poppins"/>
                <a:sym typeface="Poppins"/>
              </a:rPr>
              <a:t>LICENSE STATUS</a:t>
            </a:r>
            <a:r>
              <a:rPr lang="en-US" b="false" i="false" strike="noStrike" u="none" sz="1400">
                <a:solidFill>
                  <a:srgbClr val="374151"/>
                </a:solidFill>
                <a:latin typeface="Poppins"/>
                <a:ea typeface="Poppins"/>
                <a:cs typeface="Poppins"/>
                <a:sym typeface="Poppins"/>
              </a:rPr>
              <a:t>(Active/Inactive)</a:t>
            </a:r>
            <a:r>
              <a:rPr lang="en-US" b="false" i="false" strike="noStrike" u="none" sz="1400">
                <a:solidFill>
                  <a:srgbClr val="374151"/>
                </a:solidFill>
                <a:latin typeface="Poppins"/>
                <a:ea typeface="Poppins"/>
                <a:cs typeface="Poppins"/>
                <a:sym typeface="Poppins"/>
              </a:rPr>
              <a:t/>
            </a:r>
            <a:br>
              <a:rPr lang="en-US" b="false" i="false" strike="noStrike" u="none" sz="1400">
                <a:solidFill>
                  <a:srgbClr val="374151"/>
                </a:solidFill>
                <a:latin typeface="Poppins"/>
                <a:ea typeface="Poppins"/>
                <a:cs typeface="Poppins"/>
                <a:sym typeface="Poppins"/>
              </a:rPr>
            </a:br>
            <a:r>
              <a:rPr lang="en-US" b="false" i="false" strike="noStrike" u="none" sz="1400">
                <a:solidFill>
                  <a:srgbClr val="374151"/>
                </a:solidFill>
                <a:latin typeface="Poppins"/>
                <a:ea typeface="Poppins"/>
                <a:cs typeface="Poppins"/>
                <a:sym typeface="Poppins"/>
              </a:rPr>
              <a:t>•</a:t>
            </a:r>
            <a:r>
              <a:rPr lang="en-US" b="true" i="false" strike="noStrike" u="none" sz="1400">
                <a:solidFill>
                  <a:srgbClr val="374151"/>
                </a:solidFill>
                <a:latin typeface="Poppins"/>
                <a:ea typeface="Poppins"/>
                <a:cs typeface="Poppins"/>
                <a:sym typeface="Poppins"/>
              </a:rPr>
              <a:t>LATITUDE / LONGITUDE</a:t>
            </a:r>
            <a:r>
              <a:rPr lang="en-US" b="false" i="false" strike="noStrike" u="none" sz="1400">
                <a:solidFill>
                  <a:srgbClr val="374151"/>
                </a:solidFill>
                <a:latin typeface="Poppins"/>
                <a:ea typeface="Poppins"/>
                <a:cs typeface="Poppins"/>
                <a:sym typeface="Poppins"/>
              </a:rPr>
              <a:t>(Geographic Location)</a:t>
            </a:r>
            <a:r>
              <a:rPr lang="en-US" b="false" i="false" strike="noStrike" u="none" sz="1400">
                <a:solidFill>
                  <a:srgbClr val="374151"/>
                </a:solidFill>
                <a:latin typeface="Poppins"/>
                <a:ea typeface="Poppins"/>
                <a:cs typeface="Poppins"/>
                <a:sym typeface="Poppins"/>
              </a:rPr>
              <a:t/>
            </a:r>
            <a:br>
              <a:rPr lang="en-US" b="false" i="false" strike="noStrike" u="none" sz="1400">
                <a:solidFill>
                  <a:srgbClr val="374151"/>
                </a:solidFill>
                <a:latin typeface="Poppins"/>
                <a:ea typeface="Poppins"/>
                <a:cs typeface="Poppins"/>
                <a:sym typeface="Poppins"/>
              </a:rPr>
            </a:br>
            <a:r>
              <a:rPr lang="en-US" b="false" i="false" strike="noStrike" u="none" sz="1400">
                <a:solidFill>
                  <a:srgbClr val="374151"/>
                </a:solidFill>
                <a:latin typeface="Poppins"/>
                <a:ea typeface="Poppins"/>
                <a:cs typeface="Poppins"/>
                <a:sym typeface="Poppins"/>
              </a:rPr>
              <a:t>•</a:t>
            </a:r>
            <a:r>
              <a:rPr lang="en-US" b="true" i="false" strike="noStrike" u="none" sz="1400">
                <a:solidFill>
                  <a:srgbClr val="374151"/>
                </a:solidFill>
                <a:latin typeface="Poppins"/>
                <a:ea typeface="Poppins"/>
                <a:cs typeface="Poppins"/>
                <a:sym typeface="Poppins"/>
              </a:rPr>
              <a:t>ADDRESS</a:t>
            </a:r>
            <a:r>
              <a:rPr lang="en-US" b="false" i="false" strike="noStrike" u="none" sz="1400">
                <a:solidFill>
                  <a:srgbClr val="374151"/>
                </a:solidFill>
                <a:latin typeface="Poppins"/>
                <a:ea typeface="Poppins"/>
                <a:cs typeface="Poppins"/>
                <a:sym typeface="Poppins"/>
              </a:rPr>
              <a:t>(Physical Address)</a:t>
            </a:r>
            <a:endParaRPr lang="en-US" sz="1100"/>
          </a:p>
        </p:txBody>
      </p:sp>
      <p:sp>
        <p:nvSpPr>
          <p:cNvPr name="AutoShape 12" id="12"/>
          <p:cNvSpPr/>
          <p:nvPr/>
        </p:nvSpPr>
        <p:spPr>
          <a:xfrm rot="0" flipH="false" flipV="false">
            <a:off x="10058400" y="4673600"/>
            <a:ext cx="3759200" cy="3759200"/>
          </a:xfrm>
          <a:prstGeom prst="ellipse">
            <a:avLst/>
          </a:prstGeom>
          <a:solidFill>
            <a:srgbClr val="FFC844">
              <a:alpha val="100000"/>
            </a:srgbClr>
          </a:soli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058400" y="4673600"/>
            <a:ext cx="3759200" cy="3759200"/>
          </a:xfrm>
          <a:prstGeom prst="ellipse">
            <a:avLst/>
          </a:prstGeom>
          <a:solidFill>
            <a:srgbClr val="FFC844">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520700" y="279400"/>
            <a:ext cx="11150600" cy="3556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696969"/>
                </a:solidFill>
                <a:latin typeface="Poppins"/>
                <a:ea typeface="Poppins"/>
                <a:cs typeface="Poppins"/>
                <a:sym typeface="Poppins"/>
              </a:rPr>
              <a:t>Part 2. Data Import and Source Overview</a:t>
            </a:r>
            <a:endParaRPr lang="en-US" sz="1100"/>
          </a:p>
        </p:txBody>
      </p:sp>
      <p:sp>
        <p:nvSpPr>
          <p:cNvPr name="AutoShape 4" id="4"/>
          <p:cNvSpPr/>
          <p:nvPr/>
        </p:nvSpPr>
        <p:spPr>
          <a:xfrm rot="0" flipH="false" flipV="false">
            <a:off x="749300" y="838200"/>
            <a:ext cx="10668000" cy="5588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2F4F4F"/>
                </a:solidFill>
                <a:latin typeface="Poppins"/>
                <a:ea typeface="Poppins"/>
                <a:cs typeface="Poppins"/>
                <a:sym typeface="Poppins"/>
              </a:rPr>
              <a:t>2-2. Parcel Dataset (Example Year: 2016)</a:t>
            </a:r>
            <a:endParaRPr lang="en-US" sz="1100"/>
          </a:p>
        </p:txBody>
      </p:sp>
      <p:cxnSp>
        <p:nvCxnSpPr>
          <p:cNvPr name="Connector 5" id="5"/>
          <p:cNvCxnSpPr/>
          <p:nvPr/>
        </p:nvCxnSpPr>
        <p:spPr>
          <a:xfrm rot="-4092" flipH="false" flipV="false">
            <a:off x="749304" y="1593850"/>
            <a:ext cx="10668000" cy="12700"/>
          </a:xfrm>
          <a:prstGeom prst="straightConnector1">
            <a:avLst/>
          </a:prstGeom>
          <a:solidFill>
            <a:srgbClr val="DEE0E3">
              <a:alpha val="100000"/>
            </a:srgbClr>
          </a:solidFill>
          <a:ln w="12700" cmpd="sng" cap="flat">
            <a:solidFill>
              <a:srgbClr val="2F4F4F">
                <a:alpha val="100000"/>
              </a:srgbClr>
            </a:solidFill>
            <a:prstDash val="solid"/>
            <a:round/>
            <a:headEnd type="none" w="med" len="med"/>
            <a:tailEnd type="none" w="med" len="med"/>
          </a:ln>
        </p:spPr>
      </p:cxnSp>
      <p:sp>
        <p:nvSpPr>
          <p:cNvPr name="AutoShape 6" id="6"/>
          <p:cNvSpPr/>
          <p:nvPr/>
        </p:nvSpPr>
        <p:spPr>
          <a:xfrm rot="0" flipH="false" flipV="false">
            <a:off x="749300" y="1905000"/>
            <a:ext cx="5080000" cy="4064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2F4F4F"/>
                </a:solidFill>
                <a:latin typeface="Poppins"/>
                <a:ea typeface="Poppins"/>
                <a:cs typeface="Poppins"/>
                <a:sym typeface="Poppins"/>
              </a:rPr>
              <a:t>Main Use in This Demo</a:t>
            </a:r>
            <a:endParaRPr lang="en-US" sz="1100"/>
          </a:p>
        </p:txBody>
      </p:sp>
      <p:pic>
        <p:nvPicPr>
          <p:cNvPr name="Picture 7" id="7"/>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749300" y="2667000"/>
            <a:ext cx="304800" cy="304800"/>
          </a:xfrm>
          <a:prstGeom prst="rect">
            <a:avLst/>
          </a:prstGeom>
        </p:spPr>
      </p:pic>
      <p:sp>
        <p:nvSpPr>
          <p:cNvPr name="AutoShape 8" id="8"/>
          <p:cNvSpPr/>
          <p:nvPr/>
        </p:nvSpPr>
        <p:spPr>
          <a:xfrm rot="0" flipH="false" flipV="false">
            <a:off x="1206500" y="2667000"/>
            <a:ext cx="4572000" cy="762000"/>
          </a:xfrm>
          <a:prstGeom prst="roundRect">
            <a:avLst>
              <a:gd name="adj" fmla="val 0"/>
            </a:avLst>
          </a:prstGeom>
          <a:noFill/>
          <a:ln w="25400" cmpd="sng" cap="flat">
            <a:noFill/>
            <a:prstDash val="solid"/>
            <a:round/>
          </a:ln>
        </p:spPr>
        <p:txBody>
          <a:bodyPr anchor="t" rtlCol="false" anchorCtr="false" vert="horz" wrap="square" lIns="0" rIns="0" tIns="0" bIns="0"/>
          <a:lstStyle/>
          <a:p>
            <a:pPr algn="ctr" indent="0">
              <a:lnSpc>
                <a:spcPct val="100000"/>
              </a:lnSpc>
              <a:defRPr/>
            </a:pPr>
            <a:r>
              <a:rPr lang="en-US" b="true" i="false" strike="noStrike" u="none" sz="1600">
                <a:solidFill>
                  <a:srgbClr val="2F4F4F"/>
                </a:solidFill>
                <a:latin typeface="Poppins"/>
                <a:ea typeface="Poppins"/>
                <a:cs typeface="Poppins"/>
                <a:sym typeface="Poppins"/>
              </a:rPr>
              <a:t>Data Loading</a:t>
            </a:r>
            <a:r>
              <a:rPr lang="en-US" b="false" i="false" strike="noStrike" u="none" sz="1600">
                <a:solidFill>
                  <a:srgbClr val="1F2329"/>
                </a:solidFill>
                <a:latin typeface="Poppins"/>
                <a:ea typeface="Poppins"/>
                <a:cs typeface="Poppins"/>
                <a:sym typeface="Poppins"/>
              </a:rPr>
              <a:t/>
            </a:r>
            <a:endParaRPr lang="en-US" sz="1100"/>
          </a:p>
          <a:p>
            <a:pPr algn="ctr" indent="0">
              <a:lnSpc>
                <a:spcPct val="108333"/>
              </a:lnSpc>
            </a:pPr>
            <a:r>
              <a:rPr lang="en-US" b="false" i="false" strike="noStrike" u="none" sz="1300">
                <a:solidFill>
                  <a:srgbClr val="696969"/>
                </a:solidFill>
                <a:latin typeface="Poppins"/>
                <a:ea typeface="Poppins"/>
                <a:cs typeface="Poppins"/>
                <a:sym typeface="Poppins"/>
              </a:rPr>
              <a:t>Load parcel polygons for one selected year (e.g., 2016) into the analysis environment.</a:t>
            </a: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749300" y="3810000"/>
            <a:ext cx="304800" cy="304800"/>
          </a:xfrm>
          <a:prstGeom prst="rect">
            <a:avLst/>
          </a:prstGeom>
        </p:spPr>
      </p:pic>
      <p:sp>
        <p:nvSpPr>
          <p:cNvPr name="AutoShape 10" id="10"/>
          <p:cNvSpPr/>
          <p:nvPr/>
        </p:nvSpPr>
        <p:spPr>
          <a:xfrm rot="0" flipH="false" flipV="false">
            <a:off x="1206500" y="3810000"/>
            <a:ext cx="4572000" cy="762000"/>
          </a:xfrm>
          <a:prstGeom prst="roundRect">
            <a:avLst>
              <a:gd name="adj" fmla="val 0"/>
            </a:avLst>
          </a:prstGeom>
          <a:noFill/>
          <a:ln w="25400" cmpd="sng" cap="flat">
            <a:noFill/>
            <a:prstDash val="solid"/>
            <a:round/>
          </a:ln>
        </p:spPr>
        <p:txBody>
          <a:bodyPr anchor="t" rtlCol="false" anchorCtr="false" vert="horz" wrap="square" lIns="0" rIns="0" tIns="0" bIns="0"/>
          <a:lstStyle/>
          <a:p>
            <a:pPr algn="ctr" indent="0">
              <a:lnSpc>
                <a:spcPct val="100000"/>
              </a:lnSpc>
              <a:defRPr/>
            </a:pPr>
            <a:r>
              <a:rPr lang="en-US" b="true" i="false" strike="noStrike" u="none" sz="1600">
                <a:solidFill>
                  <a:srgbClr val="2F4F4F"/>
                </a:solidFill>
                <a:latin typeface="Poppins"/>
                <a:ea typeface="Poppins"/>
                <a:cs typeface="Poppins"/>
                <a:sym typeface="Poppins"/>
              </a:rPr>
              <a:t>Validation Checks</a:t>
            </a:r>
            <a:r>
              <a:rPr lang="en-US" b="false" i="false" strike="noStrike" u="none" sz="1600">
                <a:solidFill>
                  <a:srgbClr val="1F2329"/>
                </a:solidFill>
                <a:latin typeface="Poppins"/>
                <a:ea typeface="Poppins"/>
                <a:cs typeface="Poppins"/>
                <a:sym typeface="Poppins"/>
              </a:rPr>
              <a:t/>
            </a:r>
            <a:endParaRPr lang="en-US" sz="1100"/>
          </a:p>
          <a:p>
            <a:pPr algn="ctr" indent="0">
              <a:lnSpc>
                <a:spcPct val="108333"/>
              </a:lnSpc>
            </a:pPr>
            <a:r>
              <a:rPr lang="en-US" b="false" i="false" strike="noStrike" u="none" sz="1300">
                <a:solidFill>
                  <a:srgbClr val="696969"/>
                </a:solidFill>
                <a:latin typeface="Poppins"/>
                <a:ea typeface="Poppins"/>
                <a:cs typeface="Poppins"/>
                <a:sym typeface="Poppins"/>
              </a:rPr>
              <a:t>Confirm the total row count and verify the Coordinate Reference System (CRS) for spatial accuracy.</a:t>
            </a:r>
          </a:p>
        </p:txBody>
      </p:sp>
      <p:pic>
        <p:nvPicPr>
          <p:cNvPr name="Picture 11" id="11"/>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749300" y="4953000"/>
            <a:ext cx="304800" cy="304800"/>
          </a:xfrm>
          <a:prstGeom prst="rect">
            <a:avLst/>
          </a:prstGeom>
        </p:spPr>
      </p:pic>
      <p:sp>
        <p:nvSpPr>
          <p:cNvPr name="AutoShape 12" id="12"/>
          <p:cNvSpPr/>
          <p:nvPr/>
        </p:nvSpPr>
        <p:spPr>
          <a:xfrm rot="0" flipH="false" flipV="false">
            <a:off x="1206500" y="4953000"/>
            <a:ext cx="4572000" cy="889000"/>
          </a:xfrm>
          <a:prstGeom prst="roundRect">
            <a:avLst>
              <a:gd name="adj" fmla="val 0"/>
            </a:avLst>
          </a:prstGeom>
          <a:noFill/>
          <a:ln w="25400" cmpd="sng" cap="flat">
            <a:noFill/>
            <a:prstDash val="solid"/>
            <a:round/>
          </a:ln>
        </p:spPr>
        <p:txBody>
          <a:bodyPr anchor="t" rtlCol="false" anchorCtr="false" vert="horz" wrap="square" lIns="0" rIns="0" tIns="0" bIns="0"/>
          <a:lstStyle/>
          <a:p>
            <a:pPr algn="ctr" indent="0">
              <a:lnSpc>
                <a:spcPct val="100000"/>
              </a:lnSpc>
              <a:defRPr/>
            </a:pPr>
            <a:r>
              <a:rPr lang="en-US" b="true" i="false" strike="noStrike" u="none" sz="1600">
                <a:solidFill>
                  <a:srgbClr val="2F4F4F"/>
                </a:solidFill>
                <a:latin typeface="Poppins"/>
                <a:ea typeface="Poppins"/>
                <a:cs typeface="Poppins"/>
                <a:sym typeface="Poppins"/>
              </a:rPr>
              <a:t>Pre-Join Inspection</a:t>
            </a:r>
            <a:r>
              <a:rPr lang="en-US" b="false" i="false" strike="noStrike" u="none" sz="1600">
                <a:solidFill>
                  <a:srgbClr val="1F2329"/>
                </a:solidFill>
                <a:latin typeface="Poppins"/>
                <a:ea typeface="Poppins"/>
                <a:cs typeface="Poppins"/>
                <a:sym typeface="Poppins"/>
              </a:rPr>
              <a:t/>
            </a:r>
            <a:endParaRPr lang="en-US" sz="1100"/>
          </a:p>
          <a:p>
            <a:pPr algn="ctr" indent="0">
              <a:lnSpc>
                <a:spcPct val="108333"/>
              </a:lnSpc>
            </a:pPr>
            <a:r>
              <a:rPr lang="en-US" b="false" i="false" strike="noStrike" u="none" sz="1300">
                <a:solidFill>
                  <a:srgbClr val="696969"/>
                </a:solidFill>
                <a:latin typeface="Poppins"/>
                <a:ea typeface="Poppins"/>
                <a:cs typeface="Poppins"/>
                <a:sym typeface="Poppins"/>
              </a:rPr>
              <a:t>Inspect structural columns and data types to ensure compatibility before performing table joins.</a:t>
            </a:r>
          </a:p>
        </p:txBody>
      </p:sp>
      <p:cxnSp>
        <p:nvCxnSpPr>
          <p:cNvPr name="Connector 13" id="13"/>
          <p:cNvCxnSpPr/>
          <p:nvPr/>
        </p:nvCxnSpPr>
        <p:spPr>
          <a:xfrm rot="5388910" flipH="false" flipV="false">
            <a:off x="4114800" y="3867160"/>
            <a:ext cx="3937000" cy="12700"/>
          </a:xfrm>
          <a:prstGeom prst="straightConnector1">
            <a:avLst/>
          </a:prstGeom>
          <a:solidFill>
            <a:srgbClr val="DEE0E3">
              <a:alpha val="100000"/>
            </a:srgbClr>
          </a:solidFill>
          <a:ln w="12700" cmpd="sng" cap="flat">
            <a:solidFill>
              <a:srgbClr val="2F4F4F">
                <a:alpha val="30000"/>
              </a:srgbClr>
            </a:solidFill>
            <a:prstDash val="dash"/>
            <a:round/>
            <a:headEnd type="none" w="med" len="med"/>
            <a:tailEnd type="none" w="med" len="med"/>
          </a:ln>
        </p:spPr>
      </p:cxnSp>
      <p:sp>
        <p:nvSpPr>
          <p:cNvPr name="AutoShape 14" id="14"/>
          <p:cNvSpPr/>
          <p:nvPr/>
        </p:nvSpPr>
        <p:spPr>
          <a:xfrm rot="0" flipH="false" flipV="false">
            <a:off x="6464300" y="1905000"/>
            <a:ext cx="5080000" cy="4064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2F4F4F"/>
                </a:solidFill>
                <a:latin typeface="Poppins"/>
                <a:ea typeface="Poppins"/>
                <a:cs typeface="Poppins"/>
                <a:sym typeface="Poppins"/>
              </a:rPr>
              <a:t>Key Columns for Analysis</a:t>
            </a:r>
            <a:endParaRPr lang="en-US" sz="1100"/>
          </a:p>
        </p:txBody>
      </p:sp>
      <p:pic>
        <p:nvPicPr>
          <p:cNvPr name="Picture 15" id="1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464300" y="2667000"/>
            <a:ext cx="279400" cy="279400"/>
          </a:xfrm>
          <a:prstGeom prst="rect">
            <a:avLst/>
          </a:prstGeom>
        </p:spPr>
      </p:pic>
      <p:sp>
        <p:nvSpPr>
          <p:cNvPr name="AutoShape 16" id="16"/>
          <p:cNvSpPr/>
          <p:nvPr/>
        </p:nvSpPr>
        <p:spPr>
          <a:xfrm rot="0" flipH="false" flipV="false">
            <a:off x="6870700" y="2641600"/>
            <a:ext cx="4699000" cy="762000"/>
          </a:xfrm>
          <a:prstGeom prst="roundRect">
            <a:avLst>
              <a:gd name="adj" fmla="val 0"/>
            </a:avLst>
          </a:prstGeom>
          <a:noFill/>
          <a:ln w="25400" cmpd="sng" cap="flat">
            <a:noFill/>
            <a:prstDash val="solid"/>
            <a:round/>
          </a:ln>
        </p:spPr>
        <p:txBody>
          <a:bodyPr anchor="t" rtlCol="false" anchorCtr="false" vert="horz" wrap="square" lIns="0" rIns="0" tIns="0" bIns="0"/>
          <a:lstStyle/>
          <a:p>
            <a:pPr algn="ctr" indent="0">
              <a:lnSpc>
                <a:spcPct val="100000"/>
              </a:lnSpc>
              <a:defRPr/>
            </a:pPr>
            <a:r>
              <a:rPr lang="en-US" b="true" i="false" strike="noStrike" u="none" sz="1500">
                <a:solidFill>
                  <a:srgbClr val="1F2329"/>
                </a:solidFill>
                <a:latin typeface="Poppins"/>
                <a:ea typeface="Poppins"/>
                <a:cs typeface="Poppins"/>
                <a:sym typeface="Poppins"/>
              </a:rPr>
              <a:t>PIN10 (Parcel Identification Number)</a:t>
            </a:r>
            <a:r>
              <a:rPr lang="en-US" b="false" i="false" strike="noStrike" u="none" sz="1600">
                <a:solidFill>
                  <a:srgbClr val="1F2329"/>
                </a:solidFill>
                <a:latin typeface="Poppins"/>
                <a:ea typeface="Poppins"/>
                <a:cs typeface="Poppins"/>
                <a:sym typeface="Poppins"/>
              </a:rPr>
              <a:t/>
            </a:r>
            <a:endParaRPr lang="en-US" sz="1100"/>
          </a:p>
          <a:p>
            <a:pPr algn="ctr" indent="0">
              <a:lnSpc>
                <a:spcPct val="100000"/>
              </a:lnSpc>
            </a:pPr>
            <a:r>
              <a:rPr lang="en-US" b="false" i="false" strike="noStrike" u="none" sz="1200">
                <a:solidFill>
                  <a:srgbClr val="696969"/>
                </a:solidFill>
                <a:latin typeface="Poppins"/>
                <a:ea typeface="Poppins"/>
                <a:cs typeface="Poppins"/>
                <a:sym typeface="Poppins"/>
              </a:rPr>
              <a:t>A normalized unique key for matching parcels across different datasets.</a:t>
            </a:r>
          </a:p>
        </p:txBody>
      </p:sp>
      <p:pic>
        <p:nvPicPr>
          <p:cNvPr name="Picture 17" id="17"/>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6464300" y="3683000"/>
            <a:ext cx="279400" cy="279400"/>
          </a:xfrm>
          <a:prstGeom prst="rect">
            <a:avLst/>
          </a:prstGeom>
        </p:spPr>
      </p:pic>
      <p:sp>
        <p:nvSpPr>
          <p:cNvPr name="AutoShape 18" id="18"/>
          <p:cNvSpPr/>
          <p:nvPr/>
        </p:nvSpPr>
        <p:spPr>
          <a:xfrm rot="0" flipH="false" flipV="false">
            <a:off x="6870700" y="3657600"/>
            <a:ext cx="4699000" cy="762000"/>
          </a:xfrm>
          <a:prstGeom prst="roundRect">
            <a:avLst>
              <a:gd name="adj" fmla="val 0"/>
            </a:avLst>
          </a:prstGeom>
          <a:noFill/>
          <a:ln w="25400" cmpd="sng" cap="flat">
            <a:noFill/>
            <a:prstDash val="solid"/>
            <a:round/>
          </a:ln>
        </p:spPr>
        <p:txBody>
          <a:bodyPr anchor="t" rtlCol="false" anchorCtr="false" vert="horz" wrap="square" lIns="0" rIns="0" tIns="0" bIns="0"/>
          <a:lstStyle/>
          <a:p>
            <a:pPr algn="ctr" indent="0">
              <a:lnSpc>
                <a:spcPct val="100000"/>
              </a:lnSpc>
              <a:defRPr/>
            </a:pPr>
            <a:r>
              <a:rPr lang="en-US" b="true" i="false" strike="noStrike" u="none" sz="1500">
                <a:solidFill>
                  <a:srgbClr val="1F2329"/>
                </a:solidFill>
                <a:latin typeface="Poppins"/>
                <a:ea typeface="Poppins"/>
                <a:cs typeface="Poppins"/>
                <a:sym typeface="Poppins"/>
              </a:rPr>
              <a:t>PARCELTYPE (Category Code)</a:t>
            </a:r>
            <a:r>
              <a:rPr lang="en-US" b="false" i="false" strike="noStrike" u="none" sz="1600">
                <a:solidFill>
                  <a:srgbClr val="1F2329"/>
                </a:solidFill>
                <a:latin typeface="Poppins"/>
                <a:ea typeface="Poppins"/>
                <a:cs typeface="Poppins"/>
                <a:sym typeface="Poppins"/>
              </a:rPr>
              <a:t/>
            </a:r>
            <a:endParaRPr lang="en-US" sz="1100"/>
          </a:p>
          <a:p>
            <a:pPr algn="ctr" indent="0">
              <a:lnSpc>
                <a:spcPct val="100000"/>
              </a:lnSpc>
            </a:pPr>
            <a:r>
              <a:rPr lang="en-US" b="false" i="false" strike="noStrike" u="none" sz="1200">
                <a:solidFill>
                  <a:srgbClr val="696969"/>
                </a:solidFill>
                <a:latin typeface="Poppins"/>
                <a:ea typeface="Poppins"/>
                <a:cs typeface="Poppins"/>
                <a:sym typeface="Poppins"/>
              </a:rPr>
              <a:t>Categorizes parcels by land use type (e.g., residential, commercial).</a:t>
            </a:r>
          </a:p>
        </p:txBody>
      </p:sp>
      <p:pic>
        <p:nvPicPr>
          <p:cNvPr name="Picture 19" id="19"/>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6464300" y="4699000"/>
            <a:ext cx="279400" cy="279400"/>
          </a:xfrm>
          <a:prstGeom prst="rect">
            <a:avLst/>
          </a:prstGeom>
        </p:spPr>
      </p:pic>
      <p:sp>
        <p:nvSpPr>
          <p:cNvPr name="AutoShape 20" id="20"/>
          <p:cNvSpPr/>
          <p:nvPr/>
        </p:nvSpPr>
        <p:spPr>
          <a:xfrm rot="0" flipH="false" flipV="false">
            <a:off x="6870700" y="4673600"/>
            <a:ext cx="4699000" cy="762000"/>
          </a:xfrm>
          <a:prstGeom prst="roundRect">
            <a:avLst>
              <a:gd name="adj" fmla="val 0"/>
            </a:avLst>
          </a:prstGeom>
          <a:noFill/>
          <a:ln w="25400" cmpd="sng" cap="flat">
            <a:noFill/>
            <a:prstDash val="solid"/>
            <a:round/>
          </a:ln>
        </p:spPr>
        <p:txBody>
          <a:bodyPr anchor="t" rtlCol="false" anchorCtr="false" vert="horz" wrap="square" lIns="0" rIns="0" tIns="0" bIns="0"/>
          <a:lstStyle/>
          <a:p>
            <a:pPr algn="ctr" indent="0">
              <a:lnSpc>
                <a:spcPct val="100000"/>
              </a:lnSpc>
              <a:defRPr/>
            </a:pPr>
            <a:r>
              <a:rPr lang="en-US" b="true" i="false" strike="noStrike" u="none" sz="1500">
                <a:solidFill>
                  <a:srgbClr val="1F2329"/>
                </a:solidFill>
                <a:latin typeface="Poppins"/>
                <a:ea typeface="Poppins"/>
                <a:cs typeface="Poppins"/>
                <a:sym typeface="Poppins"/>
              </a:rPr>
              <a:t>SHAPE_STAr &amp; SHAPE_STLe</a:t>
            </a:r>
            <a:r>
              <a:rPr lang="en-US" b="false" i="false" strike="noStrike" u="none" sz="1600">
                <a:solidFill>
                  <a:srgbClr val="1F2329"/>
                </a:solidFill>
                <a:latin typeface="Poppins"/>
                <a:ea typeface="Poppins"/>
                <a:cs typeface="Poppins"/>
                <a:sym typeface="Poppins"/>
              </a:rPr>
              <a:t/>
            </a:r>
            <a:endParaRPr lang="en-US" sz="1100"/>
          </a:p>
          <a:p>
            <a:pPr algn="ctr" indent="0">
              <a:lnSpc>
                <a:spcPct val="100000"/>
              </a:lnSpc>
            </a:pPr>
            <a:r>
              <a:rPr lang="en-US" b="false" i="false" strike="noStrike" u="none" sz="1200">
                <a:solidFill>
                  <a:srgbClr val="696969"/>
                </a:solidFill>
                <a:latin typeface="Poppins"/>
                <a:ea typeface="Poppins"/>
                <a:cs typeface="Poppins"/>
                <a:sym typeface="Poppins"/>
              </a:rPr>
              <a:t>Calculated geometric attributes: Total Area (STAr) and Perimeter (STLe).</a:t>
            </a:r>
          </a:p>
        </p:txBody>
      </p:sp>
      <p:pic>
        <p:nvPicPr>
          <p:cNvPr name="Picture 21" id="21"/>
          <p:cNvPicPr>
            <a:picLocks noChangeAspect="true"/>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0" flipH="false" flipV="false">
            <a:off x="6464300" y="5588000"/>
            <a:ext cx="279400" cy="279400"/>
          </a:xfrm>
          <a:prstGeom prst="rect">
            <a:avLst/>
          </a:prstGeom>
        </p:spPr>
      </p:pic>
      <p:sp>
        <p:nvSpPr>
          <p:cNvPr name="AutoShape 22" id="22"/>
          <p:cNvSpPr/>
          <p:nvPr/>
        </p:nvSpPr>
        <p:spPr>
          <a:xfrm rot="0" flipH="false" flipV="false">
            <a:off x="6870700" y="5562600"/>
            <a:ext cx="4699000" cy="762000"/>
          </a:xfrm>
          <a:prstGeom prst="roundRect">
            <a:avLst>
              <a:gd name="adj" fmla="val 0"/>
            </a:avLst>
          </a:prstGeom>
          <a:noFill/>
          <a:ln w="25400" cmpd="sng" cap="flat">
            <a:noFill/>
            <a:prstDash val="solid"/>
            <a:round/>
          </a:ln>
        </p:spPr>
        <p:txBody>
          <a:bodyPr anchor="t" rtlCol="false" anchorCtr="false" vert="horz" wrap="square" lIns="0" rIns="0" tIns="0" bIns="0"/>
          <a:lstStyle/>
          <a:p>
            <a:pPr algn="ctr" indent="0">
              <a:lnSpc>
                <a:spcPct val="100000"/>
              </a:lnSpc>
              <a:defRPr/>
            </a:pPr>
            <a:r>
              <a:rPr lang="en-US" b="true" i="false" strike="noStrike" u="none" sz="1500">
                <a:solidFill>
                  <a:srgbClr val="1F2329"/>
                </a:solidFill>
                <a:latin typeface="Poppins"/>
                <a:ea typeface="Poppins"/>
                <a:cs typeface="Poppins"/>
                <a:sym typeface="Poppins"/>
              </a:rPr>
              <a:t>geometry (Spatial Data)</a:t>
            </a:r>
            <a:r>
              <a:rPr lang="en-US" b="false" i="false" strike="noStrike" u="none" sz="1600">
                <a:solidFill>
                  <a:srgbClr val="1F2329"/>
                </a:solidFill>
                <a:latin typeface="Poppins"/>
                <a:ea typeface="Poppins"/>
                <a:cs typeface="Poppins"/>
                <a:sym typeface="Poppins"/>
              </a:rPr>
              <a:t/>
            </a:r>
            <a:endParaRPr lang="en-US" sz="1100"/>
          </a:p>
          <a:p>
            <a:pPr algn="ctr" indent="0">
              <a:lnSpc>
                <a:spcPct val="100000"/>
              </a:lnSpc>
            </a:pPr>
            <a:r>
              <a:rPr lang="en-US" b="false" i="false" strike="noStrike" u="none" sz="1200">
                <a:solidFill>
                  <a:srgbClr val="696969"/>
                </a:solidFill>
                <a:latin typeface="Poppins"/>
                <a:ea typeface="Poppins"/>
                <a:cs typeface="Poppins"/>
                <a:sym typeface="Poppins"/>
              </a:rPr>
              <a:t>Contains the polygon geometry required for spatial joins and visualizations.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520700" y="279400"/>
            <a:ext cx="508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696969"/>
                </a:solidFill>
                <a:latin typeface="Poppins"/>
                <a:ea typeface="Poppins"/>
                <a:cs typeface="Poppins"/>
                <a:sym typeface="Poppins"/>
              </a:rPr>
              <a:t>Part 2. Data Import and Source Overview</a:t>
            </a:r>
            <a:endParaRPr lang="en-US" sz="1100"/>
          </a:p>
        </p:txBody>
      </p:sp>
      <p:sp>
        <p:nvSpPr>
          <p:cNvPr name="AutoShape 3" id="3"/>
          <p:cNvSpPr/>
          <p:nvPr/>
        </p:nvSpPr>
        <p:spPr>
          <a:xfrm rot="0" flipH="false" flipV="false">
            <a:off x="762000" y="8763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2F4F4F"/>
                </a:solidFill>
                <a:latin typeface="Poppins"/>
                <a:ea typeface="Poppins"/>
                <a:cs typeface="Poppins"/>
                <a:sym typeface="Poppins"/>
              </a:rPr>
              <a:t>2-3. Why We Need PIN-Class Mapping</a:t>
            </a:r>
            <a:endParaRPr lang="en-US" sz="1100"/>
          </a:p>
        </p:txBody>
      </p:sp>
      <p:cxnSp>
        <p:nvCxnSpPr>
          <p:cNvPr name="Connector 4" id="4"/>
          <p:cNvCxnSpPr/>
          <p:nvPr/>
        </p:nvCxnSpPr>
        <p:spPr>
          <a:xfrm rot="-4092" flipH="false" flipV="false">
            <a:off x="762004" y="1771650"/>
            <a:ext cx="10668000" cy="12700"/>
          </a:xfrm>
          <a:prstGeom prst="straightConnector1">
            <a:avLst/>
          </a:prstGeom>
          <a:solidFill>
            <a:srgbClr val="DEE0E3">
              <a:alpha val="100000"/>
            </a:srgbClr>
          </a:solidFill>
          <a:ln w="12700" cmpd="sng" cap="flat">
            <a:solidFill>
              <a:srgbClr val="2F4F4F">
                <a:alpha val="30000"/>
              </a:srgbClr>
            </a:solidFill>
            <a:prstDash val="solid"/>
            <a:round/>
            <a:headEnd type="none" w="med" len="med"/>
            <a:tailEnd type="none" w="med" len="med"/>
          </a:ln>
        </p:spPr>
      </p:cxnSp>
      <p:sp>
        <p:nvSpPr>
          <p:cNvPr name="AutoShape 5" id="5"/>
          <p:cNvSpPr/>
          <p:nvPr/>
        </p:nvSpPr>
        <p:spPr>
          <a:xfrm rot="0" flipH="false" flipV="false">
            <a:off x="762000" y="2032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400">
                <a:solidFill>
                  <a:srgbClr val="2F4F4F"/>
                </a:solidFill>
                <a:latin typeface="Poppins"/>
                <a:ea typeface="Poppins"/>
                <a:cs typeface="Poppins"/>
                <a:sym typeface="Poppins"/>
              </a:rPr>
              <a:t>Core Logic</a:t>
            </a:r>
            <a:endParaRPr lang="en-US" sz="1100"/>
          </a:p>
        </p:txBody>
      </p:sp>
      <p:sp>
        <p:nvSpPr>
          <p:cNvPr name="AutoShape 6" id="6"/>
          <p:cNvSpPr/>
          <p:nvPr/>
        </p:nvSpPr>
        <p:spPr>
          <a:xfrm rot="0" flipH="false" flipV="false">
            <a:off x="762000" y="2794000"/>
            <a:ext cx="5207000" cy="1206500"/>
          </a:xfrm>
          <a:prstGeom prst="roundRect">
            <a:avLst>
              <a:gd name="adj" fmla="val 0"/>
            </a:avLst>
          </a:prstGeom>
          <a:solidFill>
            <a:srgbClr val="F2F5F8">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952500" y="3048000"/>
            <a:ext cx="508000" cy="508000"/>
          </a:xfrm>
          <a:prstGeom prst="rect">
            <a:avLst/>
          </a:prstGeom>
        </p:spPr>
      </p:pic>
      <p:sp>
        <p:nvSpPr>
          <p:cNvPr name="AutoShape 8" id="8"/>
          <p:cNvSpPr/>
          <p:nvPr/>
        </p:nvSpPr>
        <p:spPr>
          <a:xfrm rot="0" flipH="false" flipV="false">
            <a:off x="1651000" y="2946400"/>
            <a:ext cx="4064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600">
                <a:solidFill>
                  <a:srgbClr val="1F2329"/>
                </a:solidFill>
                <a:latin typeface="Poppins"/>
                <a:ea typeface="Poppins"/>
                <a:cs typeface="Poppins"/>
                <a:sym typeface="Poppins"/>
              </a:rPr>
              <a:t>1. Map PIN to Class</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300">
                <a:solidFill>
                  <a:srgbClr val="50555F"/>
                </a:solidFill>
                <a:latin typeface="Poppins"/>
                <a:ea typeface="Poppins"/>
                <a:cs typeface="Poppins"/>
                <a:sym typeface="Poppins"/>
              </a:rPr>
              <a:t>Use the assessed values table to establish the relationship between PIN and property class.</a:t>
            </a:r>
            <a:endParaRPr lang="en-US" sz="1100"/>
          </a:p>
        </p:txBody>
      </p:sp>
      <p:sp>
        <p:nvSpPr>
          <p:cNvPr name="AutoShape 9" id="9"/>
          <p:cNvSpPr/>
          <p:nvPr/>
        </p:nvSpPr>
        <p:spPr>
          <a:xfrm rot="0" flipH="false" flipV="false">
            <a:off x="762000" y="4191000"/>
            <a:ext cx="5207000" cy="1206500"/>
          </a:xfrm>
          <a:prstGeom prst="roundRect">
            <a:avLst>
              <a:gd name="adj" fmla="val 0"/>
            </a:avLst>
          </a:prstGeom>
          <a:solidFill>
            <a:srgbClr val="F2F5F8">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952500" y="4445000"/>
            <a:ext cx="508000" cy="508000"/>
          </a:xfrm>
          <a:prstGeom prst="rect">
            <a:avLst/>
          </a:prstGeom>
        </p:spPr>
      </p:pic>
      <p:sp>
        <p:nvSpPr>
          <p:cNvPr name="AutoShape 11" id="11"/>
          <p:cNvSpPr/>
          <p:nvPr/>
        </p:nvSpPr>
        <p:spPr>
          <a:xfrm rot="0" flipH="false" flipV="false">
            <a:off x="1651000" y="4343400"/>
            <a:ext cx="4064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600">
                <a:solidFill>
                  <a:srgbClr val="1F2329"/>
                </a:solidFill>
                <a:latin typeface="Poppins"/>
                <a:ea typeface="Poppins"/>
                <a:cs typeface="Poppins"/>
                <a:sym typeface="Poppins"/>
              </a:rPr>
              <a:t>2. Select Commercial Codes</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300">
                <a:solidFill>
                  <a:srgbClr val="50555F"/>
                </a:solidFill>
                <a:latin typeface="Poppins"/>
                <a:ea typeface="Poppins"/>
                <a:cs typeface="Poppins"/>
                <a:sym typeface="Poppins"/>
              </a:rPr>
              <a:t>Filter and isolate only the commercial property class codes relevant to our analysis.</a:t>
            </a:r>
            <a:endParaRPr lang="en-US" sz="1100"/>
          </a:p>
        </p:txBody>
      </p:sp>
      <p:sp>
        <p:nvSpPr>
          <p:cNvPr name="AutoShape 12" id="12"/>
          <p:cNvSpPr/>
          <p:nvPr/>
        </p:nvSpPr>
        <p:spPr>
          <a:xfrm rot="0" flipH="false" flipV="false">
            <a:off x="762000" y="5461000"/>
            <a:ext cx="5207000" cy="1206500"/>
          </a:xfrm>
          <a:prstGeom prst="roundRect">
            <a:avLst>
              <a:gd name="adj" fmla="val 0"/>
            </a:avLst>
          </a:prstGeom>
          <a:solidFill>
            <a:srgbClr val="F2F5F8">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952500" y="5715000"/>
            <a:ext cx="508000" cy="508000"/>
          </a:xfrm>
          <a:prstGeom prst="rect">
            <a:avLst/>
          </a:prstGeom>
        </p:spPr>
      </p:pic>
      <p:sp>
        <p:nvSpPr>
          <p:cNvPr name="AutoShape 14" id="14"/>
          <p:cNvSpPr/>
          <p:nvPr/>
        </p:nvSpPr>
        <p:spPr>
          <a:xfrm rot="0" flipH="false" flipV="false">
            <a:off x="1651000" y="5613400"/>
            <a:ext cx="4064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600">
                <a:solidFill>
                  <a:srgbClr val="1F2329"/>
                </a:solidFill>
                <a:latin typeface="Poppins"/>
                <a:ea typeface="Poppins"/>
                <a:cs typeface="Poppins"/>
                <a:sym typeface="Poppins"/>
              </a:rPr>
              <a:t>3. Format Conversion</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300">
                <a:solidFill>
                  <a:srgbClr val="50555F"/>
                </a:solidFill>
                <a:latin typeface="Poppins"/>
                <a:ea typeface="Poppins"/>
                <a:cs typeface="Poppins"/>
                <a:sym typeface="Poppins"/>
              </a:rPr>
              <a:t>Convert the assessor PIN format into a key that is compatible with the parcel dataset.</a:t>
            </a:r>
            <a:endParaRPr lang="en-US" sz="1100"/>
          </a:p>
        </p:txBody>
      </p:sp>
      <p:sp>
        <p:nvSpPr>
          <p:cNvPr name="AutoShape 15" id="15"/>
          <p:cNvSpPr/>
          <p:nvPr/>
        </p:nvSpPr>
        <p:spPr>
          <a:xfrm rot="0" flipH="false" flipV="false">
            <a:off x="6223000" y="2794000"/>
            <a:ext cx="5207000" cy="1206500"/>
          </a:xfrm>
          <a:prstGeom prst="roundRect">
            <a:avLst>
              <a:gd name="adj" fmla="val 0"/>
            </a:avLst>
          </a:prstGeom>
          <a:solidFill>
            <a:srgbClr val="F2F5F8">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413500" y="3048000"/>
            <a:ext cx="508000" cy="508000"/>
          </a:xfrm>
          <a:prstGeom prst="rect">
            <a:avLst/>
          </a:prstGeom>
        </p:spPr>
      </p:pic>
      <p:sp>
        <p:nvSpPr>
          <p:cNvPr name="AutoShape 17" id="17"/>
          <p:cNvSpPr/>
          <p:nvPr/>
        </p:nvSpPr>
        <p:spPr>
          <a:xfrm rot="0" flipH="false" flipV="false">
            <a:off x="7112000" y="2946400"/>
            <a:ext cx="4064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600">
                <a:solidFill>
                  <a:srgbClr val="1F2329"/>
                </a:solidFill>
                <a:latin typeface="Poppins"/>
                <a:ea typeface="Poppins"/>
                <a:cs typeface="Poppins"/>
                <a:sym typeface="Poppins"/>
              </a:rPr>
              <a:t>4. Join PINs to Parcel Polygons</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300">
                <a:solidFill>
                  <a:srgbClr val="50555F"/>
                </a:solidFill>
                <a:latin typeface="Poppins"/>
                <a:ea typeface="Poppins"/>
                <a:cs typeface="Poppins"/>
                <a:sym typeface="Poppins"/>
              </a:rPr>
              <a:t>Link the filtered PINs to their corresponding spatial parcel polygons for geographic context.</a:t>
            </a:r>
            <a:endParaRPr lang="en-US" sz="1100"/>
          </a:p>
        </p:txBody>
      </p:sp>
      <p:sp>
        <p:nvSpPr>
          <p:cNvPr name="AutoShape 18" id="18"/>
          <p:cNvSpPr/>
          <p:nvPr/>
        </p:nvSpPr>
        <p:spPr>
          <a:xfrm rot="0" flipH="false" flipV="false">
            <a:off x="6223000" y="4191000"/>
            <a:ext cx="5207000" cy="2476500"/>
          </a:xfrm>
          <a:prstGeom prst="roundRect">
            <a:avLst>
              <a:gd name="adj" fmla="val 0"/>
            </a:avLst>
          </a:prstGeom>
          <a:solidFill>
            <a:srgbClr val="F2F5F8">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6413500" y="4572000"/>
            <a:ext cx="508000" cy="508000"/>
          </a:xfrm>
          <a:prstGeom prst="rect">
            <a:avLst/>
          </a:prstGeom>
        </p:spPr>
      </p:pic>
      <p:sp>
        <p:nvSpPr>
          <p:cNvPr name="AutoShape 20" id="20"/>
          <p:cNvSpPr/>
          <p:nvPr/>
        </p:nvSpPr>
        <p:spPr>
          <a:xfrm rot="0" flipH="false" flipV="false">
            <a:off x="7112000" y="4445000"/>
            <a:ext cx="4064000" cy="1778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true" i="false" strike="noStrike" u="none" sz="1600">
                <a:solidFill>
                  <a:srgbClr val="1F2329"/>
                </a:solidFill>
                <a:latin typeface="Poppins"/>
                <a:ea typeface="Poppins"/>
                <a:cs typeface="Poppins"/>
                <a:sym typeface="Poppins"/>
              </a:rPr>
              <a:t>5. Execute Spatial Join</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300">
                <a:solidFill>
                  <a:srgbClr val="50555F"/>
                </a:solidFill>
                <a:latin typeface="Poppins"/>
                <a:ea typeface="Poppins"/>
                <a:cs typeface="Poppins"/>
                <a:sym typeface="Poppins"/>
              </a:rPr>
              <a:t>Perform a spatial join operation to associate business license points with the identified commercial parcels.</a:t>
            </a:r>
            <a:endParaRPr lang="en-US" sz="1100"/>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058400" y="4673600"/>
            <a:ext cx="3759200" cy="3759200"/>
          </a:xfrm>
          <a:prstGeom prst="ellipse">
            <a:avLst/>
          </a:prstGeom>
          <a:solidFill>
            <a:srgbClr val="FFC844">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 id="3"/>
          <p:cNvPicPr>
            <a:picLocks noChangeAspect="true"/>
          </p:cNvPicPr>
          <p:nvPr/>
        </p:nvPicPr>
        <p:blipFill>
          <a:blip r:embed="rId2"/>
          <a:srcRect l="0" r="0" t="469" b="469"/>
          <a:stretch>
            <a:fillRect/>
          </a:stretch>
        </p:blipFill>
        <p:spPr>
          <a:xfrm rot="0" flipH="false" flipV="false">
            <a:off x="520700" y="279400"/>
            <a:ext cx="2552700" cy="355600"/>
          </a:xfrm>
          <a:prstGeom prst="rect">
            <a:avLst/>
          </a:prstGeom>
          <a:noFill/>
          <a:ln w="25400" cmpd="sng" cap="flat">
            <a:noFill/>
            <a:prstDash val="solid"/>
            <a:round/>
          </a:ln>
        </p:spPr>
      </p:pic>
      <p:sp>
        <p:nvSpPr>
          <p:cNvPr name="AutoShape 4" id="4"/>
          <p:cNvSpPr/>
          <p:nvPr/>
        </p:nvSpPr>
        <p:spPr>
          <a:xfrm rot="0" flipH="false" flipV="false">
            <a:off x="762000" y="876300"/>
            <a:ext cx="10668000" cy="5588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2F4F4F"/>
                </a:solidFill>
                <a:latin typeface="Poppins"/>
                <a:ea typeface="Poppins"/>
                <a:cs typeface="Poppins"/>
                <a:sym typeface="Poppins"/>
              </a:rPr>
              <a:t>2-3. PIN Format Alignment</a:t>
            </a:r>
            <a:endParaRPr lang="en-US" sz="1100"/>
          </a:p>
        </p:txBody>
      </p:sp>
      <p:cxnSp>
        <p:nvCxnSpPr>
          <p:cNvPr name="Connector 5" id="5"/>
          <p:cNvCxnSpPr/>
          <p:nvPr/>
        </p:nvCxnSpPr>
        <p:spPr>
          <a:xfrm rot="-4092" flipH="false" flipV="false">
            <a:off x="762004" y="1581150"/>
            <a:ext cx="10668000" cy="12700"/>
          </a:xfrm>
          <a:prstGeom prst="straightConnector1">
            <a:avLst/>
          </a:prstGeom>
          <a:solidFill>
            <a:srgbClr val="DEE0E3">
              <a:alpha val="100000"/>
            </a:srgbClr>
          </a:solidFill>
          <a:ln w="12700" cmpd="sng" cap="flat">
            <a:solidFill>
              <a:srgbClr val="2F4F4F">
                <a:alpha val="30000"/>
              </a:srgbClr>
            </a:solidFill>
            <a:prstDash val="solid"/>
            <a:round/>
            <a:headEnd type="none" w="med" len="med"/>
            <a:tailEnd type="none" w="med" len="med"/>
          </a:ln>
        </p:spPr>
      </p:cxnSp>
      <p:sp>
        <p:nvSpPr>
          <p:cNvPr name="AutoShape 6" id="6"/>
          <p:cNvSpPr/>
          <p:nvPr/>
        </p:nvSpPr>
        <p:spPr>
          <a:xfrm rot="0" flipH="false" flipV="false">
            <a:off x="762000" y="1892300"/>
            <a:ext cx="5080000" cy="381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2F4F4F"/>
                </a:solidFill>
                <a:latin typeface="Poppins"/>
                <a:ea typeface="Poppins"/>
                <a:cs typeface="Poppins"/>
                <a:sym typeface="Poppins"/>
              </a:rPr>
              <a:t>Source Format Difference</a:t>
            </a:r>
            <a:endParaRPr lang="en-US" sz="1100"/>
          </a:p>
        </p:txBody>
      </p:sp>
      <p:pic>
        <p:nvPicPr>
          <p:cNvPr name="Picture 7" id="7"/>
          <p:cNvPicPr>
            <a:picLocks noChangeAspect="true"/>
          </p:cNvPicPr>
          <p:nvPr/>
        </p:nvPicPr>
        <p:blipFill>
          <a:blip r:embed="rId3"/>
          <a:srcRect l="0" r="0" t="0" b="0"/>
          <a:stretch>
            <a:fillRect/>
          </a:stretch>
        </p:blipFill>
        <p:spPr>
          <a:xfrm rot="0" flipH="false" flipV="false">
            <a:off x="762000" y="2527300"/>
            <a:ext cx="304800" cy="304800"/>
          </a:xfrm>
          <a:prstGeom prst="rect">
            <a:avLst/>
          </a:prstGeom>
          <a:noFill/>
          <a:ln w="25400" cmpd="sng" cap="flat">
            <a:noFill/>
            <a:prstDash val="solid"/>
            <a:round/>
          </a:ln>
        </p:spPr>
      </p:pic>
      <p:sp>
        <p:nvSpPr>
          <p:cNvPr name="AutoShape 8" id="8"/>
          <p:cNvSpPr/>
          <p:nvPr/>
        </p:nvSpPr>
        <p:spPr>
          <a:xfrm rot="0" flipH="false" flipV="false">
            <a:off x="1270000" y="2527300"/>
            <a:ext cx="4572000" cy="762000"/>
          </a:xfrm>
          <a:prstGeom prst="roundRect">
            <a:avLst>
              <a:gd name="adj" fmla="val 0"/>
            </a:avLst>
          </a:prstGeom>
          <a:noFill/>
          <a:ln w="25400" cmpd="sng" cap="flat">
            <a:noFill/>
            <a:prstDash val="solid"/>
            <a:round/>
          </a:ln>
        </p:spPr>
        <p:txBody>
          <a:bodyPr anchor="t" rtlCol="false" anchorCtr="false" vert="horz" wrap="square" lIns="0" rIns="0" tIns="0" bIns="0"/>
          <a:lstStyle/>
          <a:p>
            <a:pPr algn="l" indent="0">
              <a:lnSpc>
                <a:spcPct val="108333"/>
              </a:lnSpc>
              <a:defRPr/>
            </a:pPr>
            <a:r>
              <a:rPr lang="en-US" b="true" i="false" strike="noStrike" u="none" sz="1600">
                <a:solidFill>
                  <a:srgbClr val="2F4F4F"/>
                </a:solidFill>
                <a:latin typeface="Poppins"/>
                <a:ea typeface="Poppins"/>
                <a:cs typeface="Poppins"/>
                <a:sym typeface="Poppins"/>
              </a:rPr>
              <a:t>Assessor Keypin</a:t>
            </a:r>
            <a:r>
              <a:rPr lang="en-US" b="false" i="false" strike="noStrike" u="none" sz="1400">
                <a:solidFill>
                  <a:srgbClr val="1F2329"/>
                </a:solidFill>
                <a:latin typeface="Poppins"/>
                <a:ea typeface="Poppins"/>
                <a:cs typeface="Poppins"/>
                <a:sym typeface="Poppins"/>
              </a:rPr>
              <a:t/>
            </a:r>
            <a:br>
              <a:rPr lang="en-US" b="false" i="false" strike="noStrike" u="none" sz="1400">
                <a:solidFill>
                  <a:srgbClr val="1F2329"/>
                </a:solidFill>
                <a:latin typeface="Poppins"/>
                <a:ea typeface="Poppins"/>
                <a:cs typeface="Poppins"/>
                <a:sym typeface="Poppins"/>
              </a:rPr>
            </a:br>
            <a:r>
              <a:rPr lang="en-US" b="false" i="false" strike="noStrike" u="none" sz="1400">
                <a:solidFill>
                  <a:srgbClr val="696969"/>
                </a:solidFill>
                <a:latin typeface="Poppins"/>
                <a:ea typeface="Poppins"/>
                <a:cs typeface="Poppins"/>
                <a:sym typeface="Poppins"/>
              </a:rPr>
              <a:t>Example: 01-02-202-045-0000 (with separators)</a:t>
            </a:r>
            <a:endParaRPr lang="en-US" sz="1100"/>
          </a:p>
        </p:txBody>
      </p:sp>
      <p:pic>
        <p:nvPicPr>
          <p:cNvPr name="Picture 9" id="9"/>
          <p:cNvPicPr>
            <a:picLocks noChangeAspect="true"/>
          </p:cNvPicPr>
          <p:nvPr/>
        </p:nvPicPr>
        <p:blipFill>
          <a:blip r:embed="rId4"/>
          <a:srcRect l="0" r="0" t="0" b="0"/>
          <a:stretch>
            <a:fillRect/>
          </a:stretch>
        </p:blipFill>
        <p:spPr>
          <a:xfrm rot="0" flipH="false" flipV="false">
            <a:off x="762000" y="3556000"/>
            <a:ext cx="304800" cy="304800"/>
          </a:xfrm>
          <a:prstGeom prst="rect">
            <a:avLst/>
          </a:prstGeom>
          <a:noFill/>
          <a:ln w="25400" cmpd="sng" cap="flat">
            <a:noFill/>
            <a:prstDash val="solid"/>
            <a:round/>
          </a:ln>
        </p:spPr>
      </p:pic>
      <p:sp>
        <p:nvSpPr>
          <p:cNvPr name="AutoShape 10" id="10"/>
          <p:cNvSpPr/>
          <p:nvPr/>
        </p:nvSpPr>
        <p:spPr>
          <a:xfrm rot="0" flipH="false" flipV="false">
            <a:off x="1270000" y="3556000"/>
            <a:ext cx="4572000" cy="762000"/>
          </a:xfrm>
          <a:prstGeom prst="roundRect">
            <a:avLst>
              <a:gd name="adj" fmla="val 0"/>
            </a:avLst>
          </a:prstGeom>
          <a:noFill/>
          <a:ln w="25400" cmpd="sng" cap="flat">
            <a:noFill/>
            <a:prstDash val="solid"/>
            <a:round/>
          </a:ln>
        </p:spPr>
        <p:txBody>
          <a:bodyPr anchor="t" rtlCol="false" anchorCtr="false" vert="horz" wrap="square" lIns="0" rIns="0" tIns="0" bIns="0"/>
          <a:lstStyle/>
          <a:p>
            <a:pPr algn="l" indent="0">
              <a:lnSpc>
                <a:spcPct val="108333"/>
              </a:lnSpc>
              <a:defRPr/>
            </a:pPr>
            <a:r>
              <a:rPr lang="en-US" b="true" i="false" strike="noStrike" u="none" sz="1600">
                <a:solidFill>
                  <a:srgbClr val="2F4F4F"/>
                </a:solidFill>
                <a:latin typeface="Poppins"/>
                <a:ea typeface="Poppins"/>
                <a:cs typeface="Poppins"/>
                <a:sym typeface="Poppins"/>
              </a:rPr>
              <a:t>Parcel PIN10</a:t>
            </a:r>
            <a:r>
              <a:rPr lang="en-US" b="false" i="false" strike="noStrike" u="none" sz="1400">
                <a:solidFill>
                  <a:srgbClr val="1F2329"/>
                </a:solidFill>
                <a:latin typeface="Poppins"/>
                <a:ea typeface="Poppins"/>
                <a:cs typeface="Poppins"/>
                <a:sym typeface="Poppins"/>
              </a:rPr>
              <a:t/>
            </a:r>
            <a:br>
              <a:rPr lang="en-US" b="false" i="false" strike="noStrike" u="none" sz="1400">
                <a:solidFill>
                  <a:srgbClr val="1F2329"/>
                </a:solidFill>
                <a:latin typeface="Poppins"/>
                <a:ea typeface="Poppins"/>
                <a:cs typeface="Poppins"/>
                <a:sym typeface="Poppins"/>
              </a:rPr>
            </a:br>
            <a:r>
              <a:rPr lang="en-US" b="false" i="false" strike="noStrike" u="none" sz="1400">
                <a:solidFill>
                  <a:srgbClr val="696969"/>
                </a:solidFill>
                <a:latin typeface="Poppins"/>
                <a:ea typeface="Poppins"/>
                <a:cs typeface="Poppins"/>
                <a:sym typeface="Poppins"/>
              </a:rPr>
              <a:t>Example: 0102202045 (10-digit numeric)</a:t>
            </a:r>
            <a:endParaRPr lang="en-US" sz="1100"/>
          </a:p>
        </p:txBody>
      </p:sp>
      <p:pic>
        <p:nvPicPr>
          <p:cNvPr name="Picture 11" id="11"/>
          <p:cNvPicPr>
            <a:picLocks noChangeAspect="true"/>
          </p:cNvPicPr>
          <p:nvPr/>
        </p:nvPicPr>
        <p:blipFill>
          <a:blip r:embed="rId5"/>
          <a:srcRect l="0" r="0" t="0" b="0"/>
          <a:stretch>
            <a:fillRect/>
          </a:stretch>
        </p:blipFill>
        <p:spPr>
          <a:xfrm rot="0" flipH="false" flipV="false">
            <a:off x="762000" y="4699000"/>
            <a:ext cx="304800" cy="304800"/>
          </a:xfrm>
          <a:prstGeom prst="rect">
            <a:avLst/>
          </a:prstGeom>
          <a:noFill/>
          <a:ln w="25400" cmpd="sng" cap="flat">
            <a:noFill/>
            <a:prstDash val="solid"/>
            <a:round/>
          </a:ln>
        </p:spPr>
      </p:pic>
      <p:sp>
        <p:nvSpPr>
          <p:cNvPr name="AutoShape 12" id="12"/>
          <p:cNvSpPr/>
          <p:nvPr/>
        </p:nvSpPr>
        <p:spPr>
          <a:xfrm rot="0" flipH="false" flipV="false">
            <a:off x="1270000" y="4699000"/>
            <a:ext cx="4572000" cy="762000"/>
          </a:xfrm>
          <a:prstGeom prst="roundRect">
            <a:avLst>
              <a:gd name="adj" fmla="val 0"/>
            </a:avLst>
          </a:prstGeom>
          <a:noFill/>
          <a:ln w="25400" cmpd="sng" cap="flat">
            <a:noFill/>
            <a:prstDash val="solid"/>
            <a:round/>
          </a:ln>
        </p:spPr>
        <p:txBody>
          <a:bodyPr anchor="t" rtlCol="false" anchorCtr="false" vert="horz" wrap="square" lIns="0" rIns="0" tIns="0" bIns="0"/>
          <a:lstStyle/>
          <a:p>
            <a:pPr algn="l" indent="0">
              <a:lnSpc>
                <a:spcPct val="108333"/>
              </a:lnSpc>
              <a:defRPr/>
            </a:pPr>
            <a:r>
              <a:rPr lang="en-US" b="true" i="false" strike="noStrike" u="none" sz="1600">
                <a:solidFill>
                  <a:srgbClr val="2F4F4F"/>
                </a:solidFill>
                <a:latin typeface="Poppins"/>
                <a:ea typeface="Poppins"/>
                <a:cs typeface="Poppins"/>
                <a:sym typeface="Poppins"/>
              </a:rPr>
              <a:t>Key Challenge</a:t>
            </a:r>
            <a:r>
              <a:rPr lang="en-US" b="false" i="false" strike="noStrike" u="none" sz="1400">
                <a:solidFill>
                  <a:srgbClr val="1F2329"/>
                </a:solidFill>
                <a:latin typeface="Poppins"/>
                <a:ea typeface="Poppins"/>
                <a:cs typeface="Poppins"/>
                <a:sym typeface="Poppins"/>
              </a:rPr>
              <a:t/>
            </a:r>
            <a:br>
              <a:rPr lang="en-US" b="false" i="false" strike="noStrike" u="none" sz="1400">
                <a:solidFill>
                  <a:srgbClr val="1F2329"/>
                </a:solidFill>
                <a:latin typeface="Poppins"/>
                <a:ea typeface="Poppins"/>
                <a:cs typeface="Poppins"/>
                <a:sym typeface="Poppins"/>
              </a:rPr>
            </a:br>
            <a:r>
              <a:rPr lang="en-US" b="false" i="false" strike="noStrike" u="none" sz="1400">
                <a:solidFill>
                  <a:srgbClr val="696969"/>
                </a:solidFill>
                <a:latin typeface="Poppins"/>
                <a:ea typeface="Poppins"/>
                <a:cs typeface="Poppins"/>
                <a:sym typeface="Poppins"/>
              </a:rPr>
              <a:t>Inconsistent formatting blocks data merging.</a:t>
            </a:r>
            <a:endParaRPr lang="en-US" sz="1100"/>
          </a:p>
        </p:txBody>
      </p:sp>
      <p:cxnSp>
        <p:nvCxnSpPr>
          <p:cNvPr name="Connector 13" id="13"/>
          <p:cNvCxnSpPr/>
          <p:nvPr/>
        </p:nvCxnSpPr>
        <p:spPr>
          <a:xfrm rot="5389257" flipH="false" flipV="false">
            <a:off x="4064000" y="3917960"/>
            <a:ext cx="4064000" cy="12700"/>
          </a:xfrm>
          <a:prstGeom prst="straightConnector1">
            <a:avLst/>
          </a:prstGeom>
          <a:solidFill>
            <a:srgbClr val="DEE0E3">
              <a:alpha val="100000"/>
            </a:srgbClr>
          </a:solidFill>
          <a:ln w="12700" cmpd="sng" cap="flat">
            <a:solidFill>
              <a:srgbClr val="2F4F4F">
                <a:alpha val="20000"/>
              </a:srgbClr>
            </a:solidFill>
            <a:prstDash val="dash"/>
            <a:round/>
            <a:headEnd type="none" w="med" len="med"/>
            <a:tailEnd type="none" w="med" len="med"/>
          </a:ln>
        </p:spPr>
      </p:cxnSp>
      <p:sp>
        <p:nvSpPr>
          <p:cNvPr name="AutoShape 14" id="14"/>
          <p:cNvSpPr/>
          <p:nvPr/>
        </p:nvSpPr>
        <p:spPr>
          <a:xfrm rot="0" flipH="false" flipV="false">
            <a:off x="6604000" y="1892300"/>
            <a:ext cx="5080000" cy="381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2F4F4F"/>
                </a:solidFill>
                <a:latin typeface="Poppins"/>
                <a:ea typeface="Poppins"/>
                <a:cs typeface="Poppins"/>
                <a:sym typeface="Poppins"/>
              </a:rPr>
              <a:t>Standardization Rules</a:t>
            </a:r>
            <a:endParaRPr lang="en-US" sz="1100"/>
          </a:p>
        </p:txBody>
      </p:sp>
      <p:pic>
        <p:nvPicPr>
          <p:cNvPr name="Picture 15" id="15"/>
          <p:cNvPicPr>
            <a:picLocks noChangeAspect="true"/>
          </p:cNvPicPr>
          <p:nvPr/>
        </p:nvPicPr>
        <p:blipFill>
          <a:blip r:embed="rId6"/>
          <a:srcRect l="0" r="0" t="0" b="0"/>
          <a:stretch>
            <a:fillRect/>
          </a:stretch>
        </p:blipFill>
        <p:spPr>
          <a:xfrm rot="0" flipH="false" flipV="false">
            <a:off x="6604000" y="2540000"/>
            <a:ext cx="304800" cy="304800"/>
          </a:xfrm>
          <a:prstGeom prst="rect">
            <a:avLst/>
          </a:prstGeom>
          <a:noFill/>
          <a:ln w="25400" cmpd="sng" cap="flat">
            <a:noFill/>
            <a:prstDash val="solid"/>
            <a:round/>
          </a:ln>
        </p:spPr>
      </p:pic>
      <p:sp>
        <p:nvSpPr>
          <p:cNvPr name="AutoShape 16" id="16"/>
          <p:cNvSpPr/>
          <p:nvPr/>
        </p:nvSpPr>
        <p:spPr>
          <a:xfrm rot="0" flipH="false" flipV="false">
            <a:off x="7112000" y="2540000"/>
            <a:ext cx="4572000" cy="635000"/>
          </a:xfrm>
          <a:prstGeom prst="roundRect">
            <a:avLst>
              <a:gd name="adj" fmla="val 0"/>
            </a:avLst>
          </a:prstGeom>
          <a:noFill/>
          <a:ln w="25400" cmpd="sng" cap="flat">
            <a:noFill/>
            <a:prstDash val="solid"/>
            <a:round/>
          </a:ln>
        </p:spPr>
        <p:txBody>
          <a:bodyPr anchor="t" rtlCol="false" anchorCtr="false" vert="horz" wrap="square" lIns="0" rIns="0" tIns="0" bIns="0"/>
          <a:lstStyle/>
          <a:p>
            <a:pPr algn="l" indent="0">
              <a:lnSpc>
                <a:spcPct val="108333"/>
              </a:lnSpc>
              <a:defRPr/>
            </a:pPr>
            <a:r>
              <a:rPr lang="en-US" b="true" i="false" strike="noStrike" u="none" sz="1500">
                <a:solidFill>
                  <a:srgbClr val="2F4F4F"/>
                </a:solidFill>
                <a:latin typeface="Poppins"/>
                <a:ea typeface="Poppins"/>
                <a:cs typeface="Poppins"/>
                <a:sym typeface="Poppins"/>
              </a:rPr>
              <a:t>1. Cleanse Characters</a:t>
            </a:r>
            <a:r>
              <a:rPr lang="en-US" b="false" i="false" strike="noStrike" u="none" sz="1400">
                <a:solidFill>
                  <a:srgbClr val="1F2329"/>
                </a:solidFill>
                <a:latin typeface="Poppins"/>
                <a:ea typeface="Poppins"/>
                <a:cs typeface="Poppins"/>
                <a:sym typeface="Poppins"/>
              </a:rPr>
              <a:t/>
            </a:r>
            <a:br>
              <a:rPr lang="en-US" b="false" i="false" strike="noStrike" u="none" sz="1400">
                <a:solidFill>
                  <a:srgbClr val="1F2329"/>
                </a:solidFill>
                <a:latin typeface="Poppins"/>
                <a:ea typeface="Poppins"/>
                <a:cs typeface="Poppins"/>
                <a:sym typeface="Poppins"/>
              </a:rPr>
            </a:br>
            <a:r>
              <a:rPr lang="en-US" b="false" i="false" strike="noStrike" u="none" sz="1300">
                <a:solidFill>
                  <a:srgbClr val="696969"/>
                </a:solidFill>
                <a:latin typeface="Poppins"/>
                <a:ea typeface="Poppins"/>
                <a:cs typeface="Poppins"/>
                <a:sym typeface="Poppins"/>
              </a:rPr>
              <a:t>Remove all non-digit characters (hyphens, spaces, etc.).</a:t>
            </a:r>
            <a:endParaRPr lang="en-US" sz="1100"/>
          </a:p>
        </p:txBody>
      </p:sp>
      <p:pic>
        <p:nvPicPr>
          <p:cNvPr name="Picture 17" id="17"/>
          <p:cNvPicPr>
            <a:picLocks noChangeAspect="true"/>
          </p:cNvPicPr>
          <p:nvPr/>
        </p:nvPicPr>
        <p:blipFill>
          <a:blip r:embed="rId7"/>
          <a:srcRect l="0" r="0" t="0" b="0"/>
          <a:stretch>
            <a:fillRect/>
          </a:stretch>
        </p:blipFill>
        <p:spPr>
          <a:xfrm rot="0" flipH="false" flipV="false">
            <a:off x="6604000" y="3556000"/>
            <a:ext cx="304800" cy="304800"/>
          </a:xfrm>
          <a:prstGeom prst="rect">
            <a:avLst/>
          </a:prstGeom>
          <a:noFill/>
          <a:ln w="25400" cmpd="sng" cap="flat">
            <a:noFill/>
            <a:prstDash val="solid"/>
            <a:round/>
          </a:ln>
        </p:spPr>
      </p:pic>
      <p:sp>
        <p:nvSpPr>
          <p:cNvPr name="AutoShape 18" id="18"/>
          <p:cNvSpPr/>
          <p:nvPr/>
        </p:nvSpPr>
        <p:spPr>
          <a:xfrm rot="0" flipH="false" flipV="false">
            <a:off x="7112000" y="3556000"/>
            <a:ext cx="4572000" cy="635000"/>
          </a:xfrm>
          <a:prstGeom prst="roundRect">
            <a:avLst>
              <a:gd name="adj" fmla="val 0"/>
            </a:avLst>
          </a:prstGeom>
          <a:noFill/>
          <a:ln w="25400" cmpd="sng" cap="flat">
            <a:noFill/>
            <a:prstDash val="solid"/>
            <a:round/>
          </a:ln>
        </p:spPr>
        <p:txBody>
          <a:bodyPr anchor="t" rtlCol="false" anchorCtr="false" vert="horz" wrap="square" lIns="0" rIns="0" tIns="0" bIns="0"/>
          <a:lstStyle/>
          <a:p>
            <a:pPr algn="l" indent="0">
              <a:lnSpc>
                <a:spcPct val="108333"/>
              </a:lnSpc>
              <a:defRPr/>
            </a:pPr>
            <a:r>
              <a:rPr lang="en-US" b="true" i="false" strike="noStrike" u="none" sz="1500">
                <a:solidFill>
                  <a:srgbClr val="2F4F4F"/>
                </a:solidFill>
                <a:latin typeface="Poppins"/>
                <a:ea typeface="Poppins"/>
                <a:cs typeface="Poppins"/>
                <a:sym typeface="Poppins"/>
              </a:rPr>
              <a:t>2. Truncate to Length</a:t>
            </a:r>
            <a:r>
              <a:rPr lang="en-US" b="false" i="false" strike="noStrike" u="none" sz="1400">
                <a:solidFill>
                  <a:srgbClr val="1F2329"/>
                </a:solidFill>
                <a:latin typeface="Poppins"/>
                <a:ea typeface="Poppins"/>
                <a:cs typeface="Poppins"/>
                <a:sym typeface="Poppins"/>
              </a:rPr>
              <a:t/>
            </a:r>
            <a:br>
              <a:rPr lang="en-US" b="false" i="false" strike="noStrike" u="none" sz="1400">
                <a:solidFill>
                  <a:srgbClr val="1F2329"/>
                </a:solidFill>
                <a:latin typeface="Poppins"/>
                <a:ea typeface="Poppins"/>
                <a:cs typeface="Poppins"/>
                <a:sym typeface="Poppins"/>
              </a:rPr>
            </a:br>
            <a:r>
              <a:rPr lang="en-US" b="false" i="false" strike="noStrike" u="none" sz="1300">
                <a:solidFill>
                  <a:srgbClr val="696969"/>
                </a:solidFill>
                <a:latin typeface="Poppins"/>
                <a:ea typeface="Poppins"/>
                <a:cs typeface="Poppins"/>
                <a:sym typeface="Poppins"/>
              </a:rPr>
              <a:t>Retain only the first 10 digits of the cleaned string.</a:t>
            </a:r>
            <a:endParaRPr lang="en-US" sz="1100"/>
          </a:p>
        </p:txBody>
      </p:sp>
      <p:pic>
        <p:nvPicPr>
          <p:cNvPr name="Picture 19" id="19"/>
          <p:cNvPicPr>
            <a:picLocks noChangeAspect="true"/>
          </p:cNvPicPr>
          <p:nvPr/>
        </p:nvPicPr>
        <p:blipFill>
          <a:blip r:embed="rId8"/>
          <a:srcRect l="0" r="0" t="0" b="0"/>
          <a:stretch>
            <a:fillRect/>
          </a:stretch>
        </p:blipFill>
        <p:spPr>
          <a:xfrm rot="0" flipH="false" flipV="false">
            <a:off x="6604000" y="4572000"/>
            <a:ext cx="304800" cy="304800"/>
          </a:xfrm>
          <a:prstGeom prst="rect">
            <a:avLst/>
          </a:prstGeom>
          <a:noFill/>
          <a:ln w="25400" cmpd="sng" cap="flat">
            <a:noFill/>
            <a:prstDash val="solid"/>
            <a:round/>
          </a:ln>
        </p:spPr>
      </p:pic>
      <p:sp>
        <p:nvSpPr>
          <p:cNvPr name="AutoShape 20" id="20"/>
          <p:cNvSpPr/>
          <p:nvPr/>
        </p:nvSpPr>
        <p:spPr>
          <a:xfrm rot="0" flipH="false" flipV="false">
            <a:off x="7112000" y="4572000"/>
            <a:ext cx="4572000" cy="635000"/>
          </a:xfrm>
          <a:prstGeom prst="roundRect">
            <a:avLst>
              <a:gd name="adj" fmla="val 0"/>
            </a:avLst>
          </a:prstGeom>
          <a:noFill/>
          <a:ln w="25400" cmpd="sng" cap="flat">
            <a:noFill/>
            <a:prstDash val="solid"/>
            <a:round/>
          </a:ln>
        </p:spPr>
        <p:txBody>
          <a:bodyPr anchor="t" rtlCol="false" anchorCtr="false" vert="horz" wrap="square" lIns="0" rIns="0" tIns="0" bIns="0"/>
          <a:lstStyle/>
          <a:p>
            <a:pPr algn="l" indent="0">
              <a:lnSpc>
                <a:spcPct val="108333"/>
              </a:lnSpc>
              <a:defRPr/>
            </a:pPr>
            <a:r>
              <a:rPr lang="en-US" b="true" i="false" strike="noStrike" u="none" sz="1500">
                <a:solidFill>
                  <a:srgbClr val="2F4F4F"/>
                </a:solidFill>
                <a:latin typeface="Poppins"/>
                <a:ea typeface="Poppins"/>
                <a:cs typeface="Poppins"/>
                <a:sym typeface="Poppins"/>
              </a:rPr>
              <a:t>3. Zero-padding</a:t>
            </a:r>
            <a:r>
              <a:rPr lang="en-US" b="false" i="false" strike="noStrike" u="none" sz="1400">
                <a:solidFill>
                  <a:srgbClr val="1F2329"/>
                </a:solidFill>
                <a:latin typeface="Poppins"/>
                <a:ea typeface="Poppins"/>
                <a:cs typeface="Poppins"/>
                <a:sym typeface="Poppins"/>
              </a:rPr>
              <a:t/>
            </a:r>
            <a:br>
              <a:rPr lang="en-US" b="false" i="false" strike="noStrike" u="none" sz="1400">
                <a:solidFill>
                  <a:srgbClr val="1F2329"/>
                </a:solidFill>
                <a:latin typeface="Poppins"/>
                <a:ea typeface="Poppins"/>
                <a:cs typeface="Poppins"/>
                <a:sym typeface="Poppins"/>
              </a:rPr>
            </a:br>
            <a:r>
              <a:rPr lang="en-US" b="false" i="false" strike="noStrike" u="none" sz="1300">
                <a:solidFill>
                  <a:srgbClr val="696969"/>
                </a:solidFill>
                <a:latin typeface="Poppins"/>
                <a:ea typeface="Poppins"/>
                <a:cs typeface="Poppins"/>
                <a:sym typeface="Poppins"/>
              </a:rPr>
              <a:t>Add leading zeros if the length is less than 10 digits.</a:t>
            </a:r>
            <a:endParaRPr lang="en-US" sz="1100"/>
          </a:p>
        </p:txBody>
      </p:sp>
      <p:pic>
        <p:nvPicPr>
          <p:cNvPr name="Picture 21" id="21"/>
          <p:cNvPicPr>
            <a:picLocks noChangeAspect="true"/>
          </p:cNvPicPr>
          <p:nvPr/>
        </p:nvPicPr>
        <p:blipFill>
          <a:blip r:embed="rId9"/>
          <a:srcRect l="0" r="0" t="0" b="0"/>
          <a:stretch>
            <a:fillRect/>
          </a:stretch>
        </p:blipFill>
        <p:spPr>
          <a:xfrm rot="0" flipH="false" flipV="false">
            <a:off x="6604000" y="5461000"/>
            <a:ext cx="304800" cy="304800"/>
          </a:xfrm>
          <a:prstGeom prst="rect">
            <a:avLst/>
          </a:prstGeom>
          <a:noFill/>
          <a:ln w="25400" cmpd="sng" cap="flat">
            <a:noFill/>
            <a:prstDash val="solid"/>
            <a:round/>
          </a:ln>
        </p:spPr>
      </p:pic>
      <p:sp>
        <p:nvSpPr>
          <p:cNvPr name="AutoShape 22" id="22"/>
          <p:cNvSpPr/>
          <p:nvPr/>
        </p:nvSpPr>
        <p:spPr>
          <a:xfrm rot="0" flipH="false" flipV="false">
            <a:off x="7112000" y="5461000"/>
            <a:ext cx="4572000" cy="635000"/>
          </a:xfrm>
          <a:prstGeom prst="roundRect">
            <a:avLst>
              <a:gd name="adj" fmla="val 0"/>
            </a:avLst>
          </a:prstGeom>
          <a:noFill/>
          <a:ln w="25400" cmpd="sng" cap="flat">
            <a:noFill/>
            <a:prstDash val="solid"/>
            <a:round/>
          </a:ln>
        </p:spPr>
        <p:txBody>
          <a:bodyPr anchor="t" rtlCol="false" anchorCtr="false" vert="horz" wrap="square" lIns="0" rIns="0" tIns="0" bIns="0"/>
          <a:lstStyle/>
          <a:p>
            <a:pPr algn="l" indent="0">
              <a:lnSpc>
                <a:spcPct val="108333"/>
              </a:lnSpc>
              <a:defRPr/>
            </a:pPr>
            <a:r>
              <a:rPr lang="en-US" b="true" i="false" strike="noStrike" u="none" sz="1500">
                <a:solidFill>
                  <a:srgbClr val="2F4F4F"/>
                </a:solidFill>
                <a:latin typeface="Poppins"/>
                <a:ea typeface="Poppins"/>
                <a:cs typeface="Poppins"/>
                <a:sym typeface="Poppins"/>
              </a:rPr>
              <a:t>4. Final Output</a:t>
            </a:r>
            <a:r>
              <a:rPr lang="en-US" b="false" i="false" strike="noStrike" u="none" sz="1400">
                <a:solidFill>
                  <a:srgbClr val="1F2329"/>
                </a:solidFill>
                <a:latin typeface="Poppins"/>
                <a:ea typeface="Poppins"/>
                <a:cs typeface="Poppins"/>
                <a:sym typeface="Poppins"/>
              </a:rPr>
              <a:t/>
            </a:r>
            <a:br>
              <a:rPr lang="en-US" b="false" i="false" strike="noStrike" u="none" sz="1400">
                <a:solidFill>
                  <a:srgbClr val="1F2329"/>
                </a:solidFill>
                <a:latin typeface="Poppins"/>
                <a:ea typeface="Poppins"/>
                <a:cs typeface="Poppins"/>
                <a:sym typeface="Poppins"/>
              </a:rPr>
            </a:br>
            <a:r>
              <a:rPr lang="en-US" b="false" i="false" strike="noStrike" u="none" sz="1300">
                <a:solidFill>
                  <a:srgbClr val="696969"/>
                </a:solidFill>
                <a:latin typeface="Poppins"/>
                <a:ea typeface="Poppins"/>
                <a:cs typeface="Poppins"/>
                <a:sym typeface="Poppins"/>
              </a:rPr>
              <a:t>Store result as</a:t>
            </a:r>
            <a:r>
              <a:rPr lang="en-US" b="true" i="false" strike="noStrike" u="none" sz="1300">
                <a:solidFill>
                  <a:srgbClr val="696969"/>
                </a:solidFill>
                <a:latin typeface="Poppins"/>
                <a:ea typeface="Poppins"/>
                <a:cs typeface="Poppins"/>
                <a:sym typeface="Poppins"/>
              </a:rPr>
              <a:t>pin10_key</a:t>
            </a:r>
            <a:r>
              <a:rPr lang="en-US" b="false" i="false" strike="noStrike" u="none" sz="1300">
                <a:solidFill>
                  <a:srgbClr val="696969"/>
                </a:solidFill>
                <a:latin typeface="Poppins"/>
                <a:ea typeface="Poppins"/>
                <a:cs typeface="Poppins"/>
                <a:sym typeface="Poppins"/>
              </a:rPr>
              <a:t>for joining datasets.</a:t>
            </a:r>
            <a:endParaRPr lang="en-US" sz="1100"/>
          </a:p>
        </p:txBody>
      </p:sp>
      <p:cxnSp>
        <p:nvCxnSpPr>
          <p:cNvPr name="Connector 23" id="23"/>
          <p:cNvCxnSpPr/>
          <p:nvPr/>
        </p:nvCxnSpPr>
        <p:spPr>
          <a:xfrm rot="-4092" flipH="false" flipV="false">
            <a:off x="762004" y="6280150"/>
            <a:ext cx="10668000" cy="12700"/>
          </a:xfrm>
          <a:prstGeom prst="straightConnector1">
            <a:avLst/>
          </a:prstGeom>
          <a:solidFill>
            <a:srgbClr val="DEE0E3">
              <a:alpha val="100000"/>
            </a:srgbClr>
          </a:solidFill>
          <a:ln w="12700" cmpd="sng" cap="flat">
            <a:solidFill>
              <a:srgbClr val="2F4F4F">
                <a:alpha val="30000"/>
              </a:srgbClr>
            </a:solidFill>
            <a:prstDash val="solid"/>
            <a:round/>
            <a:headEnd type="none" w="med" len="med"/>
            <a:tailEnd type="none" w="med" len="med"/>
          </a:ln>
        </p:spPr>
      </p:cxn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058400" y="4673600"/>
            <a:ext cx="3759200" cy="3759200"/>
          </a:xfrm>
          <a:prstGeom prst="ellipse">
            <a:avLst/>
          </a:prstGeom>
          <a:solidFill>
            <a:srgbClr val="FFC844">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 id="3"/>
          <p:cNvPicPr>
            <a:picLocks noChangeAspect="true"/>
          </p:cNvPicPr>
          <p:nvPr/>
        </p:nvPicPr>
        <p:blipFill>
          <a:blip r:embed="rId2"/>
          <a:srcRect l="0" r="0" t="469" b="469"/>
          <a:stretch>
            <a:fillRect/>
          </a:stretch>
        </p:blipFill>
        <p:spPr>
          <a:xfrm rot="0" flipH="false" flipV="false">
            <a:off x="520700" y="279400"/>
            <a:ext cx="2552700" cy="355600"/>
          </a:xfrm>
          <a:prstGeom prst="rect">
            <a:avLst/>
          </a:prstGeom>
          <a:noFill/>
          <a:ln w="25400" cmpd="sng" cap="flat">
            <a:noFill/>
            <a:prstDash val="solid"/>
            <a:round/>
          </a:ln>
        </p:spPr>
      </p:pic>
      <p:sp>
        <p:nvSpPr>
          <p:cNvPr name="AutoShape 4" id="4"/>
          <p:cNvSpPr/>
          <p:nvPr/>
        </p:nvSpPr>
        <p:spPr>
          <a:xfrm rot="0" flipH="false" flipV="false">
            <a:off x="749300" y="838200"/>
            <a:ext cx="10668000" cy="5588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2F4F4F"/>
                </a:solidFill>
                <a:latin typeface="Poppins"/>
                <a:ea typeface="Poppins"/>
                <a:cs typeface="Poppins"/>
                <a:sym typeface="Poppins"/>
              </a:rPr>
              <a:t>2-4. Commercial Class Filter</a:t>
            </a:r>
            <a:endParaRPr lang="en-US" sz="1100"/>
          </a:p>
        </p:txBody>
      </p:sp>
      <p:cxnSp>
        <p:nvCxnSpPr>
          <p:cNvPr name="Connector 5" id="5"/>
          <p:cNvCxnSpPr/>
          <p:nvPr/>
        </p:nvCxnSpPr>
        <p:spPr>
          <a:xfrm rot="-4092" flipH="false" flipV="false">
            <a:off x="749304" y="1593850"/>
            <a:ext cx="10668000" cy="12700"/>
          </a:xfrm>
          <a:prstGeom prst="straightConnector1">
            <a:avLst/>
          </a:prstGeom>
          <a:solidFill>
            <a:srgbClr val="DEE0E3">
              <a:alpha val="100000"/>
            </a:srgbClr>
          </a:solidFill>
          <a:ln w="12700" cmpd="sng" cap="flat">
            <a:solidFill>
              <a:srgbClr val="2F4F4F">
                <a:alpha val="100000"/>
              </a:srgbClr>
            </a:solidFill>
            <a:prstDash val="solid"/>
            <a:round/>
            <a:headEnd type="none" w="med" len="med"/>
            <a:tailEnd type="none" w="med" len="med"/>
          </a:ln>
        </p:spPr>
      </p:cxnSp>
      <p:sp>
        <p:nvSpPr>
          <p:cNvPr name="AutoShape 6" id="6"/>
          <p:cNvSpPr/>
          <p:nvPr/>
        </p:nvSpPr>
        <p:spPr>
          <a:xfrm rot="0" flipH="false" flipV="false">
            <a:off x="749300" y="1905000"/>
            <a:ext cx="5080000" cy="3556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2F4F4F"/>
                </a:solidFill>
                <a:latin typeface="Poppins"/>
                <a:ea typeface="Poppins"/>
                <a:cs typeface="Poppins"/>
                <a:sym typeface="Poppins"/>
              </a:rPr>
              <a:t>Part 2. Data Import and Source Overview</a:t>
            </a:r>
            <a:endParaRPr lang="en-US" sz="1100"/>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749300" y="2540000"/>
            <a:ext cx="304800" cy="304800"/>
          </a:xfrm>
          <a:prstGeom prst="rect">
            <a:avLst/>
          </a:prstGeom>
        </p:spPr>
      </p:pic>
      <p:sp>
        <p:nvSpPr>
          <p:cNvPr name="AutoShape 8" id="8"/>
          <p:cNvSpPr/>
          <p:nvPr/>
        </p:nvSpPr>
        <p:spPr>
          <a:xfrm rot="0" flipH="false" flipV="false">
            <a:off x="1206500" y="2489200"/>
            <a:ext cx="4572000" cy="381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Poppins"/>
                <a:ea typeface="Poppins"/>
                <a:cs typeface="Poppins"/>
                <a:sym typeface="Poppins"/>
              </a:rPr>
              <a:t>Primary Whitelist</a:t>
            </a:r>
            <a:endParaRPr lang="en-US" sz="1100"/>
          </a:p>
        </p:txBody>
      </p:sp>
      <p:sp>
        <p:nvSpPr>
          <p:cNvPr name="AutoShape 9" id="9"/>
          <p:cNvSpPr/>
          <p:nvPr/>
        </p:nvSpPr>
        <p:spPr>
          <a:xfrm rot="0" flipH="false" flipV="false">
            <a:off x="1206500" y="3048000"/>
            <a:ext cx="4699000" cy="889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300">
                <a:solidFill>
                  <a:srgbClr val="555555"/>
                </a:solidFill>
                <a:latin typeface="Poppins"/>
                <a:ea typeface="Poppins"/>
                <a:cs typeface="Poppins"/>
                <a:sym typeface="Poppins"/>
              </a:rPr>
              <a:t>Includes core commercial classes extracted from the major classification groups 5, 7, and 8.</a:t>
            </a:r>
            <a:endParaRPr lang="en-US" sz="1100"/>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749300" y="4191000"/>
            <a:ext cx="304800" cy="304800"/>
          </a:xfrm>
          <a:prstGeom prst="rect">
            <a:avLst/>
          </a:prstGeom>
        </p:spPr>
      </p:pic>
      <p:sp>
        <p:nvSpPr>
          <p:cNvPr name="AutoShape 11" id="11"/>
          <p:cNvSpPr/>
          <p:nvPr/>
        </p:nvSpPr>
        <p:spPr>
          <a:xfrm rot="0" flipH="false" flipV="false">
            <a:off x="1206500" y="4140200"/>
            <a:ext cx="4572000" cy="381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Poppins"/>
                <a:ea typeface="Poppins"/>
                <a:cs typeface="Poppins"/>
                <a:sym typeface="Poppins"/>
              </a:rPr>
              <a:t>Supplement Whitelist</a:t>
            </a:r>
            <a:endParaRPr lang="en-US" sz="1100"/>
          </a:p>
        </p:txBody>
      </p:sp>
      <p:sp>
        <p:nvSpPr>
          <p:cNvPr name="AutoShape 12" id="12"/>
          <p:cNvSpPr/>
          <p:nvPr/>
        </p:nvSpPr>
        <p:spPr>
          <a:xfrm rot="0" flipH="false" flipV="false">
            <a:off x="1206500" y="4699000"/>
            <a:ext cx="4699000" cy="889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300">
                <a:solidFill>
                  <a:srgbClr val="555555"/>
                </a:solidFill>
                <a:latin typeface="Poppins"/>
                <a:ea typeface="Poppins"/>
                <a:cs typeface="Poppins"/>
                <a:sym typeface="Poppins"/>
              </a:rPr>
              <a:t>Captures mixed-use properties and partially commercial classifications from other non-primary groups.</a:t>
            </a:r>
            <a:endParaRPr lang="en-US" sz="1100"/>
          </a:p>
        </p:txBody>
      </p:sp>
      <p:sp>
        <p:nvSpPr>
          <p:cNvPr name="AutoShape 13" id="13"/>
          <p:cNvSpPr/>
          <p:nvPr/>
        </p:nvSpPr>
        <p:spPr>
          <a:xfrm rot="0" flipH="false" flipV="false">
            <a:off x="6807200" y="1905000"/>
            <a:ext cx="4673600" cy="1905000"/>
          </a:xfrm>
          <a:prstGeom prst="roundRect">
            <a:avLst>
              <a:gd name="adj" fmla="val 0"/>
            </a:avLst>
          </a:prstGeom>
          <a:solidFill>
            <a:srgbClr val="F0F9F9">
              <a:alpha val="100000"/>
            </a:srgbClr>
          </a:solidFill>
          <a:ln w="12700" cmpd="sng" cap="flat">
            <a:solidFill>
              <a:srgbClr val="2F4F4F">
                <a:alpha val="20000"/>
              </a:srgbClr>
            </a:solid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7061200" y="2159000"/>
            <a:ext cx="4165600" cy="1397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16666"/>
              </a:lnSpc>
              <a:defRPr/>
            </a:pPr>
            <a:r>
              <a:rPr lang="en-US" b="true" i="false" strike="noStrike" u="none" sz="1600">
                <a:solidFill>
                  <a:srgbClr val="2F4F4F"/>
                </a:solidFill>
                <a:latin typeface="Poppins"/>
                <a:ea typeface="Poppins"/>
                <a:cs typeface="Poppins"/>
                <a:sym typeface="Poppins"/>
              </a:rPr>
              <a:t>Core Strategy</a:t>
            </a:r>
            <a:r>
              <a:rPr lang="en-US" b="false" i="false" strike="noStrike" u="none" sz="1600">
                <a:solidFill>
                  <a:srgbClr val="1F2329"/>
                </a:solidFill>
                <a:latin typeface="Poppins"/>
                <a:ea typeface="Poppins"/>
                <a:cs typeface="Poppins"/>
                <a:sym typeface="Poppins"/>
              </a:rPr>
              <a:t/>
            </a:r>
            <a:endParaRPr lang="en-US" sz="1100"/>
          </a:p>
          <a:p>
            <a:pPr algn="ctr" indent="0">
              <a:lnSpc>
                <a:spcPct val="116666"/>
              </a:lnSpc>
            </a:pPr>
            <a:r>
              <a:rPr lang="en-US" b="false" i="false" strike="noStrike" u="none" sz="1300">
                <a:solidFill>
                  <a:srgbClr val="464646"/>
                </a:solidFill>
                <a:latin typeface="Poppins"/>
                <a:ea typeface="Poppins"/>
                <a:cs typeface="Poppins"/>
                <a:sym typeface="Poppins"/>
              </a:rPr>
              <a:t>The demo implementation utilizes a</a:t>
            </a:r>
            <a:r>
              <a:rPr lang="en-US" b="true" i="false" strike="noStrike" u="none" sz="1300">
                <a:solidFill>
                  <a:srgbClr val="464646"/>
                </a:solidFill>
                <a:latin typeface="Poppins"/>
                <a:ea typeface="Poppins"/>
                <a:cs typeface="Poppins"/>
                <a:sym typeface="Poppins"/>
              </a:rPr>
              <a:t>class-code strategy</a:t>
            </a:r>
            <a:r>
              <a:rPr lang="en-US" b="false" i="false" strike="noStrike" u="none" sz="1300">
                <a:solidFill>
                  <a:srgbClr val="464646"/>
                </a:solidFill>
                <a:latin typeface="Poppins"/>
                <a:ea typeface="Poppins"/>
                <a:cs typeface="Poppins"/>
                <a:sym typeface="Poppins"/>
              </a:rPr>
              <a:t>as the primary filter, in lieu of using traditional parcel type labels.</a:t>
            </a:r>
          </a:p>
        </p:txBody>
      </p:sp>
      <p:sp>
        <p:nvSpPr>
          <p:cNvPr name="AutoShape 15" id="15"/>
          <p:cNvSpPr/>
          <p:nvPr/>
        </p:nvSpPr>
        <p:spPr>
          <a:xfrm rot="0" flipH="false" flipV="false">
            <a:off x="6807200" y="4064000"/>
            <a:ext cx="4673600" cy="1905000"/>
          </a:xfrm>
          <a:prstGeom prst="roundRect">
            <a:avLst>
              <a:gd name="adj" fmla="val 0"/>
            </a:avLst>
          </a:prstGeom>
          <a:solidFill>
            <a:srgbClr val="FFF8E1">
              <a:alpha val="100000"/>
            </a:srgbClr>
          </a:solidFill>
          <a:ln w="12700" cmpd="sng" cap="flat">
            <a:solidFill>
              <a:srgbClr val="D4A017">
                <a:alpha val="30000"/>
              </a:srgbClr>
            </a:solid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7061200" y="4318000"/>
            <a:ext cx="4165600" cy="1397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16666"/>
              </a:lnSpc>
              <a:defRPr/>
            </a:pPr>
            <a:r>
              <a:rPr lang="en-US" b="true" i="false" strike="noStrike" u="none" sz="1600">
                <a:solidFill>
                  <a:srgbClr val="B46400"/>
                </a:solidFill>
                <a:latin typeface="Poppins"/>
                <a:ea typeface="Poppins"/>
                <a:cs typeface="Poppins"/>
                <a:sym typeface="Poppins"/>
              </a:rPr>
              <a:t>Step Output</a:t>
            </a:r>
            <a:r>
              <a:rPr lang="en-US" b="false" i="false" strike="noStrike" u="none" sz="1600">
                <a:solidFill>
                  <a:srgbClr val="1F2329"/>
                </a:solidFill>
                <a:latin typeface="Poppins"/>
                <a:ea typeface="Poppins"/>
                <a:cs typeface="Poppins"/>
                <a:sym typeface="Poppins"/>
              </a:rPr>
              <a:t/>
            </a:r>
            <a:endParaRPr lang="en-US" sz="1100"/>
          </a:p>
          <a:p>
            <a:pPr algn="ctr" indent="0">
              <a:lnSpc>
                <a:spcPct val="116666"/>
              </a:lnSpc>
            </a:pPr>
            <a:r>
              <a:rPr lang="en-US" b="false" i="false" strike="noStrike" u="none" sz="1300">
                <a:solidFill>
                  <a:srgbClr val="505050"/>
                </a:solidFill>
                <a:latin typeface="Poppins"/>
                <a:ea typeface="Poppins"/>
                <a:cs typeface="Poppins"/>
                <a:sym typeface="Poppins"/>
              </a:rPr>
              <a:t>A fully</a:t>
            </a:r>
            <a:r>
              <a:rPr lang="en-US" b="true" i="false" strike="noStrike" u="none" sz="1300">
                <a:solidFill>
                  <a:srgbClr val="505050"/>
                </a:solidFill>
                <a:latin typeface="Poppins"/>
                <a:ea typeface="Poppins"/>
                <a:cs typeface="Poppins"/>
                <a:sym typeface="Poppins"/>
              </a:rPr>
              <a:t>normalized list</a:t>
            </a:r>
            <a:r>
              <a:rPr lang="en-US" b="false" i="false" strike="noStrike" u="none" sz="1300">
                <a:solidFill>
                  <a:srgbClr val="505050"/>
                </a:solidFill>
                <a:latin typeface="Poppins"/>
                <a:ea typeface="Poppins"/>
                <a:cs typeface="Poppins"/>
                <a:sym typeface="Poppins"/>
              </a:rPr>
              <a:t>of commercial class codes, serving as the foundation for subsequent analysis.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4813300" y="711200"/>
            <a:ext cx="5715000" cy="1320800"/>
          </a:xfrm>
          <a:prstGeom prst="rect">
            <a:avLst/>
          </a:prstGeom>
          <a:noFill/>
          <a:ln w="12700" cmpd="sng" cap="flat">
            <a:noFill/>
            <a:prstDash val="solid"/>
            <a:round/>
          </a:ln>
        </p:spPr>
        <p:txBody>
          <a:bodyPr anchor="ctr" rtlCol="false" anchorCtr="false" vert="horz" wrap="square" lIns="88900" rIns="88900" tIns="50800" bIns="50800"/>
          <a:lstStyle/>
          <a:p>
            <a:pPr algn="l" indent="0">
              <a:lnSpc>
                <a:spcPct val="100000"/>
              </a:lnSpc>
              <a:defRPr/>
            </a:pPr>
            <a:r>
              <a:rPr lang="en-US" b="true" i="false" strike="noStrike" u="none" sz="2800">
                <a:solidFill>
                  <a:srgbClr val="000000"/>
                </a:solidFill>
                <a:latin typeface="Calibri"/>
                <a:ea typeface="Calibri"/>
                <a:cs typeface="Calibri"/>
                <a:sym typeface="Calibri"/>
              </a:rPr>
              <a:t>Three Operational Stages</a:t>
            </a:r>
            <a:r>
              <a:rPr lang="en-US" b="true" i="false" strike="noStrike" u="none" sz="2800">
                <a:solidFill>
                  <a:srgbClr val="000000"/>
                </a:solidFill>
                <a:latin typeface="Calibri"/>
                <a:ea typeface="Calibri"/>
                <a:cs typeface="Calibri"/>
                <a:sym typeface="Calibri"/>
              </a:rPr>
              <a:t/>
            </a:r>
            <a:endParaRPr lang="en-US" sz="1100"/>
          </a:p>
          <a:p>
            <a:pPr algn="l" indent="0">
              <a:lnSpc>
                <a:spcPct val="100000"/>
              </a:lnSpc>
            </a:pPr>
            <a:r>
              <a:rPr lang="en-US" b="true" i="false" strike="noStrike" u="none" sz="1600">
                <a:solidFill>
                  <a:srgbClr val="505050"/>
                </a:solidFill>
                <a:latin typeface="Calibri"/>
                <a:ea typeface="Calibri"/>
                <a:cs typeface="Calibri"/>
                <a:sym typeface="Calibri"/>
              </a:rPr>
              <a:t>This section turns separate datasets into one analysis workflow.</a:t>
            </a:r>
          </a:p>
        </p:txBody>
      </p:sp>
      <p:sp>
        <p:nvSpPr>
          <p:cNvPr name="AutoShape 3" id="3"/>
          <p:cNvSpPr/>
          <p:nvPr/>
        </p:nvSpPr>
        <p:spPr>
          <a:xfrm rot="0" flipH="false" flipV="false">
            <a:off x="4902200" y="2857500"/>
            <a:ext cx="1955800" cy="2882900"/>
          </a:xfrm>
          <a:prstGeom prst="roundRect">
            <a:avLst>
              <a:gd name="adj" fmla="val 0"/>
            </a:avLst>
          </a:prstGeom>
          <a:noFill/>
          <a:ln w="25400" cmpd="sng" cap="flat">
            <a:noFill/>
            <a:prstDash val="solid"/>
            <a:round/>
          </a:ln>
        </p:spPr>
        <p:txBody>
          <a:bodyPr anchor="t" rtlCol="false" anchorCtr="false" vert="horz" wrap="square" lIns="88900" rIns="88900" tIns="127000" bIns="127000"/>
          <a:lstStyle/>
          <a:p>
            <a:pPr algn="l" indent="0">
              <a:lnSpc>
                <a:spcPct val="116666"/>
              </a:lnSpc>
              <a:defRPr/>
            </a:pPr>
            <a:r>
              <a:rPr lang="en-US" b="true" i="false" strike="noStrike" u="none" sz="1400">
                <a:solidFill>
                  <a:srgbClr val="262626"/>
                </a:solidFill>
                <a:latin typeface="Calibri"/>
                <a:ea typeface="Calibri"/>
                <a:cs typeface="Calibri"/>
                <a:sym typeface="Calibri"/>
              </a:rPr>
              <a:t>Filter commercial PIN-class records</a:t>
            </a:r>
            <a:r>
              <a:rPr lang="en-US" b="false" i="false" strike="noStrike" u="none" sz="1300">
                <a:solidFill>
                  <a:srgbClr val="1F2329"/>
                </a:solidFill>
                <a:latin typeface="Noto Sans SC"/>
                <a:ea typeface="Noto Sans SC"/>
                <a:cs typeface="Noto Sans SC"/>
                <a:sym typeface="Noto Sans SC"/>
              </a:rPr>
              <a:t/>
            </a:r>
            <a:endParaRPr lang="en-US" sz="1100"/>
          </a:p>
          <a:p>
            <a:pPr algn="l" indent="0">
              <a:lnSpc>
                <a:spcPct val="108333"/>
              </a:lnSpc>
            </a:pPr>
            <a:r>
              <a:rPr lang="en-US" b="false" i="false" strike="noStrike" u="none" sz="1200">
                <a:solidFill>
                  <a:srgbClr val="505050"/>
                </a:solidFill>
                <a:latin typeface="Noto Sans SC"/>
                <a:ea typeface="Noto Sans SC"/>
                <a:cs typeface="Noto Sans SC"/>
                <a:sym typeface="Noto Sans SC"/>
              </a:rPr>
              <a:t>From the assessor data, select only those PINs that are classified as commercial.</a:t>
            </a:r>
          </a:p>
        </p:txBody>
      </p:sp>
      <p:sp>
        <p:nvSpPr>
          <p:cNvPr name="AutoShape 4" id="4"/>
          <p:cNvSpPr/>
          <p:nvPr/>
        </p:nvSpPr>
        <p:spPr>
          <a:xfrm rot="0" flipH="false" flipV="false">
            <a:off x="7315200" y="2032000"/>
            <a:ext cx="1892300" cy="660400"/>
          </a:xfrm>
          <a:prstGeom prst="roundRect">
            <a:avLst>
              <a:gd name="adj" fmla="val 17307"/>
            </a:avLst>
          </a:prstGeom>
          <a:solidFill>
            <a:srgbClr val="FECC53">
              <a:alpha val="100000"/>
            </a:srgbClr>
          </a:solidFill>
          <a:ln w="25400" cmpd="sng" cap="flat">
            <a:noFill/>
            <a:prstDash val="solid"/>
            <a:round/>
          </a:ln>
        </p:spPr>
        <p:txBody>
          <a:bodyPr anchor="ctr" rtlCol="false" anchorCtr="false" vert="horz" wrap="square" lIns="88900" rIns="88900" tIns="50800" bIns="50800"/>
          <a:lstStyle/>
          <a:p>
            <a:pPr algn="ctr" indent="0">
              <a:lnSpc>
                <a:spcPct val="100000"/>
              </a:lnSpc>
              <a:defRPr/>
            </a:pPr>
            <a:r>
              <a:rPr lang="en-US" b="true" i="false" strike="noStrike" u="none" sz="1600">
                <a:solidFill>
                  <a:srgbClr val="FFFFFF"/>
                </a:solidFill>
                <a:latin typeface="Calibri"/>
                <a:ea typeface="Calibri"/>
                <a:cs typeface="Calibri"/>
                <a:sym typeface="Calibri"/>
              </a:rPr>
              <a:t>Step 2: Join</a:t>
            </a:r>
            <a:endParaRPr lang="en-US" sz="1100"/>
          </a:p>
        </p:txBody>
      </p:sp>
      <p:pic>
        <p:nvPicPr>
          <p:cNvPr name="Picture 5" id="5"/>
          <p:cNvPicPr>
            <a:picLocks noChangeAspect="true"/>
          </p:cNvPicPr>
          <p:nvPr/>
        </p:nvPicPr>
        <p:blipFill>
          <a:blip r:embed="rId2"/>
          <a:srcRect l="0" r="0" t="469" b="469"/>
          <a:stretch>
            <a:fillRect/>
          </a:stretch>
        </p:blipFill>
        <p:spPr>
          <a:xfrm rot="0" flipH="false" flipV="false">
            <a:off x="292100" y="203200"/>
            <a:ext cx="2552700" cy="355600"/>
          </a:xfrm>
          <a:prstGeom prst="rect">
            <a:avLst/>
          </a:prstGeom>
          <a:noFill/>
          <a:ln w="25400" cmpd="sng" cap="flat">
            <a:noFill/>
            <a:prstDash val="solid"/>
            <a:round/>
          </a:ln>
        </p:spPr>
      </p:pic>
      <p:sp>
        <p:nvSpPr>
          <p:cNvPr name="AutoShape 6" id="6"/>
          <p:cNvSpPr/>
          <p:nvPr/>
        </p:nvSpPr>
        <p:spPr>
          <a:xfrm rot="0" flipH="false" flipV="false">
            <a:off x="4902200" y="2032000"/>
            <a:ext cx="1892300" cy="673100"/>
          </a:xfrm>
          <a:prstGeom prst="roundRect">
            <a:avLst>
              <a:gd name="adj" fmla="val 16981"/>
            </a:avLst>
          </a:prstGeom>
          <a:solidFill>
            <a:srgbClr val="FA6400">
              <a:alpha val="100000"/>
            </a:srgbClr>
          </a:solidFill>
          <a:ln w="25400" cmpd="sng" cap="flat">
            <a:noFill/>
            <a:prstDash val="solid"/>
            <a:round/>
          </a:ln>
        </p:spPr>
        <p:txBody>
          <a:bodyPr anchor="ctr" rtlCol="false" anchorCtr="false" vert="horz" wrap="square" lIns="88900" rIns="88900" tIns="50800" bIns="50800"/>
          <a:lstStyle/>
          <a:p>
            <a:pPr algn="ctr" indent="0">
              <a:lnSpc>
                <a:spcPct val="100000"/>
              </a:lnSpc>
              <a:defRPr/>
            </a:pPr>
            <a:r>
              <a:rPr lang="en-US" b="true" i="false" strike="noStrike" u="none" sz="1600">
                <a:solidFill>
                  <a:srgbClr val="FFFFFF"/>
                </a:solidFill>
                <a:latin typeface="Calibri"/>
                <a:ea typeface="Calibri"/>
                <a:cs typeface="Calibri"/>
                <a:sym typeface="Calibri"/>
              </a:rPr>
              <a:t>Step 1: Filter</a:t>
            </a:r>
            <a:endParaRPr lang="en-US" sz="1100"/>
          </a:p>
        </p:txBody>
      </p:sp>
      <p:sp>
        <p:nvSpPr>
          <p:cNvPr name="AutoShape 7" id="7"/>
          <p:cNvSpPr/>
          <p:nvPr/>
        </p:nvSpPr>
        <p:spPr>
          <a:xfrm rot="0" flipH="false" flipV="false">
            <a:off x="7340600" y="2133600"/>
            <a:ext cx="939800" cy="355600"/>
          </a:xfrm>
          <a:prstGeom prst="roundRect">
            <a:avLst>
              <a:gd name="adj" fmla="val 0"/>
            </a:avLst>
          </a:prstGeom>
          <a:no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9728200" y="2032000"/>
            <a:ext cx="1892300" cy="673100"/>
          </a:xfrm>
          <a:prstGeom prst="roundRect">
            <a:avLst>
              <a:gd name="adj" fmla="val 16981"/>
            </a:avLst>
          </a:prstGeom>
          <a:solidFill>
            <a:srgbClr val="4A90E2">
              <a:alpha val="100000"/>
            </a:srgbClr>
          </a:solidFill>
          <a:ln w="25400" cmpd="sng" cap="flat">
            <a:noFill/>
            <a:prstDash val="solid"/>
            <a:round/>
          </a:ln>
        </p:spPr>
        <p:txBody>
          <a:bodyPr anchor="ctr" rtlCol="false" anchorCtr="false" vert="horz" wrap="square" lIns="88900" rIns="88900" tIns="50800" bIns="50800"/>
          <a:lstStyle/>
          <a:p>
            <a:pPr algn="ctr" indent="0">
              <a:lnSpc>
                <a:spcPct val="100000"/>
              </a:lnSpc>
              <a:defRPr/>
            </a:pPr>
            <a:r>
              <a:rPr lang="en-US" b="true" i="false" strike="noStrike" u="none" sz="1600">
                <a:solidFill>
                  <a:srgbClr val="FFFFFF"/>
                </a:solidFill>
                <a:latin typeface="Calibri"/>
                <a:ea typeface="Calibri"/>
                <a:cs typeface="Calibri"/>
                <a:sym typeface="Calibri"/>
              </a:rPr>
              <a:t>Step 3: Match</a:t>
            </a:r>
            <a:endParaRPr lang="en-US" sz="1100"/>
          </a:p>
        </p:txBody>
      </p:sp>
      <p:sp>
        <p:nvSpPr>
          <p:cNvPr name="AutoShape 9" id="9"/>
          <p:cNvSpPr/>
          <p:nvPr/>
        </p:nvSpPr>
        <p:spPr>
          <a:xfrm rot="-5400000" flipH="false" flipV="false">
            <a:off x="11455400" y="6502400"/>
            <a:ext cx="127000" cy="127000"/>
          </a:xfrm>
          <a:prstGeom prst="ellipse">
            <a:avLst/>
          </a:prstGeom>
          <a:solidFill>
            <a:srgbClr val="FFC844">
              <a:alpha val="4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5400000" flipH="false" flipV="false">
            <a:off x="11455400" y="6197600"/>
            <a:ext cx="127000" cy="127000"/>
          </a:xfrm>
          <a:prstGeom prst="ellipse">
            <a:avLst/>
          </a:prstGeom>
          <a:solidFill>
            <a:srgbClr val="FFC844">
              <a:alpha val="4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5400000" flipH="false" flipV="false">
            <a:off x="11455400" y="5905500"/>
            <a:ext cx="127000" cy="127000"/>
          </a:xfrm>
          <a:prstGeom prst="ellipse">
            <a:avLst/>
          </a:prstGeom>
          <a:solidFill>
            <a:srgbClr val="FFC844">
              <a:alpha val="4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5400000" flipH="false" flipV="false">
            <a:off x="11722100" y="6502400"/>
            <a:ext cx="127000" cy="127000"/>
          </a:xfrm>
          <a:prstGeom prst="ellipse">
            <a:avLst/>
          </a:prstGeom>
          <a:solidFill>
            <a:srgbClr val="FFC844">
              <a:alpha val="4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5400000" flipH="false" flipV="false">
            <a:off x="11722100" y="6197600"/>
            <a:ext cx="127000" cy="127000"/>
          </a:xfrm>
          <a:prstGeom prst="ellipse">
            <a:avLst/>
          </a:prstGeom>
          <a:solidFill>
            <a:srgbClr val="FFC844">
              <a:alpha val="4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5400000" flipH="false" flipV="false">
            <a:off x="11722100" y="5905500"/>
            <a:ext cx="127000" cy="127000"/>
          </a:xfrm>
          <a:prstGeom prst="ellipse">
            <a:avLst/>
          </a:prstGeom>
          <a:solidFill>
            <a:srgbClr val="FFC844">
              <a:alpha val="4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5400000" flipH="false" flipV="false">
            <a:off x="11137900" y="6502400"/>
            <a:ext cx="127000" cy="127000"/>
          </a:xfrm>
          <a:prstGeom prst="ellipse">
            <a:avLst/>
          </a:prstGeom>
          <a:solidFill>
            <a:srgbClr val="FFC844">
              <a:alpha val="4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5400000" flipH="false" flipV="false">
            <a:off x="11137900" y="6197600"/>
            <a:ext cx="127000" cy="127000"/>
          </a:xfrm>
          <a:prstGeom prst="ellipse">
            <a:avLst/>
          </a:prstGeom>
          <a:solidFill>
            <a:srgbClr val="FFC844">
              <a:alpha val="4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7340600" y="2857500"/>
            <a:ext cx="1854200" cy="2882900"/>
          </a:xfrm>
          <a:prstGeom prst="roundRect">
            <a:avLst>
              <a:gd name="adj" fmla="val 0"/>
            </a:avLst>
          </a:prstGeom>
          <a:noFill/>
          <a:ln w="25400" cmpd="sng" cap="flat">
            <a:noFill/>
            <a:prstDash val="solid"/>
            <a:round/>
          </a:ln>
        </p:spPr>
        <p:txBody>
          <a:bodyPr anchor="t" rtlCol="false" anchorCtr="false" vert="horz" wrap="square" lIns="88900" rIns="88900" tIns="127000" bIns="127000"/>
          <a:lstStyle/>
          <a:p>
            <a:pPr algn="l" indent="0">
              <a:lnSpc>
                <a:spcPct val="116666"/>
              </a:lnSpc>
              <a:defRPr/>
            </a:pPr>
            <a:r>
              <a:rPr lang="en-US" b="true" i="false" strike="noStrike" u="none" sz="1400">
                <a:solidFill>
                  <a:srgbClr val="262626"/>
                </a:solidFill>
                <a:latin typeface="Calibri"/>
                <a:ea typeface="Calibri"/>
                <a:cs typeface="Calibri"/>
                <a:sym typeface="Calibri"/>
              </a:rPr>
              <a:t>Join parcels with filtered PINs</a:t>
            </a:r>
            <a:r>
              <a:rPr lang="en-US" b="false" i="false" strike="noStrike" u="none" sz="1300">
                <a:solidFill>
                  <a:srgbClr val="1F2329"/>
                </a:solidFill>
                <a:latin typeface="Noto Sans SC"/>
                <a:ea typeface="Noto Sans SC"/>
                <a:cs typeface="Noto Sans SC"/>
                <a:sym typeface="Noto Sans SC"/>
              </a:rPr>
              <a:t/>
            </a:r>
            <a:endParaRPr lang="en-US" sz="1100"/>
          </a:p>
          <a:p>
            <a:pPr algn="l" indent="0">
              <a:lnSpc>
                <a:spcPct val="108333"/>
              </a:lnSpc>
            </a:pPr>
            <a:r>
              <a:rPr lang="en-US" b="false" i="false" strike="noStrike" u="none" sz="1200">
                <a:solidFill>
                  <a:srgbClr val="505050"/>
                </a:solidFill>
                <a:latin typeface="Noto Sans SC"/>
                <a:ea typeface="Noto Sans SC"/>
                <a:cs typeface="Noto Sans SC"/>
                <a:sym typeface="Noto Sans SC"/>
              </a:rPr>
              <a:t>Combine the filtered commercial PIN list with the parcel geometry data.</a:t>
            </a:r>
          </a:p>
        </p:txBody>
      </p:sp>
      <p:sp>
        <p:nvSpPr>
          <p:cNvPr name="AutoShape 18" id="18"/>
          <p:cNvSpPr/>
          <p:nvPr/>
        </p:nvSpPr>
        <p:spPr>
          <a:xfrm rot="0" flipH="false" flipV="false">
            <a:off x="9728200" y="2857500"/>
            <a:ext cx="1854200" cy="2882900"/>
          </a:xfrm>
          <a:prstGeom prst="roundRect">
            <a:avLst>
              <a:gd name="adj" fmla="val 0"/>
            </a:avLst>
          </a:prstGeom>
          <a:noFill/>
          <a:ln w="25400" cmpd="sng" cap="flat">
            <a:noFill/>
            <a:prstDash val="solid"/>
            <a:round/>
          </a:ln>
        </p:spPr>
        <p:txBody>
          <a:bodyPr anchor="t" rtlCol="false" anchorCtr="false" vert="horz" wrap="square" lIns="88900" rIns="88900" tIns="127000" bIns="127000"/>
          <a:lstStyle/>
          <a:p>
            <a:pPr algn="l" indent="0">
              <a:lnSpc>
                <a:spcPct val="116666"/>
              </a:lnSpc>
              <a:defRPr/>
            </a:pPr>
            <a:r>
              <a:rPr lang="en-US" b="true" i="false" strike="noStrike" u="none" sz="1400">
                <a:solidFill>
                  <a:srgbClr val="262626"/>
                </a:solidFill>
                <a:latin typeface="Calibri"/>
                <a:ea typeface="Calibri"/>
                <a:cs typeface="Calibri"/>
                <a:sym typeface="Calibri"/>
              </a:rPr>
              <a:t>Match licenses to parcels</a:t>
            </a:r>
            <a:r>
              <a:rPr lang="en-US" b="false" i="false" strike="noStrike" u="none" sz="1300">
                <a:solidFill>
                  <a:srgbClr val="1F2329"/>
                </a:solidFill>
                <a:latin typeface="Noto Sans SC"/>
                <a:ea typeface="Noto Sans SC"/>
                <a:cs typeface="Noto Sans SC"/>
                <a:sym typeface="Noto Sans SC"/>
              </a:rPr>
              <a:t/>
            </a:r>
            <a:endParaRPr lang="en-US" sz="1100"/>
          </a:p>
          <a:p>
            <a:pPr algn="l" indent="0">
              <a:lnSpc>
                <a:spcPct val="108333"/>
              </a:lnSpc>
            </a:pPr>
            <a:r>
              <a:rPr lang="en-US" b="false" i="false" strike="noStrike" u="none" sz="1200">
                <a:solidFill>
                  <a:srgbClr val="505050"/>
                </a:solidFill>
                <a:latin typeface="Noto Sans SC"/>
                <a:ea typeface="Noto Sans SC"/>
                <a:cs typeface="Noto Sans SC"/>
                <a:sym typeface="Noto Sans SC"/>
              </a:rPr>
              <a:t>Perform a spatial join to link business license points to the commercial parcels.</a:t>
            </a:r>
          </a:p>
        </p:txBody>
      </p:sp>
      <p:sp>
        <p:nvSpPr>
          <p:cNvPr name="AutoShape 19" id="19"/>
          <p:cNvSpPr/>
          <p:nvPr/>
        </p:nvSpPr>
        <p:spPr>
          <a:xfrm rot="0" flipH="false" flipV="false">
            <a:off x="736600" y="1397000"/>
            <a:ext cx="3378200" cy="4508500"/>
          </a:xfrm>
          <a:prstGeom prst="roundRect">
            <a:avLst>
              <a:gd name="adj" fmla="val 0"/>
            </a:avLst>
          </a:prstGeom>
          <a:solidFill>
            <a:srgbClr val="FECE5C">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901700" y="2921000"/>
            <a:ext cx="3048000" cy="1524000"/>
          </a:xfrm>
          <a:prstGeom prst="rect">
            <a:avLst/>
          </a:prstGeom>
          <a:noFill/>
          <a:ln w="12700" cmpd="sng" cap="flat">
            <a:noFill/>
            <a:prstDash val="solid"/>
            <a:round/>
          </a:ln>
        </p:spPr>
        <p:txBody>
          <a:bodyPr anchor="ctr" rtlCol="false" anchorCtr="false" vert="horz" wrap="square" lIns="88900" rIns="88900" tIns="50800" bIns="50800"/>
          <a:lstStyle/>
          <a:p>
            <a:pPr algn="ctr" indent="0">
              <a:lnSpc>
                <a:spcPct val="108333"/>
              </a:lnSpc>
              <a:defRPr/>
            </a:pPr>
            <a:r>
              <a:rPr lang="en-US" b="true" i="false" strike="noStrike" u="none" sz="3200">
                <a:solidFill>
                  <a:srgbClr val="000000"/>
                </a:solidFill>
                <a:latin typeface="Calibri"/>
                <a:ea typeface="Calibri"/>
                <a:cs typeface="Calibri"/>
                <a:sym typeface="Calibri"/>
              </a:rPr>
              <a:t>Part 3</a:t>
            </a:r>
            <a:r>
              <a:rPr lang="en-US" b="false" i="false" strike="noStrike" u="none" sz="1600">
                <a:solidFill>
                  <a:srgbClr val="000000"/>
                </a:solidFill>
                <a:latin typeface="Calibri"/>
                <a:ea typeface="Calibri"/>
                <a:cs typeface="Calibri"/>
                <a:sym typeface="Calibri"/>
              </a:rPr>
              <a:t/>
            </a:r>
            <a:endParaRPr lang="en-US" sz="1100"/>
          </a:p>
          <a:p>
            <a:pPr algn="ctr" indent="0">
              <a:lnSpc>
                <a:spcPct val="108333"/>
              </a:lnSpc>
            </a:pPr>
            <a:r>
              <a:rPr lang="en-US" b="false" i="false" strike="noStrike" u="none" sz="2000">
                <a:solidFill>
                  <a:srgbClr val="000000"/>
                </a:solidFill>
                <a:latin typeface="Calibri"/>
                <a:ea typeface="Calibri"/>
                <a:cs typeface="Calibri"/>
                <a:sym typeface="Calibri"/>
              </a:rPr>
              <a:t>Combination Workflow</a:t>
            </a:r>
          </a:p>
        </p:txBody>
      </p:sp>
      <p:pic>
        <p:nvPicPr>
          <p:cNvPr name="Picture 21" id="21"/>
          <p:cNvPicPr>
            <a:picLocks noChangeAspect="true"/>
          </p:cNvPicPr>
          <p:nvPr/>
        </p:nvPicPr>
        <p:blipFill>
          <a:blip r:embed="rId3"/>
          <a:srcRect l="0" r="0" t="56" b="56"/>
          <a:stretch>
            <a:fillRect/>
          </a:stretch>
        </p:blipFill>
        <p:spPr>
          <a:xfrm rot="0" flipH="false" flipV="false">
            <a:off x="0" y="2070100"/>
            <a:ext cx="4292600" cy="2946400"/>
          </a:xfrm>
          <a:prstGeom prst="rect">
            <a:avLst/>
          </a:prstGeom>
          <a:noFill/>
          <a:ln w="25400" cmpd="sng" cap="flat">
            <a:noFill/>
            <a:prstDash val="solid"/>
            <a:round/>
          </a:ln>
        </p:spPr>
      </p:pic>
      <p:sp>
        <p:nvSpPr>
          <p:cNvPr name="AutoShape 22" id="22"/>
          <p:cNvSpPr/>
          <p:nvPr/>
        </p:nvSpPr>
        <p:spPr>
          <a:xfrm rot="0" flipH="false" flipV="false">
            <a:off x="596900" y="127000"/>
            <a:ext cx="10515600" cy="1016000"/>
          </a:xfrm>
          <a:prstGeom prst="rect">
            <a:avLst/>
          </a:prstGeom>
          <a:noFill/>
          <a:ln w="12700" cmpd="sng" cap="flat">
            <a:noFill/>
            <a:prstDash val="solid"/>
            <a:round/>
          </a:ln>
        </p:spPr>
        <p:txBody>
          <a:bodyPr anchor="ctr" rtlCol="false" anchorCtr="false" vert="horz" wrap="square" lIns="88900" rIns="88900" tIns="50800" bIns="50800"/>
          <a:lstStyle/>
          <a:p>
            <a:pPr algn="ctr" indent="0">
              <a:lnSpc>
                <a:spcPct val="91666"/>
              </a:lnSpc>
              <a:defRPr/>
            </a:pPr>
            <a:r>
              <a:rPr lang="en-US" b="true" i="false" strike="noStrike" u="none" sz="3600">
                <a:solidFill>
                  <a:srgbClr val="000000"/>
                </a:solidFill>
                <a:latin typeface="Calibri"/>
                <a:ea typeface="Calibri"/>
                <a:cs typeface="Calibri"/>
                <a:sym typeface="Calibri"/>
              </a:rPr>
              <a:t>Data Integration &amp; Processing</a:t>
            </a:r>
            <a:endParaRPr lang="en-US" sz="1100"/>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058400" y="4673600"/>
            <a:ext cx="3759200" cy="3759200"/>
          </a:xfrm>
          <a:prstGeom prst="ellipse">
            <a:avLst/>
          </a:prstGeom>
          <a:solidFill>
            <a:srgbClr val="FFC844">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 id="3"/>
          <p:cNvPicPr>
            <a:picLocks noChangeAspect="true"/>
          </p:cNvPicPr>
          <p:nvPr/>
        </p:nvPicPr>
        <p:blipFill>
          <a:blip r:embed="rId2"/>
          <a:srcRect l="0" r="0" t="469" b="469"/>
          <a:stretch>
            <a:fillRect/>
          </a:stretch>
        </p:blipFill>
        <p:spPr>
          <a:xfrm rot="0" flipH="false" flipV="false">
            <a:off x="520700" y="279400"/>
            <a:ext cx="2552700" cy="355600"/>
          </a:xfrm>
          <a:prstGeom prst="rect">
            <a:avLst/>
          </a:prstGeom>
          <a:noFill/>
          <a:ln w="25400" cmpd="sng" cap="flat">
            <a:noFill/>
            <a:prstDash val="solid"/>
            <a:round/>
          </a:ln>
        </p:spPr>
      </p:pic>
      <p:sp>
        <p:nvSpPr>
          <p:cNvPr name="AutoShape 4" id="4"/>
          <p:cNvSpPr/>
          <p:nvPr/>
        </p:nvSpPr>
        <p:spPr>
          <a:xfrm rot="0" flipH="false" flipV="false">
            <a:off x="762000" y="876300"/>
            <a:ext cx="10668000" cy="5588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2F4F4F"/>
                </a:solidFill>
                <a:latin typeface="Poppins"/>
                <a:ea typeface="Poppins"/>
                <a:cs typeface="Poppins"/>
                <a:sym typeface="Poppins"/>
              </a:rPr>
              <a:t>Part 3. Combination Workflow (Step 1/2/3)</a:t>
            </a:r>
            <a:endParaRPr lang="en-US" sz="1100"/>
          </a:p>
        </p:txBody>
      </p:sp>
      <p:cxnSp>
        <p:nvCxnSpPr>
          <p:cNvPr name="Connector 5" id="5"/>
          <p:cNvCxnSpPr/>
          <p:nvPr/>
        </p:nvCxnSpPr>
        <p:spPr>
          <a:xfrm rot="-4092" flipH="false" flipV="false">
            <a:off x="762004" y="1581150"/>
            <a:ext cx="10668000" cy="12700"/>
          </a:xfrm>
          <a:prstGeom prst="straightConnector1">
            <a:avLst/>
          </a:prstGeom>
          <a:solidFill>
            <a:srgbClr val="DEE0E3">
              <a:alpha val="100000"/>
            </a:srgbClr>
          </a:solidFill>
          <a:ln w="12700" cmpd="sng" cap="flat">
            <a:solidFill>
              <a:srgbClr val="2F4F4F">
                <a:alpha val="30000"/>
              </a:srgbClr>
            </a:solidFill>
            <a:prstDash val="solid"/>
            <a:round/>
            <a:headEnd type="none" w="med" len="med"/>
            <a:tailEnd type="none" w="med" len="med"/>
          </a:ln>
        </p:spPr>
      </p:cxnSp>
      <p:sp>
        <p:nvSpPr>
          <p:cNvPr name="AutoShape 6" id="6"/>
          <p:cNvSpPr/>
          <p:nvPr/>
        </p:nvSpPr>
        <p:spPr>
          <a:xfrm rot="0" flipH="false" flipV="false">
            <a:off x="762000" y="2032000"/>
            <a:ext cx="5080000" cy="508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400">
                <a:solidFill>
                  <a:srgbClr val="2F4F4F"/>
                </a:solidFill>
                <a:latin typeface="Poppins"/>
                <a:ea typeface="Poppins"/>
                <a:cs typeface="Poppins"/>
                <a:sym typeface="Poppins"/>
              </a:rPr>
              <a:t>Step 1: Filtering PINs by Commercial Classification</a:t>
            </a:r>
            <a:endParaRPr lang="en-US" sz="1100"/>
          </a:p>
        </p:txBody>
      </p:sp>
      <p:sp>
        <p:nvSpPr>
          <p:cNvPr name="AutoShape 7" id="7"/>
          <p:cNvSpPr/>
          <p:nvPr/>
        </p:nvSpPr>
        <p:spPr>
          <a:xfrm rot="0" flipH="false" flipV="false">
            <a:off x="762000" y="3048000"/>
            <a:ext cx="4826000" cy="2286000"/>
          </a:xfrm>
          <a:prstGeom prst="roundRect">
            <a:avLst>
              <a:gd name="adj" fmla="val 0"/>
            </a:avLst>
          </a:prstGeom>
          <a:solidFill>
            <a:srgbClr val="F7F9FA">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3302000"/>
            <a:ext cx="406400" cy="406400"/>
          </a:xfrm>
          <a:prstGeom prst="rect">
            <a:avLst/>
          </a:prstGeom>
        </p:spPr>
      </p:pic>
      <p:sp>
        <p:nvSpPr>
          <p:cNvPr name="AutoShape 9" id="9"/>
          <p:cNvSpPr/>
          <p:nvPr/>
        </p:nvSpPr>
        <p:spPr>
          <a:xfrm rot="0" flipH="false" flipV="false">
            <a:off x="1651000" y="3302000"/>
            <a:ext cx="3556000" cy="381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2F4F4F"/>
                </a:solidFill>
                <a:latin typeface="Poppins"/>
                <a:ea typeface="Poppins"/>
                <a:cs typeface="Poppins"/>
                <a:sym typeface="Poppins"/>
              </a:rPr>
              <a:t>Input</a:t>
            </a:r>
            <a:endParaRPr lang="en-US" sz="1100"/>
          </a:p>
        </p:txBody>
      </p:sp>
      <p:sp>
        <p:nvSpPr>
          <p:cNvPr name="AutoShape 10" id="10"/>
          <p:cNvSpPr/>
          <p:nvPr/>
        </p:nvSpPr>
        <p:spPr>
          <a:xfrm rot="0" flipH="false" flipV="false">
            <a:off x="1016000" y="4191000"/>
            <a:ext cx="4318000" cy="1016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16666"/>
              </a:lnSpc>
              <a:defRPr/>
            </a:pPr>
            <a:r>
              <a:rPr lang="en-US" b="false" i="false" strike="noStrike" u="none" sz="1500">
                <a:solidFill>
                  <a:srgbClr val="505050"/>
                </a:solidFill>
                <a:latin typeface="Poppins"/>
                <a:ea typeface="Poppins"/>
                <a:cs typeface="Poppins"/>
                <a:sym typeface="Poppins"/>
              </a:rPr>
              <a:t>• Assessor Assessed Values dataset</a:t>
            </a:r>
            <a:endParaRPr lang="en-US" sz="1100"/>
          </a:p>
        </p:txBody>
      </p:sp>
      <p:sp>
        <p:nvSpPr>
          <p:cNvPr name="AutoShape 11" id="11"/>
          <p:cNvSpPr/>
          <p:nvPr/>
        </p:nvSpPr>
        <p:spPr>
          <a:xfrm rot="0" flipH="false" flipV="false">
            <a:off x="6350000" y="3048000"/>
            <a:ext cx="4826000" cy="2286000"/>
          </a:xfrm>
          <a:prstGeom prst="roundRect">
            <a:avLst>
              <a:gd name="adj" fmla="val 0"/>
            </a:avLst>
          </a:prstGeom>
          <a:solidFill>
            <a:srgbClr val="F7F9FA">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604000" y="3302000"/>
            <a:ext cx="406400" cy="406400"/>
          </a:xfrm>
          <a:prstGeom prst="rect">
            <a:avLst/>
          </a:prstGeom>
        </p:spPr>
      </p:pic>
      <p:sp>
        <p:nvSpPr>
          <p:cNvPr name="AutoShape 13" id="13"/>
          <p:cNvSpPr/>
          <p:nvPr/>
        </p:nvSpPr>
        <p:spPr>
          <a:xfrm rot="0" flipH="false" flipV="false">
            <a:off x="7239000" y="3302000"/>
            <a:ext cx="3556000" cy="381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2F4F4F"/>
                </a:solidFill>
                <a:latin typeface="Poppins"/>
                <a:ea typeface="Poppins"/>
                <a:cs typeface="Poppins"/>
                <a:sym typeface="Poppins"/>
              </a:rPr>
              <a:t>Goal</a:t>
            </a:r>
            <a:endParaRPr lang="en-US" sz="1100"/>
          </a:p>
        </p:txBody>
      </p:sp>
      <p:sp>
        <p:nvSpPr>
          <p:cNvPr name="AutoShape 14" id="14"/>
          <p:cNvSpPr/>
          <p:nvPr/>
        </p:nvSpPr>
        <p:spPr>
          <a:xfrm rot="0" flipH="false" flipV="false">
            <a:off x="6604000" y="4191000"/>
            <a:ext cx="4318000" cy="1270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08333"/>
              </a:lnSpc>
              <a:defRPr/>
            </a:pPr>
            <a:r>
              <a:rPr lang="en-US" b="false" i="false" strike="noStrike" u="none" sz="1400">
                <a:solidFill>
                  <a:srgbClr val="505050"/>
                </a:solidFill>
                <a:latin typeface="Poppins"/>
                <a:ea typeface="Poppins"/>
                <a:cs typeface="Poppins"/>
                <a:sym typeface="Poppins"/>
              </a:rPr>
              <a:t>• Keep only records whose class belongs to the selected commercial list.</a:t>
            </a:r>
            <a:r>
              <a:rPr lang="en-US" b="false" i="false" strike="noStrike" u="none" sz="1400">
                <a:solidFill>
                  <a:srgbClr val="505050"/>
                </a:solidFill>
                <a:latin typeface="Poppins"/>
                <a:ea typeface="Poppins"/>
                <a:cs typeface="Poppins"/>
                <a:sym typeface="Poppins"/>
              </a:rPr>
              <a:t/>
            </a:r>
            <a:endParaRPr lang="en-US" sz="1100"/>
          </a:p>
          <a:p>
            <a:pPr algn="ctr" indent="0">
              <a:lnSpc>
                <a:spcPct val="108333"/>
              </a:lnSpc>
            </a:pPr>
            <a:r>
              <a:rPr lang="en-US" b="false" i="false" strike="noStrike" u="none" sz="1400">
                <a:solidFill>
                  <a:srgbClr val="505050"/>
                </a:solidFill>
                <a:latin typeface="Poppins"/>
                <a:ea typeface="Poppins"/>
                <a:cs typeface="Poppins"/>
                <a:sym typeface="Poppins"/>
              </a:rPr>
              <a:t>• Build a clean mapping between raw PIN, class, and normalized pin10_key.</a:t>
            </a:r>
          </a:p>
        </p:txBody>
      </p:sp>
      <p:cxnSp>
        <p:nvCxnSpPr>
          <p:cNvPr name="Connector 15" id="15"/>
          <p:cNvCxnSpPr/>
          <p:nvPr/>
        </p:nvCxnSpPr>
        <p:spPr>
          <a:xfrm rot="-4092" flipH="false" flipV="false">
            <a:off x="762004" y="5835650"/>
            <a:ext cx="10668000" cy="12700"/>
          </a:xfrm>
          <a:prstGeom prst="straightConnector1">
            <a:avLst/>
          </a:prstGeom>
          <a:solidFill>
            <a:srgbClr val="DEE0E3">
              <a:alpha val="100000"/>
            </a:srgbClr>
          </a:solidFill>
          <a:ln w="12700" cmpd="sng" cap="flat">
            <a:solidFill>
              <a:srgbClr val="2F4F4F">
                <a:alpha val="30000"/>
              </a:srgbClr>
            </a:solidFill>
            <a:prstDash val="solid"/>
            <a:round/>
            <a:headEnd type="none" w="med" len="med"/>
            <a:tailEnd type="none" w="med" len="med"/>
          </a:ln>
        </p:spPr>
      </p:cxn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058400" y="4673600"/>
            <a:ext cx="3759200" cy="3759200"/>
          </a:xfrm>
          <a:prstGeom prst="ellipse">
            <a:avLst/>
          </a:prstGeom>
          <a:solidFill>
            <a:srgbClr val="FFC844">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 id="3"/>
          <p:cNvPicPr>
            <a:picLocks noChangeAspect="true"/>
          </p:cNvPicPr>
          <p:nvPr/>
        </p:nvPicPr>
        <p:blipFill>
          <a:blip r:embed="rId2"/>
          <a:srcRect l="0" r="0" t="469" b="469"/>
          <a:stretch>
            <a:fillRect/>
          </a:stretch>
        </p:blipFill>
        <p:spPr>
          <a:xfrm rot="0" flipH="false" flipV="false">
            <a:off x="520700" y="279400"/>
            <a:ext cx="2552700" cy="355600"/>
          </a:xfrm>
          <a:prstGeom prst="rect">
            <a:avLst/>
          </a:prstGeom>
          <a:noFill/>
          <a:ln w="25400" cmpd="sng" cap="flat">
            <a:noFill/>
            <a:prstDash val="solid"/>
            <a:round/>
          </a:ln>
        </p:spPr>
      </p:pic>
      <p:sp>
        <p:nvSpPr>
          <p:cNvPr name="AutoShape 4" id="4"/>
          <p:cNvSpPr/>
          <p:nvPr/>
        </p:nvSpPr>
        <p:spPr>
          <a:xfrm rot="0" flipH="false" flipV="false">
            <a:off x="749300" y="838200"/>
            <a:ext cx="10668000" cy="5588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2F4F4F"/>
                </a:solidFill>
                <a:latin typeface="Poppins"/>
                <a:ea typeface="Poppins"/>
                <a:cs typeface="Poppins"/>
                <a:sym typeface="Poppins"/>
              </a:rPr>
              <a:t>Part 3. Combination Workflow (Step 1/2/3)</a:t>
            </a:r>
            <a:endParaRPr lang="en-US" sz="1100"/>
          </a:p>
        </p:txBody>
      </p:sp>
      <p:cxnSp>
        <p:nvCxnSpPr>
          <p:cNvPr name="Connector 5" id="5"/>
          <p:cNvCxnSpPr/>
          <p:nvPr/>
        </p:nvCxnSpPr>
        <p:spPr>
          <a:xfrm rot="-4092" flipH="false" flipV="false">
            <a:off x="749304" y="1593850"/>
            <a:ext cx="10668000" cy="12700"/>
          </a:xfrm>
          <a:prstGeom prst="straightConnector1">
            <a:avLst/>
          </a:prstGeom>
          <a:solidFill>
            <a:srgbClr val="DEE0E3">
              <a:alpha val="100000"/>
            </a:srgbClr>
          </a:solidFill>
          <a:ln w="12700" cmpd="sng" cap="flat">
            <a:solidFill>
              <a:srgbClr val="2F4F4F">
                <a:alpha val="100000"/>
              </a:srgbClr>
            </a:solidFill>
            <a:prstDash val="solid"/>
            <a:round/>
            <a:headEnd type="none" w="med" len="med"/>
            <a:tailEnd type="none" w="med" len="med"/>
          </a:ln>
        </p:spPr>
      </p:cxnSp>
      <p:sp>
        <p:nvSpPr>
          <p:cNvPr name="AutoShape 6" id="6"/>
          <p:cNvSpPr/>
          <p:nvPr/>
        </p:nvSpPr>
        <p:spPr>
          <a:xfrm rot="0" flipH="false" flipV="false">
            <a:off x="749300" y="1905000"/>
            <a:ext cx="5334000" cy="508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2F4F4F"/>
                </a:solidFill>
                <a:latin typeface="Poppins"/>
                <a:ea typeface="Poppins"/>
                <a:cs typeface="Poppins"/>
                <a:sym typeface="Poppins"/>
              </a:rPr>
              <a:t>Step 1-A. Build Filtered PIN-Class Records</a:t>
            </a:r>
            <a:endParaRPr lang="en-US" sz="1100"/>
          </a:p>
        </p:txBody>
      </p:sp>
      <p:sp>
        <p:nvSpPr>
          <p:cNvPr name="AutoShape 7" id="7"/>
          <p:cNvSpPr/>
          <p:nvPr/>
        </p:nvSpPr>
        <p:spPr>
          <a:xfrm rot="0" flipH="false" flipV="false">
            <a:off x="749300" y="2667000"/>
            <a:ext cx="5207000" cy="2286000"/>
          </a:xfrm>
          <a:prstGeom prst="roundRect">
            <a:avLst>
              <a:gd name="adj" fmla="val 0"/>
            </a:avLst>
          </a:prstGeom>
          <a:solidFill>
            <a:srgbClr val="F5F7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952500" y="2857500"/>
            <a:ext cx="4699000" cy="381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Poppins"/>
                <a:ea typeface="Poppins"/>
                <a:cs typeface="Poppins"/>
                <a:sym typeface="Poppins"/>
              </a:rPr>
              <a:t>⚙️ Processing Logic</a:t>
            </a:r>
            <a:endParaRPr lang="en-US" sz="1100"/>
          </a:p>
        </p:txBody>
      </p:sp>
      <p:sp>
        <p:nvSpPr>
          <p:cNvPr name="AutoShape 9" id="9"/>
          <p:cNvSpPr/>
          <p:nvPr/>
        </p:nvSpPr>
        <p:spPr>
          <a:xfrm rot="0" flipH="false" flipV="false">
            <a:off x="952500" y="3429000"/>
            <a:ext cx="4699000" cy="1397000"/>
          </a:xfrm>
          <a:prstGeom prst="roundRect">
            <a:avLst>
              <a:gd name="adj" fmla="val 0"/>
            </a:avLst>
          </a:prstGeom>
          <a:noFill/>
          <a:ln w="25400" cmpd="sng" cap="flat">
            <a:noFill/>
            <a:prstDash val="solid"/>
            <a:round/>
          </a:ln>
        </p:spPr>
        <p:txBody>
          <a:bodyPr anchor="t" rtlCol="false" anchorCtr="false" vert="horz" wrap="square" lIns="0" rIns="0" tIns="0" bIns="0"/>
          <a:lstStyle/>
          <a:p>
            <a:pPr algn="l" indent="0">
              <a:lnSpc>
                <a:spcPct val="108333"/>
              </a:lnSpc>
              <a:defRPr/>
            </a:pPr>
            <a:r>
              <a:rPr lang="en-US" b="false" i="false" strike="noStrike" u="none" sz="1300">
                <a:solidFill>
                  <a:srgbClr val="334155"/>
                </a:solidFill>
                <a:latin typeface="Poppins"/>
                <a:ea typeface="Poppins"/>
                <a:cs typeface="Poppins"/>
                <a:sym typeface="Poppins"/>
              </a:rPr>
              <a:t>• Support both local CSV mode and online API mode</a:t>
            </a:r>
            <a:r>
              <a:rPr lang="en-US" b="false" i="false" strike="noStrike" u="none" sz="1300">
                <a:solidFill>
                  <a:srgbClr val="334155"/>
                </a:solidFill>
                <a:latin typeface="Poppins"/>
                <a:ea typeface="Poppins"/>
                <a:cs typeface="Poppins"/>
                <a:sym typeface="Poppins"/>
              </a:rPr>
              <a:t/>
            </a:r>
            <a:endParaRPr lang="en-US" sz="1100"/>
          </a:p>
          <a:p>
            <a:pPr algn="l" indent="0">
              <a:lnSpc>
                <a:spcPct val="108333"/>
              </a:lnSpc>
            </a:pPr>
            <a:r>
              <a:rPr lang="en-US" b="false" i="false" strike="noStrike" u="none" sz="1300">
                <a:solidFill>
                  <a:srgbClr val="334155"/>
                </a:solidFill>
                <a:latin typeface="Poppins"/>
                <a:ea typeface="Poppins"/>
                <a:cs typeface="Poppins"/>
                <a:sym typeface="Poppins"/>
              </a:rPr>
              <a:t>• Read only needed columns when processing large files</a:t>
            </a:r>
            <a:r>
              <a:rPr lang="en-US" b="false" i="false" strike="noStrike" u="none" sz="1300">
                <a:solidFill>
                  <a:srgbClr val="334155"/>
                </a:solidFill>
                <a:latin typeface="Poppins"/>
                <a:ea typeface="Poppins"/>
                <a:cs typeface="Poppins"/>
                <a:sym typeface="Poppins"/>
              </a:rPr>
              <a:t/>
            </a:r>
          </a:p>
          <a:p>
            <a:pPr algn="l" indent="0">
              <a:lnSpc>
                <a:spcPct val="108333"/>
              </a:lnSpc>
            </a:pPr>
            <a:r>
              <a:rPr lang="en-US" b="false" i="false" strike="noStrike" u="none" sz="1300">
                <a:solidFill>
                  <a:srgbClr val="334155"/>
                </a:solidFill>
                <a:latin typeface="Poppins"/>
                <a:ea typeface="Poppins"/>
                <a:cs typeface="Poppins"/>
                <a:sym typeface="Poppins"/>
              </a:rPr>
              <a:t>• Normalize class codes into digit-only comparison values</a:t>
            </a:r>
            <a:r>
              <a:rPr lang="en-US" b="false" i="false" strike="noStrike" u="none" sz="1300">
                <a:solidFill>
                  <a:srgbClr val="334155"/>
                </a:solidFill>
                <a:latin typeface="Poppins"/>
                <a:ea typeface="Poppins"/>
                <a:cs typeface="Poppins"/>
                <a:sym typeface="Poppins"/>
              </a:rPr>
              <a:t/>
            </a:r>
          </a:p>
          <a:p>
            <a:pPr algn="l" indent="0">
              <a:lnSpc>
                <a:spcPct val="108333"/>
              </a:lnSpc>
            </a:pPr>
            <a:r>
              <a:rPr lang="en-US" b="false" i="false" strike="noStrike" u="none" sz="1300">
                <a:solidFill>
                  <a:srgbClr val="334155"/>
                </a:solidFill>
                <a:latin typeface="Poppins"/>
                <a:ea typeface="Poppins"/>
                <a:cs typeface="Poppins"/>
                <a:sym typeface="Poppins"/>
              </a:rPr>
              <a:t>• Normalize PIN values into join-ready pin10_key values</a:t>
            </a:r>
            <a:r>
              <a:rPr lang="en-US" b="false" i="false" strike="noStrike" u="none" sz="1300">
                <a:solidFill>
                  <a:srgbClr val="334155"/>
                </a:solidFill>
                <a:latin typeface="Poppins"/>
                <a:ea typeface="Poppins"/>
                <a:cs typeface="Poppins"/>
                <a:sym typeface="Poppins"/>
              </a:rPr>
              <a:t/>
            </a:r>
          </a:p>
          <a:p>
            <a:pPr algn="l" indent="0">
              <a:lnSpc>
                <a:spcPct val="108333"/>
              </a:lnSpc>
            </a:pPr>
            <a:r>
              <a:rPr lang="en-US" b="false" i="false" strike="noStrike" u="none" sz="1300">
                <a:solidFill>
                  <a:srgbClr val="334155"/>
                </a:solidFill>
                <a:latin typeface="Poppins"/>
                <a:ea typeface="Poppins"/>
                <a:cs typeface="Poppins"/>
                <a:sym typeface="Poppins"/>
              </a:rPr>
              <a:t>• Export deduplicated records in chunks when needed</a:t>
            </a:r>
          </a:p>
        </p:txBody>
      </p:sp>
      <p:sp>
        <p:nvSpPr>
          <p:cNvPr name="AutoShape 10" id="10"/>
          <p:cNvSpPr/>
          <p:nvPr/>
        </p:nvSpPr>
        <p:spPr>
          <a:xfrm rot="0" flipH="false" flipV="false">
            <a:off x="749300" y="5080000"/>
            <a:ext cx="5207000" cy="1397000"/>
          </a:xfrm>
          <a:prstGeom prst="roundRect">
            <a:avLst>
              <a:gd name="adj" fmla="val 0"/>
            </a:avLst>
          </a:prstGeom>
          <a:solidFill>
            <a:srgbClr val="FFF7ED">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952500" y="5270500"/>
            <a:ext cx="4699000" cy="381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B45309"/>
                </a:solidFill>
                <a:latin typeface="Poppins"/>
                <a:ea typeface="Poppins"/>
                <a:cs typeface="Poppins"/>
                <a:sym typeface="Poppins"/>
              </a:rPr>
              <a:t>💡 Why This Matters</a:t>
            </a:r>
            <a:endParaRPr lang="en-US" sz="1100"/>
          </a:p>
        </p:txBody>
      </p:sp>
      <p:sp>
        <p:nvSpPr>
          <p:cNvPr name="AutoShape 12" id="12"/>
          <p:cNvSpPr/>
          <p:nvPr/>
        </p:nvSpPr>
        <p:spPr>
          <a:xfrm rot="0" flipH="false" flipV="false">
            <a:off x="952500" y="5715000"/>
            <a:ext cx="4699000" cy="635000"/>
          </a:xfrm>
          <a:prstGeom prst="roundRect">
            <a:avLst>
              <a:gd name="adj" fmla="val 0"/>
            </a:avLst>
          </a:prstGeom>
          <a:noFill/>
          <a:ln w="25400" cmpd="sng" cap="flat">
            <a:noFill/>
            <a:prstDash val="solid"/>
            <a:round/>
          </a:ln>
        </p:spPr>
        <p:txBody>
          <a:bodyPr anchor="t" rtlCol="false" anchorCtr="false" vert="horz" wrap="square" lIns="0" rIns="0" tIns="0" bIns="0"/>
          <a:lstStyle/>
          <a:p>
            <a:pPr algn="l" indent="0">
              <a:lnSpc>
                <a:spcPct val="116666"/>
              </a:lnSpc>
              <a:defRPr/>
            </a:pPr>
            <a:r>
              <a:rPr lang="en-US" b="true" i="false" strike="noStrike" u="none" sz="1400">
                <a:solidFill>
                  <a:srgbClr val="431407"/>
                </a:solidFill>
                <a:latin typeface="Poppins"/>
                <a:ea typeface="Poppins"/>
                <a:cs typeface="Poppins"/>
                <a:sym typeface="Poppins"/>
              </a:rPr>
              <a:t>This is the bridge between assessor classification and parcel geometry.</a:t>
            </a:r>
            <a:endParaRPr lang="en-US" sz="1100"/>
          </a:p>
        </p:txBody>
      </p:sp>
      <p:sp>
        <p:nvSpPr>
          <p:cNvPr name="AutoShape 13" id="13"/>
          <p:cNvSpPr/>
          <p:nvPr/>
        </p:nvSpPr>
        <p:spPr>
          <a:xfrm rot="0" flipH="false" flipV="false">
            <a:off x="6350000" y="2159000"/>
            <a:ext cx="5207000" cy="4318000"/>
          </a:xfrm>
          <a:prstGeom prst="roundRect">
            <a:avLst>
              <a:gd name="adj" fmla="val 0"/>
            </a:avLst>
          </a:prstGeom>
          <a:solidFill>
            <a:srgbClr val="F0FDF4">
              <a:alpha val="100000"/>
            </a:srgbClr>
          </a:solidFill>
          <a:ln w="25400" cmpd="sng" cap="flat">
            <a:solidFill>
              <a:srgbClr val="BBF7D0">
                <a:alpha val="10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6731000" y="2921000"/>
            <a:ext cx="1016000" cy="1016000"/>
          </a:xfrm>
          <a:prstGeom prst="rect">
            <a:avLst/>
          </a:prstGeom>
        </p:spPr>
      </p:pic>
      <p:sp>
        <p:nvSpPr>
          <p:cNvPr name="AutoShape 15" id="15"/>
          <p:cNvSpPr/>
          <p:nvPr/>
        </p:nvSpPr>
        <p:spPr>
          <a:xfrm rot="0" flipH="false" flipV="false">
            <a:off x="8001000" y="2921000"/>
            <a:ext cx="3175000" cy="1143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15803D"/>
                </a:solidFill>
                <a:latin typeface="Poppins"/>
                <a:ea typeface="Poppins"/>
                <a:cs typeface="Poppins"/>
                <a:sym typeface="Poppins"/>
              </a:rPr>
              <a:t>Data Integration</a:t>
            </a:r>
            <a:r>
              <a:rPr lang="en-US" b="false" i="false" strike="noStrike" u="none" sz="1600">
                <a:solidFill>
                  <a:srgbClr val="1F2329"/>
                </a:solidFill>
                <a:latin typeface="Poppins"/>
                <a:ea typeface="Poppins"/>
                <a:cs typeface="Poppins"/>
                <a:sym typeface="Poppins"/>
              </a:rPr>
              <a:t/>
            </a:r>
            <a:endParaRPr lang="en-US" sz="1100"/>
          </a:p>
          <a:p>
            <a:pPr algn="l" indent="0">
              <a:lnSpc>
                <a:spcPct val="125000"/>
              </a:lnSpc>
            </a:pPr>
            <a:r>
              <a:rPr lang="en-US" b="false" i="false" strike="noStrike" u="none" sz="1400">
                <a:solidFill>
                  <a:srgbClr val="166534"/>
                </a:solidFill>
                <a:latin typeface="Poppins"/>
                <a:ea typeface="Poppins"/>
                <a:cs typeface="Poppins"/>
                <a:sym typeface="Poppins"/>
              </a:rPr>
              <a:t>Standardizing and filtering the core datasets for seamless spatial joining.</a:t>
            </a:r>
          </a:p>
        </p:txBody>
      </p:sp>
      <p:sp>
        <p:nvSpPr>
          <p:cNvPr name="AutoShape 16" id="16"/>
          <p:cNvSpPr/>
          <p:nvPr/>
        </p:nvSpPr>
        <p:spPr>
          <a:xfrm rot="0" flipH="false" flipV="false">
            <a:off x="6731000" y="4318000"/>
            <a:ext cx="4445000" cy="1651000"/>
          </a:xfrm>
          <a:prstGeom prst="roundRect">
            <a:avLst>
              <a:gd name="adj" fmla="val 0"/>
            </a:avLst>
          </a:prstGeom>
          <a:noFill/>
          <a:ln w="254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400">
                <a:solidFill>
                  <a:srgbClr val="374151"/>
                </a:solidFill>
                <a:latin typeface="Poppins"/>
                <a:ea typeface="Poppins"/>
                <a:cs typeface="Poppins"/>
                <a:sym typeface="Poppins"/>
              </a:rPr>
              <a:t>By converting raw data into a consistent, analysis-ready format, this step ensures that subsequent spatial operations are both accurate and efficient, linking property attributes to physical location.</a:t>
            </a:r>
            <a:endParaRPr lang="en-US" sz="1100"/>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058400" y="4673600"/>
            <a:ext cx="3759200" cy="3759200"/>
          </a:xfrm>
          <a:prstGeom prst="ellipse">
            <a:avLst/>
          </a:prstGeom>
          <a:solidFill>
            <a:srgbClr val="FFC844">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 id="3"/>
          <p:cNvPicPr>
            <a:picLocks noChangeAspect="true"/>
          </p:cNvPicPr>
          <p:nvPr/>
        </p:nvPicPr>
        <p:blipFill>
          <a:blip r:embed="rId2"/>
          <a:srcRect l="0" r="0" t="469" b="469"/>
          <a:stretch>
            <a:fillRect/>
          </a:stretch>
        </p:blipFill>
        <p:spPr>
          <a:xfrm rot="0" flipH="false" flipV="false">
            <a:off x="520700" y="279400"/>
            <a:ext cx="2552700" cy="355600"/>
          </a:xfrm>
          <a:prstGeom prst="rect">
            <a:avLst/>
          </a:prstGeom>
          <a:noFill/>
          <a:ln w="25400" cmpd="sng" cap="flat">
            <a:noFill/>
            <a:prstDash val="solid"/>
            <a:round/>
          </a:ln>
        </p:spPr>
      </p:pic>
      <p:sp>
        <p:nvSpPr>
          <p:cNvPr name="AutoShape 4" id="4"/>
          <p:cNvSpPr/>
          <p:nvPr/>
        </p:nvSpPr>
        <p:spPr>
          <a:xfrm rot="0" flipH="false" flipV="false">
            <a:off x="749300" y="838200"/>
            <a:ext cx="10668000" cy="558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2F4F4F"/>
                </a:solidFill>
                <a:latin typeface="Poppins"/>
                <a:ea typeface="Poppins"/>
                <a:cs typeface="Poppins"/>
                <a:sym typeface="Poppins"/>
              </a:rPr>
              <a:t>Part 3. Combination Workflow (Step 1/2/3)</a:t>
            </a:r>
            <a:endParaRPr lang="en-US" sz="1100"/>
          </a:p>
        </p:txBody>
      </p:sp>
      <p:cxnSp>
        <p:nvCxnSpPr>
          <p:cNvPr name="Connector 5" id="5"/>
          <p:cNvCxnSpPr/>
          <p:nvPr/>
        </p:nvCxnSpPr>
        <p:spPr>
          <a:xfrm rot="-4092" flipH="false" flipV="false">
            <a:off x="749304" y="1593850"/>
            <a:ext cx="10668000" cy="12700"/>
          </a:xfrm>
          <a:prstGeom prst="straightConnector1">
            <a:avLst/>
          </a:prstGeom>
          <a:solidFill>
            <a:srgbClr val="DEE0E3">
              <a:alpha val="100000"/>
            </a:srgbClr>
          </a:solidFill>
          <a:ln w="12700" cmpd="sng" cap="flat">
            <a:solidFill>
              <a:srgbClr val="2F4F4F">
                <a:alpha val="100000"/>
              </a:srgbClr>
            </a:solidFill>
            <a:prstDash val="solid"/>
            <a:round/>
            <a:headEnd type="none" w="med" len="med"/>
            <a:tailEnd type="none" w="med" len="med"/>
          </a:ln>
        </p:spPr>
      </p:cxnSp>
      <p:sp>
        <p:nvSpPr>
          <p:cNvPr name="AutoShape 6" id="6"/>
          <p:cNvSpPr/>
          <p:nvPr/>
        </p:nvSpPr>
        <p:spPr>
          <a:xfrm rot="0" flipH="false" flipV="false">
            <a:off x="749300" y="1905000"/>
            <a:ext cx="4953000" cy="457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2F4F4F"/>
                </a:solidFill>
                <a:latin typeface="Poppins"/>
                <a:ea typeface="Poppins"/>
                <a:cs typeface="Poppins"/>
                <a:sym typeface="Poppins"/>
              </a:rPr>
              <a:t>Main Outputs</a:t>
            </a:r>
            <a:endParaRPr lang="en-US" sz="1100"/>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749300" y="2667000"/>
            <a:ext cx="355600" cy="355600"/>
          </a:xfrm>
          <a:prstGeom prst="rect">
            <a:avLst/>
          </a:prstGeom>
        </p:spPr>
      </p:pic>
      <p:sp>
        <p:nvSpPr>
          <p:cNvPr name="AutoShape 8" id="8"/>
          <p:cNvSpPr/>
          <p:nvPr/>
        </p:nvSpPr>
        <p:spPr>
          <a:xfrm rot="0" flipH="false" flipV="false">
            <a:off x="1270000" y="2603500"/>
            <a:ext cx="419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329"/>
                </a:solidFill>
                <a:latin typeface="Poppins"/>
                <a:ea typeface="Poppins"/>
                <a:cs typeface="Poppins"/>
                <a:sym typeface="Poppins"/>
              </a:rPr>
              <a:t>Unique filtered PIN-class table</a:t>
            </a:r>
            <a:r>
              <a:rPr lang="en-US" b="false" i="false" strike="noStrike" u="none" sz="1600">
                <a:solidFill>
                  <a:srgbClr val="1F2329"/>
                </a:solidFill>
                <a:latin typeface="Poppins"/>
                <a:ea typeface="Poppins"/>
                <a:cs typeface="Poppins"/>
                <a:sym typeface="Poppins"/>
              </a:rPr>
              <a:t/>
            </a:r>
            <a:endParaRPr lang="en-US" sz="1100"/>
          </a:p>
          <a:p>
            <a:pPr algn="l" indent="0">
              <a:lnSpc>
                <a:spcPct val="125000"/>
              </a:lnSpc>
            </a:pPr>
            <a:r>
              <a:rPr lang="en-US" b="false" i="false" strike="noStrike" u="none" sz="1300">
                <a:solidFill>
                  <a:srgbClr val="646464"/>
                </a:solidFill>
                <a:latin typeface="Poppins"/>
                <a:ea typeface="Poppins"/>
                <a:cs typeface="Poppins"/>
                <a:sym typeface="Poppins"/>
              </a:rPr>
              <a:t>A consolidated dataset with deduplicated records</a:t>
            </a:r>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749300" y="3683000"/>
            <a:ext cx="355600" cy="355600"/>
          </a:xfrm>
          <a:prstGeom prst="rect">
            <a:avLst/>
          </a:prstGeom>
        </p:spPr>
      </p:pic>
      <p:sp>
        <p:nvSpPr>
          <p:cNvPr name="AutoShape 10" id="10"/>
          <p:cNvSpPr/>
          <p:nvPr/>
        </p:nvSpPr>
        <p:spPr>
          <a:xfrm rot="0" flipH="false" flipV="false">
            <a:off x="1270000" y="3619500"/>
            <a:ext cx="419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329"/>
                </a:solidFill>
                <a:latin typeface="Poppins"/>
                <a:ea typeface="Poppins"/>
                <a:cs typeface="Poppins"/>
                <a:sym typeface="Poppins"/>
              </a:rPr>
              <a:t>Class distribution summary</a:t>
            </a:r>
            <a:r>
              <a:rPr lang="en-US" b="false" i="false" strike="noStrike" u="none" sz="1600">
                <a:solidFill>
                  <a:srgbClr val="1F2329"/>
                </a:solidFill>
                <a:latin typeface="Poppins"/>
                <a:ea typeface="Poppins"/>
                <a:cs typeface="Poppins"/>
                <a:sym typeface="Poppins"/>
              </a:rPr>
              <a:t/>
            </a:r>
            <a:endParaRPr lang="en-US" sz="1100"/>
          </a:p>
          <a:p>
            <a:pPr algn="l" indent="0">
              <a:lnSpc>
                <a:spcPct val="125000"/>
              </a:lnSpc>
            </a:pPr>
            <a:r>
              <a:rPr lang="en-US" b="false" i="false" strike="noStrike" u="none" sz="1300">
                <a:solidFill>
                  <a:srgbClr val="646464"/>
                </a:solidFill>
                <a:latin typeface="Poppins"/>
                <a:ea typeface="Poppins"/>
                <a:cs typeface="Poppins"/>
                <a:sym typeface="Poppins"/>
              </a:rPr>
              <a:t>Overview of category counts and percentages</a:t>
            </a:r>
          </a:p>
        </p:txBody>
      </p:sp>
      <p:pic>
        <p:nvPicPr>
          <p:cNvPr name="Picture 11" id="11"/>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749300" y="4826000"/>
            <a:ext cx="355600" cy="355600"/>
          </a:xfrm>
          <a:prstGeom prst="rect">
            <a:avLst/>
          </a:prstGeom>
        </p:spPr>
      </p:pic>
      <p:sp>
        <p:nvSpPr>
          <p:cNvPr name="AutoShape 12" id="12"/>
          <p:cNvSpPr/>
          <p:nvPr/>
        </p:nvSpPr>
        <p:spPr>
          <a:xfrm rot="0" flipH="false" flipV="false">
            <a:off x="1270000" y="4762500"/>
            <a:ext cx="4191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329"/>
                </a:solidFill>
                <a:latin typeface="Poppins"/>
                <a:ea typeface="Poppins"/>
                <a:cs typeface="Poppins"/>
                <a:sym typeface="Poppins"/>
              </a:rPr>
              <a:t>PIN10-level summary</a:t>
            </a:r>
            <a:r>
              <a:rPr lang="en-US" b="false" i="false" strike="noStrike" u="none" sz="1600">
                <a:solidFill>
                  <a:srgbClr val="1F2329"/>
                </a:solidFill>
                <a:latin typeface="Poppins"/>
                <a:ea typeface="Poppins"/>
                <a:cs typeface="Poppins"/>
                <a:sym typeface="Poppins"/>
              </a:rPr>
              <a:t/>
            </a:r>
            <a:endParaRPr lang="en-US" sz="1100"/>
          </a:p>
          <a:p>
            <a:pPr algn="l" indent="0">
              <a:lnSpc>
                <a:spcPct val="125000"/>
              </a:lnSpc>
            </a:pPr>
            <a:r>
              <a:rPr lang="en-US" b="false" i="false" strike="noStrike" u="none" sz="1300">
                <a:solidFill>
                  <a:srgbClr val="646464"/>
                </a:solidFill>
                <a:latin typeface="Poppins"/>
                <a:ea typeface="Poppins"/>
                <a:cs typeface="Poppins"/>
                <a:sym typeface="Poppins"/>
              </a:rPr>
              <a:t>Aggregated view with</a:t>
            </a:r>
            <a:r>
              <a:rPr lang="en-US" b="false" i="true" strike="noStrike" u="none" sz="1300">
                <a:solidFill>
                  <a:srgbClr val="646464"/>
                </a:solidFill>
                <a:latin typeface="Poppins"/>
                <a:ea typeface="Poppins"/>
                <a:cs typeface="Poppins"/>
                <a:sym typeface="Poppins"/>
              </a:rPr>
              <a:t>class_count</a:t>
            </a:r>
            <a:r>
              <a:rPr lang="en-US" b="false" i="false" strike="noStrike" u="none" sz="1300">
                <a:solidFill>
                  <a:srgbClr val="646464"/>
                </a:solidFill>
                <a:latin typeface="Poppins"/>
                <a:ea typeface="Poppins"/>
                <a:cs typeface="Poppins"/>
                <a:sym typeface="Poppins"/>
              </a:rPr>
              <a:t>and</a:t>
            </a:r>
            <a:r>
              <a:rPr lang="en-US" b="false" i="true" strike="noStrike" u="none" sz="1300">
                <a:solidFill>
                  <a:srgbClr val="646464"/>
                </a:solidFill>
                <a:latin typeface="Poppins"/>
                <a:ea typeface="Poppins"/>
                <a:cs typeface="Poppins"/>
                <a:sym typeface="Poppins"/>
              </a:rPr>
              <a:t>class_list</a:t>
            </a:r>
            <a:r>
              <a:rPr lang="en-US" b="false" i="false" strike="noStrike" u="none" sz="1300">
                <a:solidFill>
                  <a:srgbClr val="646464"/>
                </a:solidFill>
                <a:latin typeface="Poppins"/>
                <a:ea typeface="Poppins"/>
                <a:cs typeface="Poppins"/>
                <a:sym typeface="Poppins"/>
              </a:rPr>
              <a:t>for each PIN10</a:t>
            </a:r>
          </a:p>
        </p:txBody>
      </p:sp>
      <p:cxnSp>
        <p:nvCxnSpPr>
          <p:cNvPr name="Connector 13" id="13"/>
          <p:cNvCxnSpPr/>
          <p:nvPr/>
        </p:nvCxnSpPr>
        <p:spPr>
          <a:xfrm rot="5388540" flipH="false" flipV="false">
            <a:off x="4064000" y="3930661"/>
            <a:ext cx="3810000" cy="12700"/>
          </a:xfrm>
          <a:prstGeom prst="straightConnector1">
            <a:avLst/>
          </a:prstGeom>
          <a:solidFill>
            <a:srgbClr val="DEE0E3">
              <a:alpha val="100000"/>
            </a:srgbClr>
          </a:solidFill>
          <a:ln w="12700" cmpd="sng" cap="flat">
            <a:solidFill>
              <a:srgbClr val="2F4F4F">
                <a:alpha val="40000"/>
              </a:srgbClr>
            </a:solidFill>
            <a:prstDash val="dash"/>
            <a:round/>
            <a:headEnd type="none" w="med" len="med"/>
            <a:tailEnd type="none" w="med" len="med"/>
          </a:ln>
        </p:spPr>
      </p:cxnSp>
      <p:sp>
        <p:nvSpPr>
          <p:cNvPr name="AutoShape 14" id="14"/>
          <p:cNvSpPr/>
          <p:nvPr/>
        </p:nvSpPr>
        <p:spPr>
          <a:xfrm rot="0" flipH="false" flipV="false">
            <a:off x="6350000" y="2032000"/>
            <a:ext cx="5080000" cy="4064000"/>
          </a:xfrm>
          <a:prstGeom prst="roundRect">
            <a:avLst>
              <a:gd name="adj" fmla="val 3750"/>
            </a:avLst>
          </a:prstGeom>
          <a:solidFill>
            <a:srgbClr val="F2F8FF">
              <a:alpha val="100000"/>
            </a:srgbClr>
          </a:solidFill>
          <a:ln w="12700" cmpd="sng" cap="flat">
            <a:solidFill>
              <a:srgbClr val="2F4F4F">
                <a:alpha val="15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667500" y="2413000"/>
            <a:ext cx="508000" cy="508000"/>
          </a:xfrm>
          <a:prstGeom prst="rect">
            <a:avLst/>
          </a:prstGeom>
        </p:spPr>
      </p:pic>
      <p:sp>
        <p:nvSpPr>
          <p:cNvPr name="AutoShape 16" id="16"/>
          <p:cNvSpPr/>
          <p:nvPr/>
        </p:nvSpPr>
        <p:spPr>
          <a:xfrm rot="0" flipH="false" flipV="false">
            <a:off x="7366000" y="2413000"/>
            <a:ext cx="3683000" cy="571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2F4F4F"/>
                </a:solidFill>
                <a:latin typeface="Poppins"/>
                <a:ea typeface="Poppins"/>
                <a:cs typeface="Poppins"/>
                <a:sym typeface="Poppins"/>
              </a:rPr>
              <a:t>Teaching Point</a:t>
            </a:r>
            <a:endParaRPr lang="en-US" sz="1100"/>
          </a:p>
        </p:txBody>
      </p:sp>
      <p:sp>
        <p:nvSpPr>
          <p:cNvPr name="AutoShape 17" id="17"/>
          <p:cNvSpPr/>
          <p:nvPr/>
        </p:nvSpPr>
        <p:spPr>
          <a:xfrm rot="0" flipH="false" flipV="false">
            <a:off x="6667500" y="3556000"/>
            <a:ext cx="4445000" cy="2032000"/>
          </a:xfrm>
          <a:prstGeom prst="rect">
            <a:avLst/>
          </a:prstGeom>
          <a:noFill/>
          <a:ln w="12700" cmpd="sng" cap="flat">
            <a:noFill/>
            <a:prstDash val="solid"/>
            <a:round/>
          </a:ln>
        </p:spPr>
        <p:txBody>
          <a:bodyPr anchor="ctr" rtlCol="false" anchorCtr="false" vert="horz" wrap="square" lIns="0" rIns="0" tIns="0" bIns="0"/>
          <a:lstStyle/>
          <a:p>
            <a:pPr algn="l" indent="0">
              <a:lnSpc>
                <a:spcPct val="133333"/>
              </a:lnSpc>
              <a:defRPr/>
            </a:pPr>
            <a:r>
              <a:rPr lang="en-US" b="false" i="false" strike="noStrike" u="none" sz="1700">
                <a:solidFill>
                  <a:srgbClr val="1F2329"/>
                </a:solidFill>
                <a:latin typeface="Poppins"/>
                <a:ea typeface="Poppins"/>
                <a:cs typeface="Poppins"/>
                <a:sym typeface="Poppins"/>
              </a:rPr>
              <a:t>Keep raw filtered records and parcel-level summaries as</a:t>
            </a:r>
            <a:r>
              <a:rPr lang="en-US" b="true" i="false" strike="noStrike" u="none" sz="1700">
                <a:solidFill>
                  <a:srgbClr val="D97706"/>
                </a:solidFill>
                <a:latin typeface="Poppins"/>
                <a:ea typeface="Poppins"/>
                <a:cs typeface="Poppins"/>
                <a:sym typeface="Poppins"/>
              </a:rPr>
              <a:t>separate outputs</a:t>
            </a:r>
            <a:r>
              <a:rPr lang="en-US" b="false" i="false" strike="noStrike" u="none" sz="1700">
                <a:solidFill>
                  <a:srgbClr val="1F2329"/>
                </a:solidFill>
                <a:latin typeface="Poppins"/>
                <a:ea typeface="Poppins"/>
                <a:cs typeface="Poppins"/>
                <a:sym typeface="Poppins"/>
              </a:rPr>
              <a:t>.</a:t>
            </a:r>
            <a:r>
              <a:rPr lang="en-US" b="false" i="false" strike="noStrike" u="none" sz="1600">
                <a:solidFill>
                  <a:srgbClr val="1F2329"/>
                </a:solidFill>
                <a:latin typeface="Poppins"/>
                <a:ea typeface="Poppins"/>
                <a:cs typeface="Poppins"/>
                <a:sym typeface="Poppins"/>
              </a:rPr>
              <a:t/>
            </a:r>
            <a:endParaRPr lang="en-US" sz="1100"/>
          </a:p>
          <a:p>
            <a:pPr algn="l" indent="0">
              <a:lnSpc>
                <a:spcPct val="125000"/>
              </a:lnSpc>
              <a:spcBef>
                <a:spcPts val="2000"/>
              </a:spcBef>
            </a:pPr>
            <a:r>
              <a:rPr lang="en-US" b="false" i="false" strike="noStrike" u="none" sz="1300">
                <a:solidFill>
                  <a:srgbClr val="6B7280"/>
                </a:solidFill>
                <a:latin typeface="Poppins"/>
                <a:ea typeface="Poppins"/>
                <a:cs typeface="Poppins"/>
                <a:sym typeface="Poppins"/>
              </a:rPr>
              <a:t>This practice enhances reproducibility and flexibility. Raw data preserves all granular details, while summaries provide quick insights for reporting.</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058400" y="4673600"/>
            <a:ext cx="3759200" cy="3759200"/>
          </a:xfrm>
          <a:prstGeom prst="ellipse">
            <a:avLst/>
          </a:prstGeom>
          <a:solidFill>
            <a:srgbClr val="FFC844">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520700" y="279400"/>
            <a:ext cx="3810000" cy="3556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646464"/>
                </a:solidFill>
                <a:latin typeface="Poppins"/>
                <a:ea typeface="Poppins"/>
                <a:cs typeface="Poppins"/>
                <a:sym typeface="Poppins"/>
              </a:rPr>
              <a:t>Part 3. Combination Workflow (Step 1/2/3)</a:t>
            </a:r>
            <a:endParaRPr lang="en-US" sz="1100"/>
          </a:p>
        </p:txBody>
      </p:sp>
      <p:sp>
        <p:nvSpPr>
          <p:cNvPr name="AutoShape 4" id="4"/>
          <p:cNvSpPr/>
          <p:nvPr/>
        </p:nvSpPr>
        <p:spPr>
          <a:xfrm rot="0" flipH="false" flipV="false">
            <a:off x="762000" y="876300"/>
            <a:ext cx="10668000" cy="635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2F4F4F"/>
                </a:solidFill>
                <a:latin typeface="Poppins"/>
                <a:ea typeface="Poppins"/>
                <a:cs typeface="Poppins"/>
                <a:sym typeface="Poppins"/>
              </a:rPr>
              <a:t>Step 2. Parcel x Assessed Commercial Classes</a:t>
            </a:r>
            <a:endParaRPr lang="en-US" sz="1100"/>
          </a:p>
        </p:txBody>
      </p:sp>
      <p:cxnSp>
        <p:nvCxnSpPr>
          <p:cNvPr name="Connector 5" id="5"/>
          <p:cNvCxnSpPr/>
          <p:nvPr/>
        </p:nvCxnSpPr>
        <p:spPr>
          <a:xfrm rot="-4092" flipH="false" flipV="false">
            <a:off x="762004" y="1708150"/>
            <a:ext cx="10668000" cy="12700"/>
          </a:xfrm>
          <a:prstGeom prst="straightConnector1">
            <a:avLst/>
          </a:prstGeom>
          <a:solidFill>
            <a:srgbClr val="DEE0E3">
              <a:alpha val="100000"/>
            </a:srgbClr>
          </a:solidFill>
          <a:ln w="12700" cmpd="sng" cap="flat">
            <a:solidFill>
              <a:srgbClr val="2F4F4F">
                <a:alpha val="30000"/>
              </a:srgbClr>
            </a:solidFill>
            <a:prstDash val="solid"/>
            <a:round/>
            <a:headEnd type="none" w="med" len="med"/>
            <a:tailEnd type="none" w="med" len="med"/>
          </a:ln>
        </p:spPr>
      </p:cxnSp>
      <p:sp>
        <p:nvSpPr>
          <p:cNvPr name="AutoShape 6" id="6"/>
          <p:cNvSpPr/>
          <p:nvPr/>
        </p:nvSpPr>
        <p:spPr>
          <a:xfrm rot="0" flipH="false" flipV="false">
            <a:off x="762000" y="2032000"/>
            <a:ext cx="5080000" cy="4445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2F4F4F"/>
                </a:solidFill>
                <a:latin typeface="Poppins"/>
                <a:ea typeface="Poppins"/>
                <a:cs typeface="Poppins"/>
                <a:sym typeface="Poppins"/>
              </a:rPr>
              <a:t>Objectives</a:t>
            </a:r>
            <a:endParaRPr lang="en-US" sz="1100"/>
          </a:p>
        </p:txBody>
      </p:sp>
      <p:pic>
        <p:nvPicPr>
          <p:cNvPr name="Picture 7" id="7"/>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762000" y="2794000"/>
            <a:ext cx="355600" cy="355600"/>
          </a:xfrm>
          <a:prstGeom prst="rect">
            <a:avLst/>
          </a:prstGeom>
        </p:spPr>
      </p:pic>
      <p:sp>
        <p:nvSpPr>
          <p:cNvPr name="AutoShape 8" id="8"/>
          <p:cNvSpPr/>
          <p:nvPr/>
        </p:nvSpPr>
        <p:spPr>
          <a:xfrm rot="0" flipH="false" flipV="false">
            <a:off x="1397000" y="2768600"/>
            <a:ext cx="4318000" cy="825500"/>
          </a:xfrm>
          <a:prstGeom prst="roundRect">
            <a:avLst>
              <a:gd name="adj" fmla="val 0"/>
            </a:avLst>
          </a:prstGeom>
          <a:noFill/>
          <a:ln w="25400" cmpd="sng" cap="flat">
            <a:noFill/>
            <a:prstDash val="solid"/>
            <a:round/>
          </a:ln>
        </p:spPr>
        <p:txBody>
          <a:bodyPr anchor="t" rtlCol="false" anchorCtr="false" vert="horz" wrap="square" lIns="0" rIns="0" tIns="0" bIns="0"/>
          <a:lstStyle/>
          <a:p>
            <a:pPr algn="l" indent="0">
              <a:lnSpc>
                <a:spcPct val="100000"/>
              </a:lnSpc>
              <a:defRPr/>
            </a:pPr>
            <a:r>
              <a:rPr lang="en-US" b="true" i="false" strike="noStrike" u="none" sz="1600">
                <a:solidFill>
                  <a:srgbClr val="2F4F4F"/>
                </a:solidFill>
                <a:latin typeface="Poppins"/>
                <a:ea typeface="Poppins"/>
                <a:cs typeface="Poppins"/>
                <a:sym typeface="Poppins"/>
              </a:rPr>
              <a:t>Load Parcel Layer</a:t>
            </a:r>
            <a:r>
              <a:rPr lang="en-US" b="false" i="false" strike="noStrike" u="none" sz="1600">
                <a:solidFill>
                  <a:srgbClr val="1F2329"/>
                </a:solidFill>
                <a:latin typeface="Poppins"/>
                <a:ea typeface="Poppins"/>
                <a:cs typeface="Poppins"/>
                <a:sym typeface="Poppins"/>
              </a:rPr>
              <a:t/>
            </a:r>
            <a:endParaRPr lang="en-US" sz="1100"/>
          </a:p>
          <a:p>
            <a:pPr algn="l" indent="0">
              <a:lnSpc>
                <a:spcPct val="100000"/>
              </a:lnSpc>
            </a:pPr>
            <a:r>
              <a:rPr lang="en-US" b="false" i="false" strike="noStrike" u="none" sz="1300">
                <a:solidFill>
                  <a:srgbClr val="505050"/>
                </a:solidFill>
                <a:latin typeface="Poppins"/>
                <a:ea typeface="Poppins"/>
                <a:cs typeface="Poppins"/>
                <a:sym typeface="Poppins"/>
              </a:rPr>
              <a:t>Load one parcel layer for a selected year to use as the spatial foundation.</a:t>
            </a: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762000" y="3937000"/>
            <a:ext cx="355600" cy="355600"/>
          </a:xfrm>
          <a:prstGeom prst="rect">
            <a:avLst/>
          </a:prstGeom>
        </p:spPr>
      </p:pic>
      <p:sp>
        <p:nvSpPr>
          <p:cNvPr name="AutoShape 10" id="10"/>
          <p:cNvSpPr/>
          <p:nvPr/>
        </p:nvSpPr>
        <p:spPr>
          <a:xfrm rot="0" flipH="false" flipV="false">
            <a:off x="1397000" y="3911600"/>
            <a:ext cx="4318000" cy="825500"/>
          </a:xfrm>
          <a:prstGeom prst="roundRect">
            <a:avLst>
              <a:gd name="adj" fmla="val 0"/>
            </a:avLst>
          </a:prstGeom>
          <a:noFill/>
          <a:ln w="25400" cmpd="sng" cap="flat">
            <a:noFill/>
            <a:prstDash val="solid"/>
            <a:round/>
          </a:ln>
        </p:spPr>
        <p:txBody>
          <a:bodyPr anchor="t" rtlCol="false" anchorCtr="false" vert="horz" wrap="square" lIns="0" rIns="0" tIns="0" bIns="0"/>
          <a:lstStyle/>
          <a:p>
            <a:pPr algn="l" indent="0">
              <a:lnSpc>
                <a:spcPct val="100000"/>
              </a:lnSpc>
              <a:defRPr/>
            </a:pPr>
            <a:r>
              <a:rPr lang="en-US" b="true" i="false" strike="noStrike" u="none" sz="1600">
                <a:solidFill>
                  <a:srgbClr val="2F4F4F"/>
                </a:solidFill>
                <a:latin typeface="Poppins"/>
                <a:ea typeface="Poppins"/>
                <a:cs typeface="Poppins"/>
                <a:sym typeface="Poppins"/>
              </a:rPr>
              <a:t>Spatial Join</a:t>
            </a:r>
            <a:r>
              <a:rPr lang="en-US" b="false" i="false" strike="noStrike" u="none" sz="1600">
                <a:solidFill>
                  <a:srgbClr val="1F2329"/>
                </a:solidFill>
                <a:latin typeface="Poppins"/>
                <a:ea typeface="Poppins"/>
                <a:cs typeface="Poppins"/>
                <a:sym typeface="Poppins"/>
              </a:rPr>
              <a:t/>
            </a:r>
            <a:endParaRPr lang="en-US" sz="1100"/>
          </a:p>
          <a:p>
            <a:pPr algn="l" indent="0">
              <a:lnSpc>
                <a:spcPct val="100000"/>
              </a:lnSpc>
            </a:pPr>
            <a:r>
              <a:rPr lang="en-US" b="false" i="false" strike="noStrike" u="none" sz="1300">
                <a:solidFill>
                  <a:srgbClr val="505050"/>
                </a:solidFill>
                <a:latin typeface="Poppins"/>
                <a:ea typeface="Poppins"/>
                <a:cs typeface="Poppins"/>
                <a:sym typeface="Poppins"/>
              </a:rPr>
              <a:t>Join the parcel polygons to the commercial PIN summary dataset created in Step 1.</a:t>
            </a:r>
          </a:p>
        </p:txBody>
      </p:sp>
      <p:pic>
        <p:nvPicPr>
          <p:cNvPr name="Picture 11" id="11"/>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762000" y="5080000"/>
            <a:ext cx="355600" cy="355600"/>
          </a:xfrm>
          <a:prstGeom prst="rect">
            <a:avLst/>
          </a:prstGeom>
        </p:spPr>
      </p:pic>
      <p:sp>
        <p:nvSpPr>
          <p:cNvPr name="AutoShape 12" id="12"/>
          <p:cNvSpPr/>
          <p:nvPr/>
        </p:nvSpPr>
        <p:spPr>
          <a:xfrm rot="0" flipH="false" flipV="false">
            <a:off x="1397000" y="5054600"/>
            <a:ext cx="4318000" cy="952500"/>
          </a:xfrm>
          <a:prstGeom prst="roundRect">
            <a:avLst>
              <a:gd name="adj" fmla="val 0"/>
            </a:avLst>
          </a:prstGeom>
          <a:noFill/>
          <a:ln w="25400" cmpd="sng" cap="flat">
            <a:noFill/>
            <a:prstDash val="solid"/>
            <a:round/>
          </a:ln>
        </p:spPr>
        <p:txBody>
          <a:bodyPr anchor="t" rtlCol="false" anchorCtr="false" vert="horz" wrap="square" lIns="0" rIns="0" tIns="0" bIns="0"/>
          <a:lstStyle/>
          <a:p>
            <a:pPr algn="l" indent="0">
              <a:lnSpc>
                <a:spcPct val="100000"/>
              </a:lnSpc>
              <a:defRPr/>
            </a:pPr>
            <a:r>
              <a:rPr lang="en-US" b="true" i="false" strike="noStrike" u="none" sz="1600">
                <a:solidFill>
                  <a:srgbClr val="D97706"/>
                </a:solidFill>
                <a:latin typeface="Poppins"/>
                <a:ea typeface="Poppins"/>
                <a:cs typeface="Poppins"/>
                <a:sym typeface="Poppins"/>
              </a:rPr>
              <a:t>Final Target Layer</a:t>
            </a:r>
            <a:r>
              <a:rPr lang="en-US" b="false" i="false" strike="noStrike" u="none" sz="1600">
                <a:solidFill>
                  <a:srgbClr val="1F2329"/>
                </a:solidFill>
                <a:latin typeface="Poppins"/>
                <a:ea typeface="Poppins"/>
                <a:cs typeface="Poppins"/>
                <a:sym typeface="Poppins"/>
              </a:rPr>
              <a:t/>
            </a:r>
            <a:endParaRPr lang="en-US" sz="1100"/>
          </a:p>
          <a:p>
            <a:pPr algn="l" indent="0">
              <a:lnSpc>
                <a:spcPct val="100000"/>
              </a:lnSpc>
            </a:pPr>
            <a:r>
              <a:rPr lang="en-US" b="false" i="false" strike="noStrike" u="none" sz="1300">
                <a:solidFill>
                  <a:srgbClr val="505050"/>
                </a:solidFill>
                <a:latin typeface="Poppins"/>
                <a:ea typeface="Poppins"/>
                <a:cs typeface="Poppins"/>
                <a:sym typeface="Poppins"/>
              </a:rPr>
              <a:t>Produce a commercial-only parcel dataset. This becomes the geospatial target layer for subsequent spatial analysis.</a:t>
            </a:r>
          </a:p>
        </p:txBody>
      </p:sp>
      <p:sp>
        <p:nvSpPr>
          <p:cNvPr name="AutoShape 13" id="13"/>
          <p:cNvSpPr/>
          <p:nvPr/>
        </p:nvSpPr>
        <p:spPr>
          <a:xfrm rot="0" flipH="false" flipV="false">
            <a:off x="6096000" y="2540000"/>
            <a:ext cx="5207000" cy="3556000"/>
          </a:xfrm>
          <a:prstGeom prst="roundRect">
            <a:avLst>
              <a:gd name="adj" fmla="val 0"/>
            </a:avLst>
          </a:prstGeom>
          <a:solidFill>
            <a:srgbClr val="F8FAFC">
              <a:alpha val="100000"/>
            </a:srgbClr>
          </a:solidFill>
          <a:ln w="12700" cmpd="sng" cap="flat">
            <a:solidFill>
              <a:srgbClr val="E2E8F0">
                <a:alpha val="10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350000" y="2921000"/>
            <a:ext cx="812800" cy="812800"/>
          </a:xfrm>
          <a:prstGeom prst="rect">
            <a:avLst/>
          </a:prstGeom>
        </p:spPr>
      </p:pic>
      <p:sp>
        <p:nvSpPr>
          <p:cNvPr name="AutoShape 15" id="15"/>
          <p:cNvSpPr/>
          <p:nvPr/>
        </p:nvSpPr>
        <p:spPr>
          <a:xfrm rot="0" flipH="false" flipV="false">
            <a:off x="7493000" y="2984500"/>
            <a:ext cx="3556000" cy="889000"/>
          </a:xfrm>
          <a:prstGeom prst="roundRect">
            <a:avLst>
              <a:gd name="adj" fmla="val 0"/>
            </a:avLst>
          </a:prstGeom>
          <a:noFill/>
          <a:ln w="25400" cmpd="sng" cap="flat">
            <a:noFill/>
            <a:prstDash val="solid"/>
            <a:round/>
          </a:ln>
        </p:spPr>
        <p:txBody>
          <a:bodyPr anchor="t" rtlCol="false" anchorCtr="false" vert="horz" wrap="square" lIns="0" rIns="0" tIns="0" bIns="0"/>
          <a:lstStyle/>
          <a:p>
            <a:pPr algn="l" indent="0">
              <a:lnSpc>
                <a:spcPct val="125000"/>
              </a:lnSpc>
              <a:defRPr/>
            </a:pPr>
            <a:r>
              <a:rPr lang="en-US" b="true" i="false" strike="noStrike" u="none" sz="1800">
                <a:solidFill>
                  <a:srgbClr val="2F4F4F"/>
                </a:solidFill>
                <a:latin typeface="Poppins"/>
                <a:ea typeface="Poppins"/>
                <a:cs typeface="Poppins"/>
                <a:sym typeface="Poppins"/>
              </a:rPr>
              <a:t>Workflow Logic</a:t>
            </a:r>
            <a:r>
              <a:rPr lang="en-US" b="false" i="false" strike="noStrike" u="none" sz="1600">
                <a:solidFill>
                  <a:srgbClr val="1F2329"/>
                </a:solidFill>
                <a:latin typeface="Poppins"/>
                <a:ea typeface="Poppins"/>
                <a:cs typeface="Poppins"/>
                <a:sym typeface="Poppins"/>
              </a:rPr>
              <a:t/>
            </a:r>
            <a:endParaRPr lang="en-US" sz="1100"/>
          </a:p>
          <a:p>
            <a:pPr algn="l" indent="0">
              <a:lnSpc>
                <a:spcPct val="125000"/>
              </a:lnSpc>
            </a:pPr>
            <a:r>
              <a:rPr lang="en-US" b="false" i="false" strike="noStrike" u="none" sz="1200">
                <a:solidFill>
                  <a:srgbClr val="646464"/>
                </a:solidFill>
                <a:latin typeface="Poppins"/>
                <a:ea typeface="Poppins"/>
                <a:cs typeface="Poppins"/>
                <a:sym typeface="Poppins"/>
              </a:rPr>
              <a:t>Connecting tabular data (PINs) to spatial data (polygons).</a:t>
            </a:r>
          </a:p>
        </p:txBody>
      </p:sp>
      <p:sp>
        <p:nvSpPr>
          <p:cNvPr name="AutoShape 16" id="16"/>
          <p:cNvSpPr/>
          <p:nvPr/>
        </p:nvSpPr>
        <p:spPr>
          <a:xfrm rot="0" flipH="false" flipV="false">
            <a:off x="6350000" y="4191000"/>
            <a:ext cx="4699000" cy="1524000"/>
          </a:xfrm>
          <a:prstGeom prst="roundRect">
            <a:avLst>
              <a:gd name="adj" fmla="val 0"/>
            </a:avLst>
          </a:prstGeom>
          <a:noFill/>
          <a:ln w="25400" cmpd="sng" cap="flat">
            <a:noFill/>
            <a:prstDash val="solid"/>
            <a:round/>
          </a:ln>
        </p:spPr>
        <p:txBody>
          <a:bodyPr anchor="t" rtlCol="false" anchorCtr="false" vert="horz" wrap="square" lIns="0" rIns="0" tIns="0" bIns="0"/>
          <a:lstStyle/>
          <a:p>
            <a:pPr algn="l" indent="0">
              <a:lnSpc>
                <a:spcPct val="116666"/>
              </a:lnSpc>
              <a:defRPr/>
            </a:pPr>
            <a:r>
              <a:rPr lang="en-US" b="false" i="true" strike="noStrike" u="none" sz="1300">
                <a:solidFill>
                  <a:srgbClr val="475569"/>
                </a:solidFill>
                <a:latin typeface="Poppins"/>
                <a:ea typeface="Poppins"/>
                <a:cs typeface="Poppins"/>
                <a:sym typeface="Poppins"/>
              </a:rPr>
              <a:t>“This step is critical as it creates the essential geospatial target layer that will be used as the basis for the next spatial join operation, ensuring all subsequent analysis is accurately mapped.”</a:t>
            </a:r>
            <a:endParaRPr lang="en-US" sz="1100"/>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058400" y="4673600"/>
            <a:ext cx="3759200" cy="3759200"/>
          </a:xfrm>
          <a:prstGeom prst="ellipse">
            <a:avLst/>
          </a:prstGeom>
          <a:solidFill>
            <a:srgbClr val="FFC844">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 id="3"/>
          <p:cNvPicPr>
            <a:picLocks noChangeAspect="true"/>
          </p:cNvPicPr>
          <p:nvPr/>
        </p:nvPicPr>
        <p:blipFill>
          <a:blip r:embed="rId2"/>
          <a:srcRect l="0" r="0" t="469" b="469"/>
          <a:stretch>
            <a:fillRect/>
          </a:stretch>
        </p:blipFill>
        <p:spPr>
          <a:xfrm rot="0" flipH="false" flipV="false">
            <a:off x="520700" y="279400"/>
            <a:ext cx="2552700" cy="355600"/>
          </a:xfrm>
          <a:prstGeom prst="rect">
            <a:avLst/>
          </a:prstGeom>
          <a:noFill/>
          <a:ln w="25400" cmpd="sng" cap="flat">
            <a:noFill/>
            <a:prstDash val="solid"/>
            <a:round/>
          </a:ln>
        </p:spPr>
      </p:pic>
      <p:sp>
        <p:nvSpPr>
          <p:cNvPr name="AutoShape 4" id="4"/>
          <p:cNvSpPr/>
          <p:nvPr/>
        </p:nvSpPr>
        <p:spPr>
          <a:xfrm rot="0" flipH="false" flipV="false">
            <a:off x="762000" y="876300"/>
            <a:ext cx="10668000" cy="5588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2F4F4F"/>
                </a:solidFill>
                <a:latin typeface="Poppins"/>
                <a:ea typeface="Poppins"/>
                <a:cs typeface="Poppins"/>
                <a:sym typeface="Poppins"/>
              </a:rPr>
              <a:t>Step 2-A: Load Parcels &amp; Step 1 Outputs</a:t>
            </a:r>
            <a:endParaRPr lang="en-US" sz="1100"/>
          </a:p>
        </p:txBody>
      </p:sp>
      <p:cxnSp>
        <p:nvCxnSpPr>
          <p:cNvPr name="Connector 5" id="5"/>
          <p:cNvCxnSpPr/>
          <p:nvPr/>
        </p:nvCxnSpPr>
        <p:spPr>
          <a:xfrm rot="-4092" flipH="false" flipV="false">
            <a:off x="762004" y="1581150"/>
            <a:ext cx="10668000" cy="12700"/>
          </a:xfrm>
          <a:prstGeom prst="straightConnector1">
            <a:avLst/>
          </a:prstGeom>
          <a:solidFill>
            <a:srgbClr val="DEE0E3">
              <a:alpha val="100000"/>
            </a:srgbClr>
          </a:solidFill>
          <a:ln w="12700" cmpd="sng" cap="flat">
            <a:solidFill>
              <a:srgbClr val="2F4F4F">
                <a:alpha val="30000"/>
              </a:srgbClr>
            </a:solidFill>
            <a:prstDash val="solid"/>
            <a:round/>
            <a:headEnd type="none" w="med" len="med"/>
            <a:tailEnd type="none" w="med" len="med"/>
          </a:ln>
        </p:spPr>
      </p:cxnSp>
      <p:sp>
        <p:nvSpPr>
          <p:cNvPr name="AutoShape 6" id="6"/>
          <p:cNvSpPr/>
          <p:nvPr/>
        </p:nvSpPr>
        <p:spPr>
          <a:xfrm rot="0" flipH="false" flipV="false">
            <a:off x="762000" y="1892300"/>
            <a:ext cx="5080000" cy="381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2F4F4F"/>
                </a:solidFill>
                <a:latin typeface="Poppins"/>
                <a:ea typeface="Poppins"/>
                <a:cs typeface="Poppins"/>
                <a:sym typeface="Poppins"/>
              </a:rPr>
              <a:t>Processing Logic</a:t>
            </a:r>
            <a:endParaRPr lang="en-US" sz="1100"/>
          </a:p>
        </p:txBody>
      </p:sp>
      <p:pic>
        <p:nvPicPr>
          <p:cNvPr name="Picture 7" id="7"/>
          <p:cNvPicPr>
            <a:picLocks noChangeAspect="true"/>
          </p:cNvPicPr>
          <p:nvPr/>
        </p:nvPicPr>
        <p:blipFill>
          <a:blip r:embed="rId3"/>
          <a:srcRect l="0" r="0" t="0" b="0"/>
          <a:stretch>
            <a:fillRect/>
          </a:stretch>
        </p:blipFill>
        <p:spPr>
          <a:xfrm rot="0" flipH="false" flipV="false">
            <a:off x="762000" y="2527300"/>
            <a:ext cx="304800" cy="304800"/>
          </a:xfrm>
          <a:prstGeom prst="rect">
            <a:avLst/>
          </a:prstGeom>
          <a:noFill/>
          <a:ln w="25400" cmpd="sng" cap="flat">
            <a:noFill/>
            <a:prstDash val="solid"/>
            <a:round/>
          </a:ln>
        </p:spPr>
      </p:pic>
      <p:sp>
        <p:nvSpPr>
          <p:cNvPr name="AutoShape 8" id="8"/>
          <p:cNvSpPr/>
          <p:nvPr/>
        </p:nvSpPr>
        <p:spPr>
          <a:xfrm rot="0" flipH="false" flipV="false">
            <a:off x="1270000" y="2527300"/>
            <a:ext cx="4572000" cy="762000"/>
          </a:xfrm>
          <a:prstGeom prst="roundRect">
            <a:avLst>
              <a:gd name="adj" fmla="val 0"/>
            </a:avLst>
          </a:prstGeom>
          <a:noFill/>
          <a:ln w="25400" cmpd="sng" cap="flat">
            <a:noFill/>
            <a:prstDash val="solid"/>
            <a:round/>
          </a:ln>
        </p:spPr>
        <p:txBody>
          <a:bodyPr anchor="t" rtlCol="false" anchorCtr="false" vert="horz" wrap="square" lIns="0" rIns="0" tIns="0" bIns="0"/>
          <a:lstStyle/>
          <a:p>
            <a:pPr algn="l" indent="0">
              <a:lnSpc>
                <a:spcPct val="108333"/>
              </a:lnSpc>
              <a:defRPr/>
            </a:pPr>
            <a:r>
              <a:rPr lang="en-US" b="true" i="false" strike="noStrike" u="none" sz="1600">
                <a:solidFill>
                  <a:srgbClr val="2F4F4F"/>
                </a:solidFill>
                <a:latin typeface="Poppins"/>
                <a:ea typeface="Poppins"/>
                <a:cs typeface="Poppins"/>
                <a:sym typeface="Poppins"/>
              </a:rPr>
              <a:t>Read Parcel Shapefile</a:t>
            </a:r>
            <a:r>
              <a:rPr lang="en-US" b="false" i="false" strike="noStrike" u="none" sz="1400">
                <a:solidFill>
                  <a:srgbClr val="1F2329"/>
                </a:solidFill>
                <a:latin typeface="Poppins"/>
                <a:ea typeface="Poppins"/>
                <a:cs typeface="Poppins"/>
                <a:sym typeface="Poppins"/>
              </a:rPr>
              <a:t/>
            </a:r>
            <a:br>
              <a:rPr lang="en-US" b="false" i="false" strike="noStrike" u="none" sz="1400">
                <a:solidFill>
                  <a:srgbClr val="1F2329"/>
                </a:solidFill>
                <a:latin typeface="Poppins"/>
                <a:ea typeface="Poppins"/>
                <a:cs typeface="Poppins"/>
                <a:sym typeface="Poppins"/>
              </a:rPr>
            </a:br>
            <a:r>
              <a:rPr lang="en-US" b="false" i="false" strike="noStrike" u="none" sz="1300">
                <a:solidFill>
                  <a:srgbClr val="696969"/>
                </a:solidFill>
                <a:latin typeface="Poppins"/>
                <a:ea typeface="Poppins"/>
                <a:cs typeface="Poppins"/>
                <a:sym typeface="Poppins"/>
              </a:rPr>
              <a:t>Load spatial data for the selected analysis year.</a:t>
            </a:r>
            <a:endParaRPr lang="en-US" sz="1100"/>
          </a:p>
        </p:txBody>
      </p:sp>
      <p:pic>
        <p:nvPicPr>
          <p:cNvPr name="Picture 9" id="9"/>
          <p:cNvPicPr>
            <a:picLocks noChangeAspect="true"/>
          </p:cNvPicPr>
          <p:nvPr/>
        </p:nvPicPr>
        <p:blipFill>
          <a:blip r:embed="rId4"/>
          <a:srcRect l="0" r="0" t="0" b="0"/>
          <a:stretch>
            <a:fillRect/>
          </a:stretch>
        </p:blipFill>
        <p:spPr>
          <a:xfrm rot="0" flipH="false" flipV="false">
            <a:off x="762000" y="3543300"/>
            <a:ext cx="304800" cy="304800"/>
          </a:xfrm>
          <a:prstGeom prst="rect">
            <a:avLst/>
          </a:prstGeom>
          <a:noFill/>
          <a:ln w="25400" cmpd="sng" cap="flat">
            <a:noFill/>
            <a:prstDash val="solid"/>
            <a:round/>
          </a:ln>
        </p:spPr>
      </p:pic>
      <p:sp>
        <p:nvSpPr>
          <p:cNvPr name="AutoShape 10" id="10"/>
          <p:cNvSpPr/>
          <p:nvPr/>
        </p:nvSpPr>
        <p:spPr>
          <a:xfrm rot="0" flipH="false" flipV="false">
            <a:off x="1270000" y="3543300"/>
            <a:ext cx="4572000" cy="762000"/>
          </a:xfrm>
          <a:prstGeom prst="roundRect">
            <a:avLst>
              <a:gd name="adj" fmla="val 0"/>
            </a:avLst>
          </a:prstGeom>
          <a:noFill/>
          <a:ln w="25400" cmpd="sng" cap="flat">
            <a:noFill/>
            <a:prstDash val="solid"/>
            <a:round/>
          </a:ln>
        </p:spPr>
        <p:txBody>
          <a:bodyPr anchor="t" rtlCol="false" anchorCtr="false" vert="horz" wrap="square" lIns="0" rIns="0" tIns="0" bIns="0"/>
          <a:lstStyle/>
          <a:p>
            <a:pPr algn="l" indent="0">
              <a:lnSpc>
                <a:spcPct val="108333"/>
              </a:lnSpc>
              <a:defRPr/>
            </a:pPr>
            <a:r>
              <a:rPr lang="en-US" b="true" i="false" strike="noStrike" u="none" sz="1600">
                <a:solidFill>
                  <a:srgbClr val="2F4F4F"/>
                </a:solidFill>
                <a:latin typeface="Poppins"/>
                <a:ea typeface="Poppins"/>
                <a:cs typeface="Poppins"/>
                <a:sym typeface="Poppins"/>
              </a:rPr>
              <a:t>Import Step 1 Results</a:t>
            </a:r>
            <a:r>
              <a:rPr lang="en-US" b="false" i="false" strike="noStrike" u="none" sz="1400">
                <a:solidFill>
                  <a:srgbClr val="1F2329"/>
                </a:solidFill>
                <a:latin typeface="Poppins"/>
                <a:ea typeface="Poppins"/>
                <a:cs typeface="Poppins"/>
                <a:sym typeface="Poppins"/>
              </a:rPr>
              <a:t/>
            </a:r>
            <a:br>
              <a:rPr lang="en-US" b="false" i="false" strike="noStrike" u="none" sz="1400">
                <a:solidFill>
                  <a:srgbClr val="1F2329"/>
                </a:solidFill>
                <a:latin typeface="Poppins"/>
                <a:ea typeface="Poppins"/>
                <a:cs typeface="Poppins"/>
                <a:sym typeface="Poppins"/>
              </a:rPr>
            </a:br>
            <a:r>
              <a:rPr lang="en-US" b="false" i="false" strike="noStrike" u="none" sz="1300">
                <a:solidFill>
                  <a:srgbClr val="696969"/>
                </a:solidFill>
                <a:latin typeface="Poppins"/>
                <a:ea typeface="Poppins"/>
                <a:cs typeface="Poppins"/>
                <a:sym typeface="Poppins"/>
              </a:rPr>
              <a:t>Read the filtered PIN-class export from prior processing.</a:t>
            </a:r>
            <a:endParaRPr lang="en-US" sz="1100"/>
          </a:p>
        </p:txBody>
      </p:sp>
      <p:pic>
        <p:nvPicPr>
          <p:cNvPr name="Picture 11" id="11"/>
          <p:cNvPicPr>
            <a:picLocks noChangeAspect="true"/>
          </p:cNvPicPr>
          <p:nvPr/>
        </p:nvPicPr>
        <p:blipFill>
          <a:blip r:embed="rId5"/>
          <a:srcRect l="0" r="0" t="0" b="0"/>
          <a:stretch>
            <a:fillRect/>
          </a:stretch>
        </p:blipFill>
        <p:spPr>
          <a:xfrm rot="0" flipH="false" flipV="false">
            <a:off x="762000" y="4559300"/>
            <a:ext cx="304800" cy="304800"/>
          </a:xfrm>
          <a:prstGeom prst="rect">
            <a:avLst/>
          </a:prstGeom>
          <a:noFill/>
          <a:ln w="25400" cmpd="sng" cap="flat">
            <a:noFill/>
            <a:prstDash val="solid"/>
            <a:round/>
          </a:ln>
        </p:spPr>
      </p:pic>
      <p:sp>
        <p:nvSpPr>
          <p:cNvPr name="AutoShape 12" id="12"/>
          <p:cNvSpPr/>
          <p:nvPr/>
        </p:nvSpPr>
        <p:spPr>
          <a:xfrm rot="0" flipH="false" flipV="false">
            <a:off x="1270000" y="4559300"/>
            <a:ext cx="4572000" cy="762000"/>
          </a:xfrm>
          <a:prstGeom prst="roundRect">
            <a:avLst>
              <a:gd name="adj" fmla="val 0"/>
            </a:avLst>
          </a:prstGeom>
          <a:noFill/>
          <a:ln w="25400" cmpd="sng" cap="flat">
            <a:noFill/>
            <a:prstDash val="solid"/>
            <a:round/>
          </a:ln>
        </p:spPr>
        <p:txBody>
          <a:bodyPr anchor="t" rtlCol="false" anchorCtr="false" vert="horz" wrap="square" lIns="0" rIns="0" tIns="0" bIns="0"/>
          <a:lstStyle/>
          <a:p>
            <a:pPr algn="l" indent="0">
              <a:lnSpc>
                <a:spcPct val="108333"/>
              </a:lnSpc>
              <a:defRPr/>
            </a:pPr>
            <a:r>
              <a:rPr lang="en-US" b="true" i="false" strike="noStrike" u="none" sz="1600">
                <a:solidFill>
                  <a:srgbClr val="2F4F4F"/>
                </a:solidFill>
                <a:latin typeface="Poppins"/>
                <a:ea typeface="Poppins"/>
                <a:cs typeface="Poppins"/>
                <a:sym typeface="Poppins"/>
              </a:rPr>
              <a:t>Data Standardization</a:t>
            </a:r>
            <a:r>
              <a:rPr lang="en-US" b="false" i="false" strike="noStrike" u="none" sz="1400">
                <a:solidFill>
                  <a:srgbClr val="1F2329"/>
                </a:solidFill>
                <a:latin typeface="Poppins"/>
                <a:ea typeface="Poppins"/>
                <a:cs typeface="Poppins"/>
                <a:sym typeface="Poppins"/>
              </a:rPr>
              <a:t/>
            </a:r>
            <a:br>
              <a:rPr lang="en-US" b="false" i="false" strike="noStrike" u="none" sz="1400">
                <a:solidFill>
                  <a:srgbClr val="1F2329"/>
                </a:solidFill>
                <a:latin typeface="Poppins"/>
                <a:ea typeface="Poppins"/>
                <a:cs typeface="Poppins"/>
                <a:sym typeface="Poppins"/>
              </a:rPr>
            </a:br>
            <a:r>
              <a:rPr lang="en-US" b="false" i="false" strike="noStrike" u="none" sz="1300">
                <a:solidFill>
                  <a:srgbClr val="696969"/>
                </a:solidFill>
                <a:latin typeface="Poppins"/>
                <a:ea typeface="Poppins"/>
                <a:cs typeface="Poppins"/>
                <a:sym typeface="Poppins"/>
              </a:rPr>
              <a:t>Normalize parcel PIN10 to a unified "pin10_key" format.</a:t>
            </a:r>
            <a:endParaRPr lang="en-US" sz="1100"/>
          </a:p>
        </p:txBody>
      </p:sp>
      <p:pic>
        <p:nvPicPr>
          <p:cNvPr name="Picture 13" id="13"/>
          <p:cNvPicPr>
            <a:picLocks noChangeAspect="true"/>
          </p:cNvPicPr>
          <p:nvPr/>
        </p:nvPicPr>
        <p:blipFill>
          <a:blip r:embed="rId6"/>
          <a:srcRect l="0" r="0" t="0" b="0"/>
          <a:stretch>
            <a:fillRect/>
          </a:stretch>
        </p:blipFill>
        <p:spPr>
          <a:xfrm rot="0" flipH="false" flipV="false">
            <a:off x="762000" y="5448300"/>
            <a:ext cx="304800" cy="304800"/>
          </a:xfrm>
          <a:prstGeom prst="rect">
            <a:avLst/>
          </a:prstGeom>
          <a:noFill/>
          <a:ln w="25400" cmpd="sng" cap="flat">
            <a:noFill/>
            <a:prstDash val="solid"/>
            <a:round/>
          </a:ln>
        </p:spPr>
      </p:pic>
      <p:sp>
        <p:nvSpPr>
          <p:cNvPr name="AutoShape 14" id="14"/>
          <p:cNvSpPr/>
          <p:nvPr/>
        </p:nvSpPr>
        <p:spPr>
          <a:xfrm rot="0" flipH="false" flipV="false">
            <a:off x="1270000" y="5448300"/>
            <a:ext cx="4572000" cy="762000"/>
          </a:xfrm>
          <a:prstGeom prst="roundRect">
            <a:avLst>
              <a:gd name="adj" fmla="val 0"/>
            </a:avLst>
          </a:prstGeom>
          <a:noFill/>
          <a:ln w="25400" cmpd="sng" cap="flat">
            <a:noFill/>
            <a:prstDash val="solid"/>
            <a:round/>
          </a:ln>
        </p:spPr>
        <p:txBody>
          <a:bodyPr anchor="t" rtlCol="false" anchorCtr="false" vert="horz" wrap="square" lIns="0" rIns="0" tIns="0" bIns="0"/>
          <a:lstStyle/>
          <a:p>
            <a:pPr algn="l" indent="0">
              <a:lnSpc>
                <a:spcPct val="108333"/>
              </a:lnSpc>
              <a:defRPr/>
            </a:pPr>
            <a:r>
              <a:rPr lang="en-US" b="true" i="false" strike="noStrike" u="none" sz="1600">
                <a:solidFill>
                  <a:srgbClr val="2F4F4F"/>
                </a:solidFill>
                <a:latin typeface="Poppins"/>
                <a:ea typeface="Poppins"/>
                <a:cs typeface="Poppins"/>
                <a:sym typeface="Poppins"/>
              </a:rPr>
              <a:t>Pre-Merge Validation</a:t>
            </a:r>
            <a:r>
              <a:rPr lang="en-US" b="false" i="false" strike="noStrike" u="none" sz="1400">
                <a:solidFill>
                  <a:srgbClr val="1F2329"/>
                </a:solidFill>
                <a:latin typeface="Poppins"/>
                <a:ea typeface="Poppins"/>
                <a:cs typeface="Poppins"/>
                <a:sym typeface="Poppins"/>
              </a:rPr>
              <a:t/>
            </a:r>
            <a:br>
              <a:rPr lang="en-US" b="false" i="false" strike="noStrike" u="none" sz="1400">
                <a:solidFill>
                  <a:srgbClr val="1F2329"/>
                </a:solidFill>
                <a:latin typeface="Poppins"/>
                <a:ea typeface="Poppins"/>
                <a:cs typeface="Poppins"/>
                <a:sym typeface="Poppins"/>
              </a:rPr>
            </a:br>
            <a:r>
              <a:rPr lang="en-US" b="false" i="false" strike="noStrike" u="none" sz="1300">
                <a:solidFill>
                  <a:srgbClr val="696969"/>
                </a:solidFill>
                <a:latin typeface="Poppins"/>
                <a:ea typeface="Poppins"/>
                <a:cs typeface="Poppins"/>
                <a:sym typeface="Poppins"/>
              </a:rPr>
              <a:t>Verify row counts match and CRS are compatible.</a:t>
            </a:r>
            <a:endParaRPr lang="en-US" sz="1100"/>
          </a:p>
        </p:txBody>
      </p:sp>
      <p:cxnSp>
        <p:nvCxnSpPr>
          <p:cNvPr name="Connector 15" id="15"/>
          <p:cNvCxnSpPr/>
          <p:nvPr/>
        </p:nvCxnSpPr>
        <p:spPr>
          <a:xfrm rot="5389257" flipH="false" flipV="false">
            <a:off x="4064000" y="3917960"/>
            <a:ext cx="4064000" cy="12700"/>
          </a:xfrm>
          <a:prstGeom prst="straightConnector1">
            <a:avLst/>
          </a:prstGeom>
          <a:solidFill>
            <a:srgbClr val="DEE0E3">
              <a:alpha val="100000"/>
            </a:srgbClr>
          </a:solidFill>
          <a:ln w="12700" cmpd="sng" cap="flat">
            <a:solidFill>
              <a:srgbClr val="2F4F4F">
                <a:alpha val="20000"/>
              </a:srgbClr>
            </a:solidFill>
            <a:prstDash val="dash"/>
            <a:round/>
            <a:headEnd type="none" w="med" len="med"/>
            <a:tailEnd type="none" w="med" len="med"/>
          </a:ln>
        </p:spPr>
      </p:cxnSp>
      <p:sp>
        <p:nvSpPr>
          <p:cNvPr name="AutoShape 16" id="16"/>
          <p:cNvSpPr/>
          <p:nvPr/>
        </p:nvSpPr>
        <p:spPr>
          <a:xfrm rot="0" flipH="false" flipV="false">
            <a:off x="6604000" y="1892300"/>
            <a:ext cx="5080000" cy="381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B91C1C"/>
                </a:solidFill>
                <a:latin typeface="Poppins"/>
                <a:ea typeface="Poppins"/>
                <a:cs typeface="Poppins"/>
                <a:sym typeface="Poppins"/>
              </a:rPr>
              <a:t>Key Check: Error Handling</a:t>
            </a:r>
            <a:endParaRPr lang="en-US" sz="1100"/>
          </a:p>
        </p:txBody>
      </p:sp>
      <p:sp>
        <p:nvSpPr>
          <p:cNvPr name="AutoShape 17" id="17"/>
          <p:cNvSpPr/>
          <p:nvPr/>
        </p:nvSpPr>
        <p:spPr>
          <a:xfrm rot="0" flipH="false" flipV="false">
            <a:off x="6604000" y="2667000"/>
            <a:ext cx="4826000" cy="3048000"/>
          </a:xfrm>
          <a:prstGeom prst="roundRect">
            <a:avLst>
              <a:gd name="adj" fmla="val 0"/>
            </a:avLst>
          </a:prstGeom>
          <a:solidFill>
            <a:srgbClr val="FEF2F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7"/>
          <a:srcRect l="0" r="0" t="0" b="0"/>
          <a:stretch>
            <a:fillRect/>
          </a:stretch>
        </p:blipFill>
        <p:spPr>
          <a:xfrm rot="0" flipH="false" flipV="false">
            <a:off x="6807200" y="2921000"/>
            <a:ext cx="355600" cy="355600"/>
          </a:xfrm>
          <a:prstGeom prst="rect">
            <a:avLst/>
          </a:prstGeom>
          <a:noFill/>
          <a:ln w="25400" cmpd="sng" cap="flat">
            <a:noFill/>
            <a:prstDash val="solid"/>
            <a:round/>
          </a:ln>
        </p:spPr>
      </p:pic>
      <p:sp>
        <p:nvSpPr>
          <p:cNvPr name="AutoShape 19" id="19"/>
          <p:cNvSpPr/>
          <p:nvPr/>
        </p:nvSpPr>
        <p:spPr>
          <a:xfrm rot="0" flipH="false" flipV="false">
            <a:off x="7366000" y="2921000"/>
            <a:ext cx="3937000" cy="2286000"/>
          </a:xfrm>
          <a:prstGeom prst="roundRect">
            <a:avLst>
              <a:gd name="adj" fmla="val 0"/>
            </a:avLst>
          </a:prstGeom>
          <a:noFill/>
          <a:ln w="25400" cmpd="sng" cap="flat">
            <a:noFill/>
            <a:prstDash val="solid"/>
            <a:round/>
          </a:ln>
        </p:spPr>
        <p:txBody>
          <a:bodyPr anchor="t" rtlCol="false" anchorCtr="false" vert="horz" wrap="square" lIns="0" rIns="0" tIns="0" bIns="0"/>
          <a:lstStyle/>
          <a:p>
            <a:pPr algn="l" indent="0">
              <a:lnSpc>
                <a:spcPct val="133333"/>
              </a:lnSpc>
              <a:defRPr/>
            </a:pPr>
            <a:r>
              <a:rPr lang="en-US" b="true" i="false" strike="noStrike" u="none" sz="1800">
                <a:solidFill>
                  <a:srgbClr val="B91C1C"/>
                </a:solidFill>
                <a:latin typeface="Poppins"/>
                <a:ea typeface="Poppins"/>
                <a:cs typeface="Poppins"/>
                <a:sym typeface="Poppins"/>
              </a:rPr>
              <a:t>Missing Inputs Check</a:t>
            </a:r>
            <a:r>
              <a:rPr lang="en-US" b="false" i="false" strike="noStrike" u="none" sz="1400">
                <a:solidFill>
                  <a:srgbClr val="1F2329"/>
                </a:solidFill>
                <a:latin typeface="Poppins"/>
                <a:ea typeface="Poppins"/>
                <a:cs typeface="Poppins"/>
                <a:sym typeface="Poppins"/>
              </a:rPr>
              <a:t/>
            </a:r>
            <a:br>
              <a:rPr lang="en-US" b="false" i="false" strike="noStrike" u="none" sz="1400">
                <a:solidFill>
                  <a:srgbClr val="1F2329"/>
                </a:solidFill>
                <a:latin typeface="Poppins"/>
                <a:ea typeface="Poppins"/>
                <a:cs typeface="Poppins"/>
                <a:sym typeface="Poppins"/>
              </a:rPr>
            </a:br>
            <a:r>
              <a:rPr lang="en-US" b="false" i="false" strike="noStrike" u="none" sz="1400">
                <a:solidFill>
                  <a:srgbClr val="374151"/>
                </a:solidFill>
                <a:latin typeface="Poppins"/>
                <a:ea typeface="Poppins"/>
                <a:cs typeface="Poppins"/>
                <a:sym typeface="Poppins"/>
              </a:rPr>
              <a:t>If either the</a:t>
            </a:r>
            <a:r>
              <a:rPr lang="en-US" b="true" i="false" strike="noStrike" u="none" sz="1400">
                <a:solidFill>
                  <a:srgbClr val="374151"/>
                </a:solidFill>
                <a:latin typeface="Poppins"/>
                <a:ea typeface="Poppins"/>
                <a:cs typeface="Poppins"/>
                <a:sym typeface="Poppins"/>
              </a:rPr>
              <a:t>parcel file</a:t>
            </a:r>
            <a:r>
              <a:rPr lang="en-US" b="false" i="false" strike="noStrike" u="none" sz="1400">
                <a:solidFill>
                  <a:srgbClr val="374151"/>
                </a:solidFill>
                <a:latin typeface="Poppins"/>
                <a:ea typeface="Poppins"/>
                <a:cs typeface="Poppins"/>
                <a:sym typeface="Poppins"/>
              </a:rPr>
              <a:t>or the</a:t>
            </a:r>
            <a:r>
              <a:rPr lang="en-US" b="true" i="false" strike="noStrike" u="none" sz="1400">
                <a:solidFill>
                  <a:srgbClr val="374151"/>
                </a:solidFill>
                <a:latin typeface="Poppins"/>
                <a:ea typeface="Poppins"/>
                <a:cs typeface="Poppins"/>
                <a:sym typeface="Poppins"/>
              </a:rPr>
              <a:t>Step 1 export file</a:t>
            </a:r>
            <a:r>
              <a:rPr lang="en-US" b="false" i="false" strike="noStrike" u="none" sz="1400">
                <a:solidFill>
                  <a:srgbClr val="374151"/>
                </a:solidFill>
                <a:latin typeface="Poppins"/>
                <a:ea typeface="Poppins"/>
                <a:cs typeface="Poppins"/>
                <a:sym typeface="Poppins"/>
              </a:rPr>
              <a:t>is not found in the specified directory, the workflow must:</a:t>
            </a:r>
            <a:r>
              <a:rPr lang="en-US" b="false" i="false" strike="noStrike" u="none" sz="1400">
                <a:solidFill>
                  <a:srgbClr val="1F2329"/>
                </a:solidFill>
                <a:latin typeface="Poppins"/>
                <a:ea typeface="Poppins"/>
                <a:cs typeface="Poppins"/>
                <a:sym typeface="Poppins"/>
              </a:rPr>
              <a:t/>
            </a:r>
            <a:br>
              <a:rPr lang="en-US" b="false" i="false" strike="noStrike" u="none" sz="1400">
                <a:solidFill>
                  <a:srgbClr val="1F2329"/>
                </a:solidFill>
                <a:latin typeface="Poppins"/>
                <a:ea typeface="Poppins"/>
                <a:cs typeface="Poppins"/>
                <a:sym typeface="Poppins"/>
              </a:rPr>
            </a:br>
            <a:r>
              <a:rPr lang="en-US" b="false" i="false" strike="noStrike" u="none" sz="1400">
                <a:solidFill>
                  <a:srgbClr val="374151"/>
                </a:solidFill>
                <a:latin typeface="Poppins"/>
                <a:ea typeface="Poppins"/>
                <a:cs typeface="Poppins"/>
                <a:sym typeface="Poppins"/>
              </a:rPr>
              <a:t>1. Terminate the process</a:t>
            </a:r>
            <a:r>
              <a:rPr lang="en-US" b="true" i="false" strike="noStrike" u="none" sz="1400">
                <a:solidFill>
                  <a:srgbClr val="374151"/>
                </a:solidFill>
                <a:latin typeface="Poppins"/>
                <a:ea typeface="Poppins"/>
                <a:cs typeface="Poppins"/>
                <a:sym typeface="Poppins"/>
              </a:rPr>
              <a:t>early</a:t>
            </a:r>
            <a:r>
              <a:rPr lang="en-US" b="false" i="false" strike="noStrike" u="none" sz="1400">
                <a:solidFill>
                  <a:srgbClr val="374151"/>
                </a:solidFill>
                <a:latin typeface="Poppins"/>
                <a:ea typeface="Poppins"/>
                <a:cs typeface="Poppins"/>
                <a:sym typeface="Poppins"/>
              </a:rPr>
              <a:t>to avoid crashes.</a:t>
            </a:r>
            <a:r>
              <a:rPr lang="en-US" b="false" i="false" strike="noStrike" u="none" sz="1400">
                <a:solidFill>
                  <a:srgbClr val="1F2329"/>
                </a:solidFill>
                <a:latin typeface="Poppins"/>
                <a:ea typeface="Poppins"/>
                <a:cs typeface="Poppins"/>
                <a:sym typeface="Poppins"/>
              </a:rPr>
              <a:t/>
            </a:r>
            <a:br>
              <a:rPr lang="en-US" b="false" i="false" strike="noStrike" u="none" sz="1400">
                <a:solidFill>
                  <a:srgbClr val="1F2329"/>
                </a:solidFill>
                <a:latin typeface="Poppins"/>
                <a:ea typeface="Poppins"/>
                <a:cs typeface="Poppins"/>
                <a:sym typeface="Poppins"/>
              </a:rPr>
            </a:br>
            <a:r>
              <a:rPr lang="en-US" b="false" i="false" strike="noStrike" u="none" sz="1400">
                <a:solidFill>
                  <a:srgbClr val="374151"/>
                </a:solidFill>
                <a:latin typeface="Poppins"/>
                <a:ea typeface="Poppins"/>
                <a:cs typeface="Poppins"/>
                <a:sym typeface="Poppins"/>
              </a:rPr>
              <a:t>2. Return a</a:t>
            </a:r>
            <a:r>
              <a:rPr lang="en-US" b="true" i="false" strike="noStrike" u="none" sz="1400">
                <a:solidFill>
                  <a:srgbClr val="374151"/>
                </a:solidFill>
                <a:latin typeface="Poppins"/>
                <a:ea typeface="Poppins"/>
                <a:cs typeface="Poppins"/>
                <a:sym typeface="Poppins"/>
              </a:rPr>
              <a:t>clear, user-friendly error message</a:t>
            </a:r>
            <a:r>
              <a:rPr lang="en-US" b="false" i="false" strike="noStrike" u="none" sz="1400">
                <a:solidFill>
                  <a:srgbClr val="374151"/>
                </a:solidFill>
                <a:latin typeface="Poppins"/>
                <a:ea typeface="Poppins"/>
                <a:cs typeface="Poppins"/>
                <a:sym typeface="Poppins"/>
              </a:rPr>
              <a:t>specifying which file is missing.</a:t>
            </a:r>
            <a:endParaRPr lang="en-US" sz="1100"/>
          </a:p>
        </p:txBody>
      </p:sp>
      <p:cxnSp>
        <p:nvCxnSpPr>
          <p:cNvPr name="Connector 20" id="20"/>
          <p:cNvCxnSpPr/>
          <p:nvPr/>
        </p:nvCxnSpPr>
        <p:spPr>
          <a:xfrm rot="-4092" flipH="false" flipV="false">
            <a:off x="762004" y="6203950"/>
            <a:ext cx="10668000" cy="12700"/>
          </a:xfrm>
          <a:prstGeom prst="straightConnector1">
            <a:avLst/>
          </a:prstGeom>
          <a:solidFill>
            <a:srgbClr val="DEE0E3">
              <a:alpha val="100000"/>
            </a:srgbClr>
          </a:solidFill>
          <a:ln w="12700" cmpd="sng" cap="flat">
            <a:solidFill>
              <a:srgbClr val="2F4F4F">
                <a:alpha val="30000"/>
              </a:srgbClr>
            </a:solidFill>
            <a:prstDash val="solid"/>
            <a:round/>
            <a:headEnd type="none" w="med" len="med"/>
            <a:tailEnd type="none" w="med" len="med"/>
          </a:ln>
        </p:spPr>
      </p:cxnSp>
    </p:spTree>
  </p:cSld>
  <p:clrMapOvr>
    <a:masterClrMapping/>
  </p:clrMapOvr>
</p:sld>
</file>

<file path=ppt/slides/slide19.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520700" y="279400"/>
            <a:ext cx="5080000" cy="3556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696969"/>
                </a:solidFill>
                <a:latin typeface="Poppins"/>
                <a:ea typeface="Poppins"/>
                <a:cs typeface="Poppins"/>
                <a:sym typeface="Poppins"/>
              </a:rPr>
              <a:t>Part 3. Combination Workflow (Step 1 / 2 / 3)</a:t>
            </a:r>
            <a:endParaRPr lang="en-US" sz="1100"/>
          </a:p>
        </p:txBody>
      </p:sp>
      <p:sp>
        <p:nvSpPr>
          <p:cNvPr name="AutoShape 3" id="3"/>
          <p:cNvSpPr/>
          <p:nvPr/>
        </p:nvSpPr>
        <p:spPr>
          <a:xfrm rot="0" flipH="false" flipV="false">
            <a:off x="749300" y="838200"/>
            <a:ext cx="10668000" cy="5588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2F4F4F"/>
                </a:solidFill>
                <a:latin typeface="Poppins"/>
                <a:ea typeface="Poppins"/>
                <a:cs typeface="Poppins"/>
                <a:sym typeface="Poppins"/>
              </a:rPr>
              <a:t>Step 2-B. Aggregate, Merge, and Export</a:t>
            </a:r>
            <a:endParaRPr lang="en-US" sz="1100"/>
          </a:p>
        </p:txBody>
      </p:sp>
      <p:cxnSp>
        <p:nvCxnSpPr>
          <p:cNvPr name="Connector 4" id="4"/>
          <p:cNvCxnSpPr/>
          <p:nvPr/>
        </p:nvCxnSpPr>
        <p:spPr>
          <a:xfrm rot="-4092" flipH="false" flipV="false">
            <a:off x="749304" y="1593850"/>
            <a:ext cx="10668000" cy="12700"/>
          </a:xfrm>
          <a:prstGeom prst="straightConnector1">
            <a:avLst/>
          </a:prstGeom>
          <a:solidFill>
            <a:srgbClr val="DEE0E3">
              <a:alpha val="100000"/>
            </a:srgbClr>
          </a:solidFill>
          <a:ln w="12700" cmpd="sng" cap="flat">
            <a:solidFill>
              <a:srgbClr val="2F4F4F">
                <a:alpha val="100000"/>
              </a:srgbClr>
            </a:solidFill>
            <a:prstDash val="solid"/>
            <a:round/>
            <a:headEnd type="none" w="med" len="med"/>
            <a:tailEnd type="none" w="med" len="med"/>
          </a:ln>
        </p:spPr>
      </p:cxnSp>
      <p:sp>
        <p:nvSpPr>
          <p:cNvPr name="AutoShape 5" id="5"/>
          <p:cNvSpPr/>
          <p:nvPr/>
        </p:nvSpPr>
        <p:spPr>
          <a:xfrm rot="0" flipH="false" flipV="false">
            <a:off x="749300" y="1905000"/>
            <a:ext cx="5080000" cy="4064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2F4F4F"/>
                </a:solidFill>
                <a:latin typeface="Poppins"/>
                <a:ea typeface="Poppins"/>
                <a:cs typeface="Poppins"/>
                <a:sym typeface="Poppins"/>
              </a:rPr>
              <a:t>Parcel-level enrichment</a:t>
            </a:r>
            <a:endParaRPr lang="en-US" sz="1100"/>
          </a:p>
        </p:txBody>
      </p:sp>
      <p:sp>
        <p:nvSpPr>
          <p:cNvPr name="AutoShape 6" id="6"/>
          <p:cNvSpPr/>
          <p:nvPr/>
        </p:nvSpPr>
        <p:spPr>
          <a:xfrm rot="0" flipH="false" flipV="false">
            <a:off x="749300" y="2540000"/>
            <a:ext cx="381000" cy="381000"/>
          </a:xfrm>
          <a:prstGeom prst="roundRect">
            <a:avLst>
              <a:gd name="adj" fmla="val 0"/>
            </a:avLst>
          </a:prstGeom>
          <a:solidFill>
            <a:srgbClr val="2F4F4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1270000" y="2489200"/>
            <a:ext cx="4318000" cy="889000"/>
          </a:xfrm>
          <a:prstGeom prst="roundRect">
            <a:avLst>
              <a:gd name="adj" fmla="val 0"/>
            </a:avLst>
          </a:prstGeom>
          <a:noFill/>
          <a:ln w="25400" cmpd="sng" cap="flat">
            <a:noFill/>
            <a:prstDash val="solid"/>
            <a:round/>
          </a:ln>
        </p:spPr>
        <p:txBody>
          <a:bodyPr anchor="t" rtlCol="false" anchorCtr="false" vert="horz" wrap="square" lIns="0" rIns="0" tIns="0" bIns="0"/>
          <a:lstStyle/>
          <a:p>
            <a:pPr algn="l" indent="0">
              <a:lnSpc>
                <a:spcPct val="125000"/>
              </a:lnSpc>
              <a:defRPr/>
            </a:pPr>
            <a:r>
              <a:rPr lang="en-US" b="true" i="false" strike="noStrike" u="none" sz="1600">
                <a:solidFill>
                  <a:srgbClr val="1F2329"/>
                </a:solidFill>
                <a:latin typeface="Poppins"/>
                <a:ea typeface="Poppins"/>
                <a:cs typeface="Poppins"/>
                <a:sym typeface="Poppins"/>
              </a:rPr>
              <a:t>Data Grouping</a:t>
            </a:r>
            <a:r>
              <a:rPr lang="en-US" b="false" i="false" strike="noStrike" u="none" sz="1600">
                <a:solidFill>
                  <a:srgbClr val="1F2329"/>
                </a:solidFill>
                <a:latin typeface="Poppins"/>
                <a:ea typeface="Poppins"/>
                <a:cs typeface="Poppins"/>
                <a:sym typeface="Poppins"/>
              </a:rPr>
              <a:t/>
            </a:r>
            <a:endParaRPr lang="en-US" sz="1100"/>
          </a:p>
          <a:p>
            <a:pPr algn="l" indent="0">
              <a:lnSpc>
                <a:spcPct val="125000"/>
              </a:lnSpc>
            </a:pPr>
            <a:r>
              <a:rPr lang="en-US" b="false" i="false" strike="noStrike" u="none" sz="1300">
                <a:solidFill>
                  <a:srgbClr val="555555"/>
                </a:solidFill>
                <a:latin typeface="Poppins"/>
                <a:ea typeface="Poppins"/>
                <a:cs typeface="Poppins"/>
                <a:sym typeface="Poppins"/>
              </a:rPr>
              <a:t>Group filtered land use classes by the unique identifier 'pin10_key'.</a:t>
            </a:r>
          </a:p>
        </p:txBody>
      </p:sp>
      <p:sp>
        <p:nvSpPr>
          <p:cNvPr name="AutoShape 8" id="8"/>
          <p:cNvSpPr/>
          <p:nvPr/>
        </p:nvSpPr>
        <p:spPr>
          <a:xfrm rot="0" flipH="false" flipV="false">
            <a:off x="749300" y="3683000"/>
            <a:ext cx="381000" cy="381000"/>
          </a:xfrm>
          <a:prstGeom prst="roundRect">
            <a:avLst>
              <a:gd name="adj" fmla="val 0"/>
            </a:avLst>
          </a:prstGeom>
          <a:solidFill>
            <a:srgbClr val="FFA50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1270000" y="3632200"/>
            <a:ext cx="4318000" cy="889000"/>
          </a:xfrm>
          <a:prstGeom prst="roundRect">
            <a:avLst>
              <a:gd name="adj" fmla="val 0"/>
            </a:avLst>
          </a:prstGeom>
          <a:noFill/>
          <a:ln w="25400" cmpd="sng" cap="flat">
            <a:noFill/>
            <a:prstDash val="solid"/>
            <a:round/>
          </a:ln>
        </p:spPr>
        <p:txBody>
          <a:bodyPr anchor="t" rtlCol="false" anchorCtr="false" vert="horz" wrap="square" lIns="0" rIns="0" tIns="0" bIns="0"/>
          <a:lstStyle/>
          <a:p>
            <a:pPr algn="l" indent="0">
              <a:lnSpc>
                <a:spcPct val="125000"/>
              </a:lnSpc>
              <a:defRPr/>
            </a:pPr>
            <a:r>
              <a:rPr lang="en-US" b="true" i="false" strike="noStrike" u="none" sz="1600">
                <a:solidFill>
                  <a:srgbClr val="1F2329"/>
                </a:solidFill>
                <a:latin typeface="Poppins"/>
                <a:ea typeface="Poppins"/>
                <a:cs typeface="Poppins"/>
                <a:sym typeface="Poppins"/>
              </a:rPr>
              <a:t>Metric Calculation</a:t>
            </a:r>
            <a:r>
              <a:rPr lang="en-US" b="false" i="false" strike="noStrike" u="none" sz="1600">
                <a:solidFill>
                  <a:srgbClr val="1F2329"/>
                </a:solidFill>
                <a:latin typeface="Poppins"/>
                <a:ea typeface="Poppins"/>
                <a:cs typeface="Poppins"/>
                <a:sym typeface="Poppins"/>
              </a:rPr>
              <a:t/>
            </a:r>
            <a:endParaRPr lang="en-US" sz="1100"/>
          </a:p>
          <a:p>
            <a:pPr algn="l" indent="0">
              <a:lnSpc>
                <a:spcPct val="125000"/>
              </a:lnSpc>
            </a:pPr>
            <a:r>
              <a:rPr lang="en-US" b="false" i="false" strike="noStrike" u="none" sz="1300">
                <a:solidFill>
                  <a:srgbClr val="555555"/>
                </a:solidFill>
                <a:latin typeface="Poppins"/>
                <a:ea typeface="Poppins"/>
                <a:cs typeface="Poppins"/>
                <a:sym typeface="Poppins"/>
              </a:rPr>
              <a:t>Compute 'class_count' to quantify the number of land use categories per parcel.</a:t>
            </a:r>
          </a:p>
        </p:txBody>
      </p:sp>
      <p:sp>
        <p:nvSpPr>
          <p:cNvPr name="AutoShape 10" id="10"/>
          <p:cNvSpPr/>
          <p:nvPr/>
        </p:nvSpPr>
        <p:spPr>
          <a:xfrm rot="0" flipH="false" flipV="false">
            <a:off x="749300" y="4826000"/>
            <a:ext cx="381000" cy="381000"/>
          </a:xfrm>
          <a:prstGeom prst="roundRect">
            <a:avLst>
              <a:gd name="adj" fmla="val 0"/>
            </a:avLst>
          </a:prstGeom>
          <a:solidFill>
            <a:srgbClr val="1E90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1270000" y="4775200"/>
            <a:ext cx="4318000" cy="1143000"/>
          </a:xfrm>
          <a:prstGeom prst="roundRect">
            <a:avLst>
              <a:gd name="adj" fmla="val 0"/>
            </a:avLst>
          </a:prstGeom>
          <a:noFill/>
          <a:ln w="25400" cmpd="sng" cap="flat">
            <a:noFill/>
            <a:prstDash val="solid"/>
            <a:round/>
          </a:ln>
        </p:spPr>
        <p:txBody>
          <a:bodyPr anchor="t" rtlCol="false" anchorCtr="false" vert="horz" wrap="square" lIns="0" rIns="0" tIns="0" bIns="0"/>
          <a:lstStyle/>
          <a:p>
            <a:pPr algn="l" indent="0">
              <a:lnSpc>
                <a:spcPct val="125000"/>
              </a:lnSpc>
              <a:defRPr/>
            </a:pPr>
            <a:r>
              <a:rPr lang="en-US" b="true" i="false" strike="noStrike" u="none" sz="1600">
                <a:solidFill>
                  <a:srgbClr val="1F2329"/>
                </a:solidFill>
                <a:latin typeface="Poppins"/>
                <a:ea typeface="Poppins"/>
                <a:cs typeface="Poppins"/>
                <a:sym typeface="Poppins"/>
              </a:rPr>
              <a:t>List Building &amp; Data Filtering</a:t>
            </a:r>
            <a:r>
              <a:rPr lang="en-US" b="false" i="false" strike="noStrike" u="none" sz="1600">
                <a:solidFill>
                  <a:srgbClr val="1F2329"/>
                </a:solidFill>
                <a:latin typeface="Poppins"/>
                <a:ea typeface="Poppins"/>
                <a:cs typeface="Poppins"/>
                <a:sym typeface="Poppins"/>
              </a:rPr>
              <a:t/>
            </a:r>
            <a:endParaRPr lang="en-US" sz="1100"/>
          </a:p>
          <a:p>
            <a:pPr algn="l" indent="0">
              <a:lnSpc>
                <a:spcPct val="125000"/>
              </a:lnSpc>
            </a:pPr>
            <a:r>
              <a:rPr lang="en-US" b="false" i="false" strike="noStrike" u="none" sz="1300">
                <a:solidFill>
                  <a:srgbClr val="555555"/>
                </a:solidFill>
                <a:latin typeface="Poppins"/>
                <a:ea typeface="Poppins"/>
                <a:cs typeface="Poppins"/>
                <a:sym typeface="Poppins"/>
              </a:rPr>
              <a:t>- Build a 'class_list' to preserve multi-class parcels.</a:t>
            </a:r>
            <a:r>
              <a:rPr lang="en-US" b="false" i="false" strike="noStrike" u="none" sz="1600">
                <a:solidFill>
                  <a:srgbClr val="1F2329"/>
                </a:solidFill>
                <a:latin typeface="Poppins"/>
                <a:ea typeface="Poppins"/>
                <a:cs typeface="Poppins"/>
                <a:sym typeface="Poppins"/>
              </a:rPr>
              <a:t/>
            </a:r>
          </a:p>
          <a:p>
            <a:pPr algn="l" indent="0">
              <a:lnSpc>
                <a:spcPct val="125000"/>
              </a:lnSpc>
            </a:pPr>
            <a:r>
              <a:rPr lang="en-US" b="false" i="false" strike="noStrike" u="none" sz="1300">
                <a:solidFill>
                  <a:srgbClr val="555555"/>
                </a:solidFill>
                <a:latin typeface="Poppins"/>
                <a:ea typeface="Poppins"/>
                <a:cs typeface="Poppins"/>
                <a:sym typeface="Poppins"/>
              </a:rPr>
              <a:t>- Perform an inner join to retain only commercial-use parcels.</a:t>
            </a:r>
          </a:p>
        </p:txBody>
      </p:sp>
      <p:cxnSp>
        <p:nvCxnSpPr>
          <p:cNvPr name="Connector 12" id="12"/>
          <p:cNvCxnSpPr/>
          <p:nvPr/>
        </p:nvCxnSpPr>
        <p:spPr>
          <a:xfrm rot="5388765" flipH="false" flipV="false">
            <a:off x="4140200" y="3841760"/>
            <a:ext cx="3886200" cy="12700"/>
          </a:xfrm>
          <a:prstGeom prst="straightConnector1">
            <a:avLst/>
          </a:prstGeom>
          <a:solidFill>
            <a:srgbClr val="DEE0E3">
              <a:alpha val="100000"/>
            </a:srgbClr>
          </a:solidFill>
          <a:ln w="12700" cmpd="sng" cap="flat">
            <a:solidFill>
              <a:srgbClr val="2F4F4F">
                <a:alpha val="30000"/>
              </a:srgbClr>
            </a:solidFill>
            <a:prstDash val="dash"/>
            <a:round/>
            <a:headEnd type="none" w="med" len="med"/>
            <a:tailEnd type="none" w="med" len="med"/>
          </a:ln>
        </p:spPr>
      </p:cxnSp>
      <p:sp>
        <p:nvSpPr>
          <p:cNvPr name="AutoShape 13" id="13"/>
          <p:cNvSpPr/>
          <p:nvPr/>
        </p:nvSpPr>
        <p:spPr>
          <a:xfrm rot="0" flipH="false" flipV="false">
            <a:off x="6464300" y="1905000"/>
            <a:ext cx="5080000" cy="4064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2F4F4F"/>
                </a:solidFill>
                <a:latin typeface="Poppins"/>
                <a:ea typeface="Poppins"/>
                <a:cs typeface="Poppins"/>
                <a:sym typeface="Poppins"/>
              </a:rPr>
              <a:t>Main outputs</a:t>
            </a:r>
            <a:endParaRPr lang="en-US" sz="1100"/>
          </a:p>
        </p:txBody>
      </p:sp>
      <p:sp>
        <p:nvSpPr>
          <p:cNvPr name="AutoShape 14" id="14"/>
          <p:cNvSpPr/>
          <p:nvPr/>
        </p:nvSpPr>
        <p:spPr>
          <a:xfrm rot="0" flipH="false" flipV="false">
            <a:off x="6464300" y="2540000"/>
            <a:ext cx="381000" cy="381000"/>
          </a:xfrm>
          <a:prstGeom prst="roundRect">
            <a:avLst>
              <a:gd name="adj" fmla="val 0"/>
            </a:avLst>
          </a:prstGeom>
          <a:solidFill>
            <a:srgbClr val="228B2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6985000" y="2489200"/>
            <a:ext cx="4572000" cy="889000"/>
          </a:xfrm>
          <a:prstGeom prst="roundRect">
            <a:avLst>
              <a:gd name="adj" fmla="val 0"/>
            </a:avLst>
          </a:prstGeom>
          <a:noFill/>
          <a:ln w="25400" cmpd="sng" cap="flat">
            <a:noFill/>
            <a:prstDash val="solid"/>
            <a:round/>
          </a:ln>
        </p:spPr>
        <p:txBody>
          <a:bodyPr anchor="t" rtlCol="false" anchorCtr="false" vert="horz" wrap="square" lIns="0" rIns="0" tIns="0" bIns="0"/>
          <a:lstStyle/>
          <a:p>
            <a:pPr algn="l" indent="0">
              <a:lnSpc>
                <a:spcPct val="125000"/>
              </a:lnSpc>
              <a:defRPr/>
            </a:pPr>
            <a:r>
              <a:rPr lang="en-US" b="true" i="false" strike="noStrike" u="none" sz="1500">
                <a:solidFill>
                  <a:srgbClr val="1F2329"/>
                </a:solidFill>
                <a:latin typeface="Poppins"/>
                <a:ea typeface="Poppins"/>
                <a:cs typeface="Poppins"/>
                <a:sym typeface="Poppins"/>
              </a:rPr>
              <a:t>GeoPackage (GPKG)</a:t>
            </a:r>
            <a:r>
              <a:rPr lang="en-US" b="false" i="false" strike="noStrike" u="none" sz="1600">
                <a:solidFill>
                  <a:srgbClr val="1F2329"/>
                </a:solidFill>
                <a:latin typeface="Poppins"/>
                <a:ea typeface="Poppins"/>
                <a:cs typeface="Poppins"/>
                <a:sym typeface="Poppins"/>
              </a:rPr>
              <a:t/>
            </a:r>
            <a:endParaRPr lang="en-US" sz="1100"/>
          </a:p>
          <a:p>
            <a:pPr algn="l" indent="0">
              <a:lnSpc>
                <a:spcPct val="125000"/>
              </a:lnSpc>
            </a:pPr>
            <a:r>
              <a:rPr lang="en-US" b="false" i="false" strike="noStrike" u="none" sz="1300">
                <a:solidFill>
                  <a:srgbClr val="555555"/>
                </a:solidFill>
                <a:latin typeface="Poppins"/>
                <a:ea typeface="Poppins"/>
                <a:cs typeface="Poppins"/>
                <a:sym typeface="Poppins"/>
              </a:rPr>
              <a:t>Spatial dataset containing the geometric features of commercial parcels.</a:t>
            </a:r>
          </a:p>
        </p:txBody>
      </p:sp>
      <p:sp>
        <p:nvSpPr>
          <p:cNvPr name="AutoShape 16" id="16"/>
          <p:cNvSpPr/>
          <p:nvPr/>
        </p:nvSpPr>
        <p:spPr>
          <a:xfrm rot="0" flipH="false" flipV="false">
            <a:off x="6464300" y="3683000"/>
            <a:ext cx="381000" cy="381000"/>
          </a:xfrm>
          <a:prstGeom prst="roundRect">
            <a:avLst>
              <a:gd name="adj" fmla="val 0"/>
            </a:avLst>
          </a:prstGeom>
          <a:solidFill>
            <a:srgbClr val="4682B4">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6985000" y="3632200"/>
            <a:ext cx="4572000" cy="889000"/>
          </a:xfrm>
          <a:prstGeom prst="roundRect">
            <a:avLst>
              <a:gd name="adj" fmla="val 0"/>
            </a:avLst>
          </a:prstGeom>
          <a:noFill/>
          <a:ln w="25400" cmpd="sng" cap="flat">
            <a:noFill/>
            <a:prstDash val="solid"/>
            <a:round/>
          </a:ln>
        </p:spPr>
        <p:txBody>
          <a:bodyPr anchor="t" rtlCol="false" anchorCtr="false" vert="horz" wrap="square" lIns="0" rIns="0" tIns="0" bIns="0"/>
          <a:lstStyle/>
          <a:p>
            <a:pPr algn="l" indent="0">
              <a:lnSpc>
                <a:spcPct val="125000"/>
              </a:lnSpc>
              <a:defRPr/>
            </a:pPr>
            <a:r>
              <a:rPr lang="en-US" b="true" i="false" strike="noStrike" u="none" sz="1500">
                <a:solidFill>
                  <a:srgbClr val="1F2329"/>
                </a:solidFill>
                <a:latin typeface="Poppins"/>
                <a:ea typeface="Poppins"/>
                <a:cs typeface="Poppins"/>
                <a:sym typeface="Poppins"/>
              </a:rPr>
              <a:t>Comma-Separated Values (CSV)</a:t>
            </a:r>
            <a:r>
              <a:rPr lang="en-US" b="false" i="false" strike="noStrike" u="none" sz="1600">
                <a:solidFill>
                  <a:srgbClr val="1F2329"/>
                </a:solidFill>
                <a:latin typeface="Poppins"/>
                <a:ea typeface="Poppins"/>
                <a:cs typeface="Poppins"/>
                <a:sym typeface="Poppins"/>
              </a:rPr>
              <a:t/>
            </a:r>
            <a:endParaRPr lang="en-US" sz="1100"/>
          </a:p>
          <a:p>
            <a:pPr algn="l" indent="0">
              <a:lnSpc>
                <a:spcPct val="125000"/>
              </a:lnSpc>
            </a:pPr>
            <a:r>
              <a:rPr lang="en-US" b="false" i="false" strike="noStrike" u="none" sz="1300">
                <a:solidFill>
                  <a:srgbClr val="555555"/>
                </a:solidFill>
                <a:latin typeface="Poppins"/>
                <a:ea typeface="Poppins"/>
                <a:cs typeface="Poppins"/>
                <a:sym typeface="Poppins"/>
              </a:rPr>
              <a:t>Tabular data file with all key attributes for the commercial parcels.</a:t>
            </a:r>
          </a:p>
        </p:txBody>
      </p:sp>
      <p:sp>
        <p:nvSpPr>
          <p:cNvPr name="AutoShape 18" id="18"/>
          <p:cNvSpPr/>
          <p:nvPr/>
        </p:nvSpPr>
        <p:spPr>
          <a:xfrm rot="0" flipH="false" flipV="false">
            <a:off x="6464300" y="4826000"/>
            <a:ext cx="381000" cy="381000"/>
          </a:xfrm>
          <a:prstGeom prst="roundRect">
            <a:avLst>
              <a:gd name="adj" fmla="val 0"/>
            </a:avLst>
          </a:prstGeom>
          <a:solidFill>
            <a:srgbClr val="9370D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6985000" y="4775200"/>
            <a:ext cx="4572000" cy="1143000"/>
          </a:xfrm>
          <a:prstGeom prst="roundRect">
            <a:avLst>
              <a:gd name="adj" fmla="val 0"/>
            </a:avLst>
          </a:prstGeom>
          <a:noFill/>
          <a:ln w="25400" cmpd="sng" cap="flat">
            <a:noFill/>
            <a:prstDash val="solid"/>
            <a:round/>
          </a:ln>
        </p:spPr>
        <p:txBody>
          <a:bodyPr anchor="t" rtlCol="false" anchorCtr="false" vert="horz" wrap="square" lIns="0" rIns="0" tIns="0" bIns="0"/>
          <a:lstStyle/>
          <a:p>
            <a:pPr algn="l" indent="0">
              <a:lnSpc>
                <a:spcPct val="125000"/>
              </a:lnSpc>
              <a:defRPr/>
            </a:pPr>
            <a:r>
              <a:rPr lang="en-US" b="true" i="false" strike="noStrike" u="none" sz="1500">
                <a:solidFill>
                  <a:srgbClr val="1F2329"/>
                </a:solidFill>
                <a:latin typeface="Poppins"/>
                <a:ea typeface="Poppins"/>
                <a:cs typeface="Poppins"/>
                <a:sym typeface="Poppins"/>
              </a:rPr>
              <a:t>Ready for Analysis</a:t>
            </a:r>
            <a:r>
              <a:rPr lang="en-US" b="false" i="false" strike="noStrike" u="none" sz="1600">
                <a:solidFill>
                  <a:srgbClr val="1F2329"/>
                </a:solidFill>
                <a:latin typeface="Poppins"/>
                <a:ea typeface="Poppins"/>
                <a:cs typeface="Poppins"/>
                <a:sym typeface="Poppins"/>
              </a:rPr>
              <a:t/>
            </a:r>
            <a:endParaRPr lang="en-US" sz="1100"/>
          </a:p>
          <a:p>
            <a:pPr algn="l" indent="0">
              <a:lnSpc>
                <a:spcPct val="125000"/>
              </a:lnSpc>
            </a:pPr>
            <a:r>
              <a:rPr lang="en-US" b="false" i="false" strike="noStrike" u="none" sz="1300">
                <a:solidFill>
                  <a:srgbClr val="555555"/>
                </a:solidFill>
                <a:latin typeface="Poppins"/>
                <a:ea typeface="Poppins"/>
                <a:cs typeface="Poppins"/>
                <a:sym typeface="Poppins"/>
              </a:rPr>
              <a:t>Data is structured and clean, ready for import into GIS software or business intelligence platforms for further analysis.</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520700" y="279400"/>
            <a:ext cx="2552700" cy="355600"/>
          </a:xfrm>
          <a:prstGeom prst="roundRect">
            <a:avLst>
              <a:gd name="adj" fmla="val 0"/>
            </a:avLst>
          </a:prstGeom>
          <a:solidFill>
            <a:srgbClr val="F3F4F6">
              <a:alpha val="100000"/>
            </a:srgbClr>
          </a:solidFill>
          <a:ln w="254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6B7280"/>
                </a:solidFill>
                <a:latin typeface="Poppins"/>
                <a:ea typeface="Poppins"/>
                <a:cs typeface="Poppins"/>
                <a:sym typeface="Poppins"/>
              </a:rPr>
              <a:t>WORKFLOW PROCESS</a:t>
            </a:r>
            <a:endParaRPr lang="en-US" sz="1100"/>
          </a:p>
        </p:txBody>
      </p:sp>
      <p:sp>
        <p:nvSpPr>
          <p:cNvPr name="AutoShape 3" id="3"/>
          <p:cNvSpPr/>
          <p:nvPr/>
        </p:nvSpPr>
        <p:spPr>
          <a:xfrm rot="0" flipH="false" flipV="false">
            <a:off x="762000" y="876300"/>
            <a:ext cx="10668000" cy="635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F4F4F"/>
                </a:solidFill>
                <a:latin typeface="Poppins"/>
                <a:ea typeface="Poppins"/>
                <a:cs typeface="Poppins"/>
                <a:sym typeface="Poppins"/>
              </a:rPr>
              <a:t>Part 3. Combination Workflow (Step 3)</a:t>
            </a:r>
            <a:endParaRPr lang="en-US" sz="1100"/>
          </a:p>
        </p:txBody>
      </p:sp>
      <p:sp>
        <p:nvSpPr>
          <p:cNvPr name="AutoShape 4" id="4"/>
          <p:cNvSpPr/>
          <p:nvPr/>
        </p:nvSpPr>
        <p:spPr>
          <a:xfrm rot="0" flipH="false" flipV="false">
            <a:off x="762000" y="1524000"/>
            <a:ext cx="10668000" cy="508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64748B"/>
                </a:solidFill>
                <a:latin typeface="Poppins"/>
                <a:ea typeface="Poppins"/>
                <a:cs typeface="Poppins"/>
                <a:sym typeface="Poppins"/>
              </a:rPr>
              <a:t>Step 3: Match Business Licenses to Commercial Parcels</a:t>
            </a:r>
            <a:endParaRPr lang="en-US" sz="1100"/>
          </a:p>
        </p:txBody>
      </p:sp>
      <p:cxnSp>
        <p:nvCxnSpPr>
          <p:cNvPr name="Connector 5" id="5"/>
          <p:cNvCxnSpPr/>
          <p:nvPr/>
        </p:nvCxnSpPr>
        <p:spPr>
          <a:xfrm rot="-4092" flipH="false" flipV="false">
            <a:off x="762004" y="2152650"/>
            <a:ext cx="10668000" cy="12700"/>
          </a:xfrm>
          <a:prstGeom prst="straightConnector1">
            <a:avLst/>
          </a:prstGeom>
          <a:solidFill>
            <a:srgbClr val="DEE0E3">
              <a:alpha val="100000"/>
            </a:srgbClr>
          </a:solidFill>
          <a:ln w="12700" cmpd="sng" cap="flat">
            <a:solidFill>
              <a:srgbClr val="2F4F4F">
                <a:alpha val="30000"/>
              </a:srgbClr>
            </a:solidFill>
            <a:prstDash val="solid"/>
            <a:round/>
            <a:headEnd type="none" w="med" len="med"/>
            <a:tailEnd type="none" w="med" len="med"/>
          </a:ln>
        </p:spPr>
      </p:cxnSp>
      <p:sp>
        <p:nvSpPr>
          <p:cNvPr name="AutoShape 6" id="6"/>
          <p:cNvSpPr/>
          <p:nvPr/>
        </p:nvSpPr>
        <p:spPr>
          <a:xfrm rot="0" flipH="false" flipV="false">
            <a:off x="762000" y="2413000"/>
            <a:ext cx="4826000" cy="4445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2F4F4F"/>
                </a:solidFill>
                <a:latin typeface="Poppins"/>
                <a:ea typeface="Poppins"/>
                <a:cs typeface="Poppins"/>
                <a:sym typeface="Poppins"/>
              </a:rPr>
              <a:t>Key Objectives</a:t>
            </a:r>
            <a:endParaRPr lang="en-US" sz="1100"/>
          </a:p>
        </p:txBody>
      </p:sp>
      <p:pic>
        <p:nvPicPr>
          <p:cNvPr name="Picture 7" id="7"/>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762000" y="3048000"/>
            <a:ext cx="355600" cy="355600"/>
          </a:xfrm>
          <a:prstGeom prst="rect">
            <a:avLst/>
          </a:prstGeom>
        </p:spPr>
      </p:pic>
      <p:sp>
        <p:nvSpPr>
          <p:cNvPr name="AutoShape 8" id="8"/>
          <p:cNvSpPr/>
          <p:nvPr/>
        </p:nvSpPr>
        <p:spPr>
          <a:xfrm rot="0" flipH="false" flipV="false">
            <a:off x="1397000" y="3022600"/>
            <a:ext cx="4191000" cy="762000"/>
          </a:xfrm>
          <a:prstGeom prst="roundRect">
            <a:avLst>
              <a:gd name="adj" fmla="val 0"/>
            </a:avLst>
          </a:prstGeom>
          <a:noFill/>
          <a:ln w="25400" cmpd="sng" cap="flat">
            <a:noFill/>
            <a:prstDash val="solid"/>
            <a:round/>
          </a:ln>
        </p:spPr>
        <p:txBody>
          <a:bodyPr anchor="t" rtlCol="false" anchorCtr="false" vert="horz" wrap="square" lIns="0" rIns="0" tIns="0" bIns="0"/>
          <a:lstStyle/>
          <a:p>
            <a:pPr algn="l" indent="0">
              <a:lnSpc>
                <a:spcPct val="100000"/>
              </a:lnSpc>
              <a:defRPr/>
            </a:pPr>
            <a:r>
              <a:rPr lang="en-US" b="true" i="false" strike="noStrike" u="none" sz="1400">
                <a:solidFill>
                  <a:srgbClr val="1F2329"/>
                </a:solidFill>
                <a:latin typeface="Poppins"/>
                <a:ea typeface="Poppins"/>
                <a:cs typeface="Poppins"/>
                <a:sym typeface="Poppins"/>
              </a:rPr>
              <a:t>Prepare Business License Records</a:t>
            </a:r>
            <a:r>
              <a:rPr lang="en-US" b="false" i="false" strike="noStrike" u="none" sz="1400">
                <a:solidFill>
                  <a:srgbClr val="1F2329"/>
                </a:solidFill>
                <a:latin typeface="Poppins"/>
                <a:ea typeface="Poppins"/>
                <a:cs typeface="Poppins"/>
                <a:sym typeface="Poppins"/>
              </a:rPr>
              <a:t/>
            </a:r>
            <a:endParaRPr lang="en-US" sz="1100"/>
          </a:p>
          <a:p>
            <a:pPr algn="l" indent="0">
              <a:lnSpc>
                <a:spcPct val="100000"/>
              </a:lnSpc>
            </a:pPr>
            <a:r>
              <a:rPr lang="en-US" b="false" i="false" strike="noStrike" u="none" sz="1400">
                <a:solidFill>
                  <a:srgbClr val="606C80"/>
                </a:solidFill>
                <a:latin typeface="Poppins"/>
                <a:ea typeface="Poppins"/>
                <a:cs typeface="Poppins"/>
                <a:sym typeface="Poppins"/>
              </a:rPr>
              <a:t>Extract and clean one year of business license transaction data.</a:t>
            </a: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762000" y="4064000"/>
            <a:ext cx="355600" cy="355600"/>
          </a:xfrm>
          <a:prstGeom prst="rect">
            <a:avLst/>
          </a:prstGeom>
        </p:spPr>
      </p:pic>
      <p:sp>
        <p:nvSpPr>
          <p:cNvPr name="AutoShape 10" id="10"/>
          <p:cNvSpPr/>
          <p:nvPr/>
        </p:nvSpPr>
        <p:spPr>
          <a:xfrm rot="0" flipH="false" flipV="false">
            <a:off x="1397000" y="4038600"/>
            <a:ext cx="4191000" cy="762000"/>
          </a:xfrm>
          <a:prstGeom prst="roundRect">
            <a:avLst>
              <a:gd name="adj" fmla="val 0"/>
            </a:avLst>
          </a:prstGeom>
          <a:noFill/>
          <a:ln w="25400" cmpd="sng" cap="flat">
            <a:noFill/>
            <a:prstDash val="solid"/>
            <a:round/>
          </a:ln>
        </p:spPr>
        <p:txBody>
          <a:bodyPr anchor="t" rtlCol="false" anchorCtr="false" vert="horz" wrap="square" lIns="0" rIns="0" tIns="0" bIns="0"/>
          <a:lstStyle/>
          <a:p>
            <a:pPr algn="l" indent="0">
              <a:lnSpc>
                <a:spcPct val="100000"/>
              </a:lnSpc>
              <a:defRPr/>
            </a:pPr>
            <a:r>
              <a:rPr lang="en-US" b="true" i="false" strike="noStrike" u="none" sz="1400">
                <a:solidFill>
                  <a:srgbClr val="1F2329"/>
                </a:solidFill>
                <a:latin typeface="Poppins"/>
                <a:ea typeface="Poppins"/>
                <a:cs typeface="Poppins"/>
                <a:sym typeface="Poppins"/>
              </a:rPr>
              <a:t>Convert to Geospatial Points</a:t>
            </a:r>
            <a:r>
              <a:rPr lang="en-US" b="false" i="false" strike="noStrike" u="none" sz="1400">
                <a:solidFill>
                  <a:srgbClr val="1F2329"/>
                </a:solidFill>
                <a:latin typeface="Poppins"/>
                <a:ea typeface="Poppins"/>
                <a:cs typeface="Poppins"/>
                <a:sym typeface="Poppins"/>
              </a:rPr>
              <a:t/>
            </a:r>
            <a:endParaRPr lang="en-US" sz="1100"/>
          </a:p>
          <a:p>
            <a:pPr algn="l" indent="0">
              <a:lnSpc>
                <a:spcPct val="100000"/>
              </a:lnSpc>
            </a:pPr>
            <a:r>
              <a:rPr lang="en-US" b="false" i="false" strike="noStrike" u="none" sz="1400">
                <a:solidFill>
                  <a:srgbClr val="606C80"/>
                </a:solidFill>
                <a:latin typeface="Poppins"/>
                <a:ea typeface="Poppins"/>
                <a:cs typeface="Poppins"/>
                <a:sym typeface="Poppins"/>
              </a:rPr>
              <a:t>Transform valid license rows into point geometries using address coordinates.</a:t>
            </a:r>
          </a:p>
        </p:txBody>
      </p:sp>
      <p:pic>
        <p:nvPicPr>
          <p:cNvPr name="Picture 11" id="11"/>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762000" y="5080000"/>
            <a:ext cx="355600" cy="355600"/>
          </a:xfrm>
          <a:prstGeom prst="rect">
            <a:avLst/>
          </a:prstGeom>
        </p:spPr>
      </p:pic>
      <p:sp>
        <p:nvSpPr>
          <p:cNvPr name="AutoShape 12" id="12"/>
          <p:cNvSpPr/>
          <p:nvPr/>
        </p:nvSpPr>
        <p:spPr>
          <a:xfrm rot="0" flipH="false" flipV="false">
            <a:off x="1397000" y="5054600"/>
            <a:ext cx="4191000" cy="889000"/>
          </a:xfrm>
          <a:prstGeom prst="roundRect">
            <a:avLst>
              <a:gd name="adj" fmla="val 0"/>
            </a:avLst>
          </a:prstGeom>
          <a:noFill/>
          <a:ln w="25400" cmpd="sng" cap="flat">
            <a:noFill/>
            <a:prstDash val="solid"/>
            <a:round/>
          </a:ln>
        </p:spPr>
        <p:txBody>
          <a:bodyPr anchor="t" rtlCol="false" anchorCtr="false" vert="horz" wrap="square" lIns="0" rIns="0" tIns="0" bIns="0"/>
          <a:lstStyle/>
          <a:p>
            <a:pPr algn="l" indent="0">
              <a:lnSpc>
                <a:spcPct val="100000"/>
              </a:lnSpc>
              <a:defRPr/>
            </a:pPr>
            <a:r>
              <a:rPr lang="en-US" b="true" i="false" strike="noStrike" u="none" sz="1400">
                <a:solidFill>
                  <a:srgbClr val="1F2329"/>
                </a:solidFill>
                <a:latin typeface="Poppins"/>
                <a:ea typeface="Poppins"/>
                <a:cs typeface="Poppins"/>
                <a:sym typeface="Poppins"/>
              </a:rPr>
              <a:t>Spatial Matching</a:t>
            </a:r>
            <a:r>
              <a:rPr lang="en-US" b="false" i="false" strike="noStrike" u="none" sz="1400">
                <a:solidFill>
                  <a:srgbClr val="1F2329"/>
                </a:solidFill>
                <a:latin typeface="Poppins"/>
                <a:ea typeface="Poppins"/>
                <a:cs typeface="Poppins"/>
                <a:sym typeface="Poppins"/>
              </a:rPr>
              <a:t/>
            </a:r>
            <a:endParaRPr lang="en-US" sz="1100"/>
          </a:p>
          <a:p>
            <a:pPr algn="l" indent="0">
              <a:lnSpc>
                <a:spcPct val="100000"/>
              </a:lnSpc>
            </a:pPr>
            <a:r>
              <a:rPr lang="en-US" b="false" i="false" strike="noStrike" u="none" sz="1400">
                <a:solidFill>
                  <a:srgbClr val="606C80"/>
                </a:solidFill>
                <a:latin typeface="Poppins"/>
                <a:ea typeface="Poppins"/>
                <a:cs typeface="Poppins"/>
                <a:sym typeface="Poppins"/>
              </a:rPr>
              <a:t>Overlay license points onto commercial parcel polygons to establish a spatial link.</a:t>
            </a:r>
          </a:p>
        </p:txBody>
      </p:sp>
      <p:sp>
        <p:nvSpPr>
          <p:cNvPr name="AutoShape 13" id="13"/>
          <p:cNvSpPr/>
          <p:nvPr/>
        </p:nvSpPr>
        <p:spPr>
          <a:xfrm rot="0" flipH="false" flipV="false">
            <a:off x="5969000" y="2794000"/>
            <a:ext cx="5461000" cy="3048000"/>
          </a:xfrm>
          <a:prstGeom prst="roundRect">
            <a:avLst>
              <a:gd name="adj" fmla="val 0"/>
            </a:avLst>
          </a:prstGeom>
          <a:solidFill>
            <a:srgbClr val="F1F5F9">
              <a:alpha val="100000"/>
            </a:srgbClr>
          </a:solidFill>
          <a:ln w="12700" cmpd="sng" cap="flat">
            <a:solidFill>
              <a:srgbClr val="CBD5E1">
                <a:alpha val="10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223000" y="3175000"/>
            <a:ext cx="812800" cy="812800"/>
          </a:xfrm>
          <a:prstGeom prst="rect">
            <a:avLst/>
          </a:prstGeom>
        </p:spPr>
      </p:pic>
      <p:sp>
        <p:nvSpPr>
          <p:cNvPr name="AutoShape 15" id="15"/>
          <p:cNvSpPr/>
          <p:nvPr/>
        </p:nvSpPr>
        <p:spPr>
          <a:xfrm rot="0" flipH="false" flipV="false">
            <a:off x="7366000" y="3238500"/>
            <a:ext cx="3810000" cy="1016000"/>
          </a:xfrm>
          <a:prstGeom prst="roundRect">
            <a:avLst>
              <a:gd name="adj" fmla="val 0"/>
            </a:avLst>
          </a:prstGeom>
          <a:noFill/>
          <a:ln w="25400" cmpd="sng" cap="flat">
            <a:noFill/>
            <a:prstDash val="solid"/>
            <a:round/>
          </a:ln>
        </p:spPr>
        <p:txBody>
          <a:bodyPr anchor="t" rtlCol="false" anchorCtr="false" vert="horz" wrap="square" lIns="0" rIns="0" tIns="0" bIns="0"/>
          <a:lstStyle/>
          <a:p>
            <a:pPr algn="l" indent="0">
              <a:lnSpc>
                <a:spcPct val="108333"/>
              </a:lnSpc>
              <a:defRPr/>
            </a:pPr>
            <a:r>
              <a:rPr lang="en-US" b="true" i="false" strike="noStrike" u="none" sz="1600">
                <a:solidFill>
                  <a:srgbClr val="2F4F4F"/>
                </a:solidFill>
                <a:latin typeface="Poppins"/>
                <a:ea typeface="Poppins"/>
                <a:cs typeface="Poppins"/>
                <a:sym typeface="Poppins"/>
              </a:rPr>
              <a:t>Analysis Ready Data</a:t>
            </a:r>
            <a:r>
              <a:rPr lang="en-US" b="false" i="false" strike="noStrike" u="none" sz="1600">
                <a:solidFill>
                  <a:srgbClr val="1F2329"/>
                </a:solidFill>
                <a:latin typeface="Poppins"/>
                <a:ea typeface="Poppins"/>
                <a:cs typeface="Poppins"/>
                <a:sym typeface="Poppins"/>
              </a:rPr>
              <a:t/>
            </a:r>
            <a:endParaRPr lang="en-US" sz="1100"/>
          </a:p>
          <a:p>
            <a:pPr algn="l" indent="0">
              <a:lnSpc>
                <a:spcPct val="108333"/>
              </a:lnSpc>
            </a:pPr>
            <a:r>
              <a:rPr lang="en-US" b="false" i="false" strike="noStrike" u="none" sz="1600">
                <a:solidFill>
                  <a:srgbClr val="475569"/>
                </a:solidFill>
                <a:latin typeface="Poppins"/>
                <a:ea typeface="Poppins"/>
                <a:cs typeface="Poppins"/>
                <a:sym typeface="Poppins"/>
              </a:rPr>
              <a:t>Save the matched dataset to a spatial database (e.g., PostGIS) for subsequent analysis of business activity distribution.</a:t>
            </a:r>
          </a:p>
        </p:txBody>
      </p:sp>
      <p:sp>
        <p:nvSpPr>
          <p:cNvPr name="AutoShape 16" id="16"/>
          <p:cNvSpPr/>
          <p:nvPr/>
        </p:nvSpPr>
        <p:spPr>
          <a:xfrm rot="0" flipH="false" flipV="false">
            <a:off x="6223000" y="4572000"/>
            <a:ext cx="4953000" cy="1016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false" i="true" strike="noStrike" u="none" sz="1300">
                <a:solidFill>
                  <a:srgbClr val="64748B"/>
                </a:solidFill>
                <a:latin typeface="Noto Sans SC"/>
                <a:ea typeface="Noto Sans SC"/>
                <a:cs typeface="Noto Sans SC"/>
                <a:sym typeface="Noto Sans SC"/>
              </a:rPr>
              <a:t>“This step bridges administrative data with physical geography, enabling precise business pattern analysis.”</a:t>
            </a:r>
            <a:endParaRPr lang="en-US" sz="1100"/>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058400" y="4673600"/>
            <a:ext cx="3759200" cy="3759200"/>
          </a:xfrm>
          <a:prstGeom prst="ellipse">
            <a:avLst/>
          </a:prstGeom>
          <a:solidFill>
            <a:srgbClr val="FFC844">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 id="3"/>
          <p:cNvPicPr>
            <a:picLocks noChangeAspect="true"/>
          </p:cNvPicPr>
          <p:nvPr/>
        </p:nvPicPr>
        <p:blipFill>
          <a:blip r:embed="rId2"/>
          <a:srcRect l="0" r="0" t="469" b="469"/>
          <a:stretch>
            <a:fillRect/>
          </a:stretch>
        </p:blipFill>
        <p:spPr>
          <a:xfrm rot="0" flipH="false" flipV="false">
            <a:off x="520700" y="279400"/>
            <a:ext cx="2552700" cy="355600"/>
          </a:xfrm>
          <a:prstGeom prst="rect">
            <a:avLst/>
          </a:prstGeom>
          <a:noFill/>
          <a:ln w="25400" cmpd="sng" cap="flat">
            <a:noFill/>
            <a:prstDash val="solid"/>
            <a:round/>
          </a:ln>
        </p:spPr>
      </p:pic>
      <p:sp>
        <p:nvSpPr>
          <p:cNvPr name="AutoShape 4" id="4"/>
          <p:cNvSpPr/>
          <p:nvPr/>
        </p:nvSpPr>
        <p:spPr>
          <a:xfrm rot="0" flipH="false" flipV="false">
            <a:off x="749300" y="838200"/>
            <a:ext cx="10668000" cy="5588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2F4F4F"/>
                </a:solidFill>
                <a:latin typeface="Poppins"/>
                <a:ea typeface="Poppins"/>
                <a:cs typeface="Poppins"/>
                <a:sym typeface="Poppins"/>
              </a:rPr>
              <a:t>Part 3: Step 3-A · Standardize &amp; Filter Licenses</a:t>
            </a:r>
            <a:endParaRPr lang="en-US" sz="1100"/>
          </a:p>
        </p:txBody>
      </p:sp>
      <p:cxnSp>
        <p:nvCxnSpPr>
          <p:cNvPr name="Connector 5" id="5"/>
          <p:cNvCxnSpPr/>
          <p:nvPr/>
        </p:nvCxnSpPr>
        <p:spPr>
          <a:xfrm rot="-4092" flipH="false" flipV="false">
            <a:off x="749304" y="1593850"/>
            <a:ext cx="10668000" cy="12700"/>
          </a:xfrm>
          <a:prstGeom prst="straightConnector1">
            <a:avLst/>
          </a:prstGeom>
          <a:solidFill>
            <a:srgbClr val="DEE0E3">
              <a:alpha val="100000"/>
            </a:srgbClr>
          </a:solidFill>
          <a:ln w="12700" cmpd="sng" cap="flat">
            <a:solidFill>
              <a:srgbClr val="2F4F4F">
                <a:alpha val="100000"/>
              </a:srgbClr>
            </a:solidFill>
            <a:prstDash val="solid"/>
            <a:round/>
            <a:headEnd type="none" w="med" len="med"/>
            <a:tailEnd type="none" w="med" len="med"/>
          </a:ln>
        </p:spPr>
      </p:cxnSp>
      <p:sp>
        <p:nvSpPr>
          <p:cNvPr name="AutoShape 6" id="6"/>
          <p:cNvSpPr/>
          <p:nvPr/>
        </p:nvSpPr>
        <p:spPr>
          <a:xfrm rot="0" flipH="false" flipV="false">
            <a:off x="749300" y="1905000"/>
            <a:ext cx="5080000" cy="3556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2F4F4F"/>
                </a:solidFill>
                <a:latin typeface="Poppins"/>
                <a:ea typeface="Poppins"/>
                <a:cs typeface="Poppins"/>
                <a:sym typeface="Poppins"/>
              </a:rPr>
              <a:t>Core Processing Logic</a:t>
            </a:r>
            <a:endParaRPr lang="en-US" sz="1100"/>
          </a:p>
        </p:txBody>
      </p:sp>
      <p:pic>
        <p:nvPicPr>
          <p:cNvPr name="Picture 7" id="7"/>
          <p:cNvPicPr>
            <a:picLocks noChangeAspect="true"/>
          </p:cNvPicPr>
          <p:nvPr/>
        </p:nvPicPr>
        <p:blipFill>
          <a:blip r:embed="rId3"/>
          <a:srcRect l="0" r="0" t="0" b="0"/>
          <a:stretch>
            <a:fillRect/>
          </a:stretch>
        </p:blipFill>
        <p:spPr>
          <a:xfrm rot="0" flipH="false" flipV="false">
            <a:off x="749300" y="2514600"/>
            <a:ext cx="304800" cy="304800"/>
          </a:xfrm>
          <a:prstGeom prst="rect">
            <a:avLst/>
          </a:prstGeom>
          <a:noFill/>
          <a:ln w="25400" cmpd="sng" cap="flat">
            <a:noFill/>
            <a:prstDash val="solid"/>
            <a:round/>
          </a:ln>
        </p:spPr>
      </p:pic>
      <p:sp>
        <p:nvSpPr>
          <p:cNvPr name="AutoShape 8" id="8"/>
          <p:cNvSpPr/>
          <p:nvPr/>
        </p:nvSpPr>
        <p:spPr>
          <a:xfrm rot="0" flipH="false" flipV="false">
            <a:off x="1206500" y="2514600"/>
            <a:ext cx="4572000" cy="3048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2F4F4F"/>
                </a:solidFill>
                <a:latin typeface="Poppins"/>
                <a:ea typeface="Poppins"/>
                <a:cs typeface="Poppins"/>
                <a:sym typeface="Poppins"/>
              </a:rPr>
              <a:t>Data Ingestion &amp; Harmonization</a:t>
            </a:r>
            <a:endParaRPr lang="en-US" sz="1100"/>
          </a:p>
        </p:txBody>
      </p:sp>
      <p:sp>
        <p:nvSpPr>
          <p:cNvPr name="AutoShape 9" id="9"/>
          <p:cNvSpPr/>
          <p:nvPr/>
        </p:nvSpPr>
        <p:spPr>
          <a:xfrm rot="0" flipH="false" flipV="false">
            <a:off x="1206500" y="2921000"/>
            <a:ext cx="4572000" cy="825500"/>
          </a:xfrm>
          <a:prstGeom prst="roundRect">
            <a:avLst>
              <a:gd name="adj" fmla="val 0"/>
            </a:avLst>
          </a:prstGeom>
          <a:noFill/>
          <a:ln w="25400" cmpd="sng" cap="flat">
            <a:noFill/>
            <a:prstDash val="solid"/>
            <a:round/>
          </a:ln>
        </p:spPr>
        <p:txBody>
          <a:bodyPr anchor="t" rtlCol="false" anchorCtr="false" vert="horz" wrap="square" lIns="0" rIns="0" tIns="0" bIns="0"/>
          <a:lstStyle/>
          <a:p>
            <a:pPr algn="l" indent="0">
              <a:lnSpc>
                <a:spcPct val="108333"/>
              </a:lnSpc>
              <a:defRPr/>
            </a:pPr>
            <a:r>
              <a:rPr lang="en-US" b="false" i="false" strike="noStrike" u="none" sz="1300">
                <a:solidFill>
                  <a:srgbClr val="505050"/>
                </a:solidFill>
                <a:latin typeface="Poppins"/>
                <a:ea typeface="Poppins"/>
                <a:cs typeface="Poppins"/>
                <a:sym typeface="Poppins"/>
              </a:rPr>
              <a:t>• Support both local CSV files and online API loading methods.</a:t>
            </a:r>
            <a:r>
              <a:rPr lang="en-US" b="false" i="false" strike="noStrike" u="none" sz="1300">
                <a:solidFill>
                  <a:srgbClr val="505050"/>
                </a:solidFill>
                <a:latin typeface="Poppins"/>
                <a:ea typeface="Poppins"/>
                <a:cs typeface="Poppins"/>
                <a:sym typeface="Poppins"/>
              </a:rPr>
              <a:t/>
            </a:r>
            <a:br>
              <a:rPr lang="en-US" b="false" i="false" strike="noStrike" u="none" sz="1300">
                <a:solidFill>
                  <a:srgbClr val="505050"/>
                </a:solidFill>
                <a:latin typeface="Poppins"/>
                <a:ea typeface="Poppins"/>
                <a:cs typeface="Poppins"/>
                <a:sym typeface="Poppins"/>
              </a:rPr>
            </a:br>
            <a:r>
              <a:rPr lang="en-US" b="false" i="false" strike="noStrike" u="none" sz="1300">
                <a:solidFill>
                  <a:srgbClr val="505050"/>
                </a:solidFill>
                <a:latin typeface="Poppins"/>
                <a:ea typeface="Poppins"/>
                <a:cs typeface="Poppins"/>
                <a:sym typeface="Poppins"/>
              </a:rPr>
              <a:t>• Standardize column names across different data source variations.</a:t>
            </a:r>
            <a:endParaRPr lang="en-US" sz="1100"/>
          </a:p>
        </p:txBody>
      </p:sp>
      <p:pic>
        <p:nvPicPr>
          <p:cNvPr name="Picture 10" id="10"/>
          <p:cNvPicPr>
            <a:picLocks noChangeAspect="true"/>
          </p:cNvPicPr>
          <p:nvPr/>
        </p:nvPicPr>
        <p:blipFill>
          <a:blip r:embed="rId4"/>
          <a:srcRect l="0" r="0" t="0" b="0"/>
          <a:stretch>
            <a:fillRect/>
          </a:stretch>
        </p:blipFill>
        <p:spPr>
          <a:xfrm rot="0" flipH="false" flipV="false">
            <a:off x="749300" y="3937000"/>
            <a:ext cx="304800" cy="304800"/>
          </a:xfrm>
          <a:prstGeom prst="rect">
            <a:avLst/>
          </a:prstGeom>
          <a:noFill/>
          <a:ln w="25400" cmpd="sng" cap="flat">
            <a:noFill/>
            <a:prstDash val="solid"/>
            <a:round/>
          </a:ln>
        </p:spPr>
      </p:pic>
      <p:sp>
        <p:nvSpPr>
          <p:cNvPr name="AutoShape 11" id="11"/>
          <p:cNvSpPr/>
          <p:nvPr/>
        </p:nvSpPr>
        <p:spPr>
          <a:xfrm rot="0" flipH="false" flipV="false">
            <a:off x="1206500" y="3937000"/>
            <a:ext cx="4572000" cy="3048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2F4F4F"/>
                </a:solidFill>
                <a:latin typeface="Poppins"/>
                <a:ea typeface="Poppins"/>
                <a:cs typeface="Poppins"/>
                <a:sym typeface="Poppins"/>
              </a:rPr>
              <a:t>Data Type Transformation</a:t>
            </a:r>
            <a:endParaRPr lang="en-US" sz="1100"/>
          </a:p>
        </p:txBody>
      </p:sp>
      <p:sp>
        <p:nvSpPr>
          <p:cNvPr name="AutoShape 12" id="12"/>
          <p:cNvSpPr/>
          <p:nvPr/>
        </p:nvSpPr>
        <p:spPr>
          <a:xfrm rot="0" flipH="false" flipV="false">
            <a:off x="1206500" y="4343400"/>
            <a:ext cx="4572000" cy="762000"/>
          </a:xfrm>
          <a:prstGeom prst="roundRect">
            <a:avLst>
              <a:gd name="adj" fmla="val 0"/>
            </a:avLst>
          </a:prstGeom>
          <a:noFill/>
          <a:ln w="25400" cmpd="sng" cap="flat">
            <a:noFill/>
            <a:prstDash val="solid"/>
            <a:round/>
          </a:ln>
        </p:spPr>
        <p:txBody>
          <a:bodyPr anchor="t" rtlCol="false" anchorCtr="false" vert="horz" wrap="square" lIns="0" rIns="0" tIns="0" bIns="0"/>
          <a:lstStyle/>
          <a:p>
            <a:pPr algn="l" indent="0">
              <a:lnSpc>
                <a:spcPct val="108333"/>
              </a:lnSpc>
              <a:defRPr/>
            </a:pPr>
            <a:r>
              <a:rPr lang="en-US" b="false" i="false" strike="noStrike" u="none" sz="1300">
                <a:solidFill>
                  <a:srgbClr val="505050"/>
                </a:solidFill>
                <a:latin typeface="Poppins"/>
                <a:ea typeface="Poppins"/>
                <a:cs typeface="Poppins"/>
                <a:sym typeface="Poppins"/>
              </a:rPr>
              <a:t>• Parse raw date strings and geographic coordinates into analysis-ready data types.</a:t>
            </a:r>
            <a:endParaRPr lang="en-US" sz="1100"/>
          </a:p>
        </p:txBody>
      </p:sp>
      <p:pic>
        <p:nvPicPr>
          <p:cNvPr name="Picture 13" id="13"/>
          <p:cNvPicPr>
            <a:picLocks noChangeAspect="true"/>
          </p:cNvPicPr>
          <p:nvPr/>
        </p:nvPicPr>
        <p:blipFill>
          <a:blip r:embed="rId5"/>
          <a:srcRect l="0" r="0" t="0" b="0"/>
          <a:stretch>
            <a:fillRect/>
          </a:stretch>
        </p:blipFill>
        <p:spPr>
          <a:xfrm rot="0" flipH="false" flipV="false">
            <a:off x="749300" y="5270500"/>
            <a:ext cx="304800" cy="304800"/>
          </a:xfrm>
          <a:prstGeom prst="rect">
            <a:avLst/>
          </a:prstGeom>
          <a:noFill/>
          <a:ln w="25400" cmpd="sng" cap="flat">
            <a:noFill/>
            <a:prstDash val="solid"/>
            <a:round/>
          </a:ln>
        </p:spPr>
      </p:pic>
      <p:sp>
        <p:nvSpPr>
          <p:cNvPr name="AutoShape 14" id="14"/>
          <p:cNvSpPr/>
          <p:nvPr/>
        </p:nvSpPr>
        <p:spPr>
          <a:xfrm rot="0" flipH="false" flipV="false">
            <a:off x="1206500" y="5270500"/>
            <a:ext cx="4572000" cy="3048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2F4F4F"/>
                </a:solidFill>
                <a:latin typeface="Poppins"/>
                <a:ea typeface="Poppins"/>
                <a:cs typeface="Poppins"/>
                <a:sym typeface="Poppins"/>
              </a:rPr>
              <a:t>Validation &amp; Segmentation</a:t>
            </a:r>
            <a:endParaRPr lang="en-US" sz="1100"/>
          </a:p>
        </p:txBody>
      </p:sp>
      <p:sp>
        <p:nvSpPr>
          <p:cNvPr name="AutoShape 15" id="15"/>
          <p:cNvSpPr/>
          <p:nvPr/>
        </p:nvSpPr>
        <p:spPr>
          <a:xfrm rot="0" flipH="false" flipV="false">
            <a:off x="1206500" y="5651500"/>
            <a:ext cx="4572000" cy="762000"/>
          </a:xfrm>
          <a:prstGeom prst="roundRect">
            <a:avLst>
              <a:gd name="adj" fmla="val 0"/>
            </a:avLst>
          </a:prstGeom>
          <a:noFill/>
          <a:ln w="25400" cmpd="sng" cap="flat">
            <a:noFill/>
            <a:prstDash val="solid"/>
            <a:round/>
          </a:ln>
        </p:spPr>
        <p:txBody>
          <a:bodyPr anchor="t" rtlCol="false" anchorCtr="false" vert="horz" wrap="square" lIns="0" rIns="0" tIns="0" bIns="0"/>
          <a:lstStyle/>
          <a:p>
            <a:pPr algn="l" indent="0">
              <a:lnSpc>
                <a:spcPct val="108333"/>
              </a:lnSpc>
              <a:defRPr/>
            </a:pPr>
            <a:r>
              <a:rPr lang="en-US" b="false" i="false" strike="noStrike" u="none" sz="1300">
                <a:solidFill>
                  <a:srgbClr val="505050"/>
                </a:solidFill>
                <a:latin typeface="Poppins"/>
                <a:ea typeface="Poppins"/>
                <a:cs typeface="Poppins"/>
                <a:sym typeface="Poppins"/>
              </a:rPr>
              <a:t>• Build validity logic for the target year and separate valid rows with usable coordinates.</a:t>
            </a:r>
            <a:endParaRPr lang="en-US" sz="1100"/>
          </a:p>
        </p:txBody>
      </p:sp>
      <p:cxnSp>
        <p:nvCxnSpPr>
          <p:cNvPr name="Connector 16" id="16"/>
          <p:cNvCxnSpPr/>
          <p:nvPr/>
        </p:nvCxnSpPr>
        <p:spPr>
          <a:xfrm rot="5389582" flipH="false" flipV="false">
            <a:off x="3987800" y="3994160"/>
            <a:ext cx="4191000" cy="12700"/>
          </a:xfrm>
          <a:prstGeom prst="straightConnector1">
            <a:avLst/>
          </a:prstGeom>
          <a:solidFill>
            <a:srgbClr val="DEE0E3">
              <a:alpha val="100000"/>
            </a:srgbClr>
          </a:solidFill>
          <a:ln w="12700" cmpd="sng" cap="flat">
            <a:solidFill>
              <a:srgbClr val="2F4F4F">
                <a:alpha val="30000"/>
              </a:srgbClr>
            </a:solidFill>
            <a:prstDash val="dash"/>
            <a:round/>
            <a:headEnd type="none" w="med" len="med"/>
            <a:tailEnd type="none" w="med" len="med"/>
          </a:ln>
        </p:spPr>
      </p:cxnSp>
      <p:sp>
        <p:nvSpPr>
          <p:cNvPr name="AutoShape 17" id="17"/>
          <p:cNvSpPr/>
          <p:nvPr/>
        </p:nvSpPr>
        <p:spPr>
          <a:xfrm rot="0" flipH="false" flipV="false">
            <a:off x="6464300" y="1905000"/>
            <a:ext cx="5080000" cy="3556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2F4F4F"/>
                </a:solidFill>
                <a:latin typeface="Poppins"/>
                <a:ea typeface="Poppins"/>
                <a:cs typeface="Poppins"/>
                <a:sym typeface="Poppins"/>
              </a:rPr>
              <a:t>Key Derived Fields</a:t>
            </a:r>
            <a:endParaRPr lang="en-US" sz="1100"/>
          </a:p>
        </p:txBody>
      </p:sp>
      <p:pic>
        <p:nvPicPr>
          <p:cNvPr name="Picture 18" id="18"/>
          <p:cNvPicPr>
            <a:picLocks noChangeAspect="true"/>
          </p:cNvPicPr>
          <p:nvPr/>
        </p:nvPicPr>
        <p:blipFill>
          <a:blip r:embed="rId6"/>
          <a:srcRect l="0" r="0" t="0" b="0"/>
          <a:stretch>
            <a:fillRect/>
          </a:stretch>
        </p:blipFill>
        <p:spPr>
          <a:xfrm rot="0" flipH="false" flipV="false">
            <a:off x="6464300" y="2667000"/>
            <a:ext cx="254000" cy="254000"/>
          </a:xfrm>
          <a:prstGeom prst="rect">
            <a:avLst/>
          </a:prstGeom>
          <a:noFill/>
          <a:ln w="25400" cmpd="sng" cap="flat">
            <a:noFill/>
            <a:prstDash val="solid"/>
            <a:round/>
          </a:ln>
        </p:spPr>
      </p:pic>
      <p:sp>
        <p:nvSpPr>
          <p:cNvPr name="AutoShape 19" id="19"/>
          <p:cNvSpPr/>
          <p:nvPr/>
        </p:nvSpPr>
        <p:spPr>
          <a:xfrm rot="0" flipH="false" flipV="false">
            <a:off x="6870700" y="2641600"/>
            <a:ext cx="4826000" cy="762000"/>
          </a:xfrm>
          <a:prstGeom prst="roundRect">
            <a:avLst>
              <a:gd name="adj" fmla="val 0"/>
            </a:avLst>
          </a:prstGeom>
          <a:noFill/>
          <a:ln w="25400" cmpd="sng" cap="flat">
            <a:noFill/>
            <a:prstDash val="solid"/>
            <a:round/>
          </a:ln>
        </p:spPr>
        <p:txBody>
          <a:bodyPr anchor="t" rtlCol="false" anchorCtr="false" vert="horz" wrap="square" lIns="0" rIns="0" tIns="0" bIns="0"/>
          <a:lstStyle/>
          <a:p>
            <a:pPr algn="l" indent="0">
              <a:lnSpc>
                <a:spcPct val="116666"/>
              </a:lnSpc>
              <a:defRPr/>
            </a:pPr>
            <a:r>
              <a:rPr lang="en-US" b="true" i="false" strike="noStrike" u="none" sz="1300">
                <a:solidFill>
                  <a:srgbClr val="2F4F4F"/>
                </a:solidFill>
                <a:latin typeface="Poppins"/>
                <a:ea typeface="Poppins"/>
                <a:cs typeface="Poppins"/>
                <a:sym typeface="Poppins"/>
              </a:rPr>
              <a:t>start_eff:</a:t>
            </a:r>
            <a:r>
              <a:rPr lang="en-US" b="false" i="false" strike="noStrike" u="none" sz="1300">
                <a:solidFill>
                  <a:srgbClr val="505050"/>
                </a:solidFill>
                <a:latin typeface="Poppins"/>
                <a:ea typeface="Poppins"/>
                <a:cs typeface="Poppins"/>
                <a:sym typeface="Poppins"/>
              </a:rPr>
              <a:t>Standardized timestamp representing the official effective start date of a license.</a:t>
            </a:r>
            <a:endParaRPr lang="en-US" sz="1100"/>
          </a:p>
        </p:txBody>
      </p:sp>
      <p:pic>
        <p:nvPicPr>
          <p:cNvPr name="Picture 20" id="20"/>
          <p:cNvPicPr>
            <a:picLocks noChangeAspect="true"/>
          </p:cNvPicPr>
          <p:nvPr/>
        </p:nvPicPr>
        <p:blipFill>
          <a:blip r:embed="rId7"/>
          <a:srcRect l="0" r="0" t="0" b="0"/>
          <a:stretch>
            <a:fillRect/>
          </a:stretch>
        </p:blipFill>
        <p:spPr>
          <a:xfrm rot="0" flipH="false" flipV="false">
            <a:off x="6464300" y="3683000"/>
            <a:ext cx="254000" cy="254000"/>
          </a:xfrm>
          <a:prstGeom prst="rect">
            <a:avLst/>
          </a:prstGeom>
          <a:noFill/>
          <a:ln w="25400" cmpd="sng" cap="flat">
            <a:noFill/>
            <a:prstDash val="solid"/>
            <a:round/>
          </a:ln>
        </p:spPr>
      </p:pic>
      <p:sp>
        <p:nvSpPr>
          <p:cNvPr name="AutoShape 21" id="21"/>
          <p:cNvSpPr/>
          <p:nvPr/>
        </p:nvSpPr>
        <p:spPr>
          <a:xfrm rot="0" flipH="false" flipV="false">
            <a:off x="6870700" y="3657600"/>
            <a:ext cx="4826000" cy="762000"/>
          </a:xfrm>
          <a:prstGeom prst="roundRect">
            <a:avLst>
              <a:gd name="adj" fmla="val 0"/>
            </a:avLst>
          </a:prstGeom>
          <a:noFill/>
          <a:ln w="25400" cmpd="sng" cap="flat">
            <a:noFill/>
            <a:prstDash val="solid"/>
            <a:round/>
          </a:ln>
        </p:spPr>
        <p:txBody>
          <a:bodyPr anchor="t" rtlCol="false" anchorCtr="false" vert="horz" wrap="square" lIns="0" rIns="0" tIns="0" bIns="0"/>
          <a:lstStyle/>
          <a:p>
            <a:pPr algn="l" indent="0">
              <a:lnSpc>
                <a:spcPct val="116666"/>
              </a:lnSpc>
              <a:defRPr/>
            </a:pPr>
            <a:r>
              <a:rPr lang="en-US" b="true" i="false" strike="noStrike" u="none" sz="1300">
                <a:solidFill>
                  <a:srgbClr val="2F4F4F"/>
                </a:solidFill>
                <a:latin typeface="Poppins"/>
                <a:ea typeface="Poppins"/>
                <a:cs typeface="Poppins"/>
                <a:sym typeface="Poppins"/>
              </a:rPr>
              <a:t>is_valid_in_year:</a:t>
            </a:r>
            <a:r>
              <a:rPr lang="en-US" b="false" i="false" strike="noStrike" u="none" sz="1300">
                <a:solidFill>
                  <a:srgbClr val="505050"/>
                </a:solidFill>
                <a:latin typeface="Poppins"/>
                <a:ea typeface="Poppins"/>
                <a:cs typeface="Poppins"/>
                <a:sym typeface="Poppins"/>
              </a:rPr>
              <a:t>Boolean flag indicating if the license was active at any point during the selected target year.</a:t>
            </a:r>
            <a:endParaRPr lang="en-US" sz="1100"/>
          </a:p>
        </p:txBody>
      </p:sp>
      <p:pic>
        <p:nvPicPr>
          <p:cNvPr name="Picture 22" id="22"/>
          <p:cNvPicPr>
            <a:picLocks noChangeAspect="true"/>
          </p:cNvPicPr>
          <p:nvPr/>
        </p:nvPicPr>
        <p:blipFill>
          <a:blip r:embed="rId8"/>
          <a:srcRect l="0" r="0" t="0" b="0"/>
          <a:stretch>
            <a:fillRect/>
          </a:stretch>
        </p:blipFill>
        <p:spPr>
          <a:xfrm rot="0" flipH="false" flipV="false">
            <a:off x="6464300" y="4699000"/>
            <a:ext cx="254000" cy="254000"/>
          </a:xfrm>
          <a:prstGeom prst="rect">
            <a:avLst/>
          </a:prstGeom>
          <a:noFill/>
          <a:ln w="25400" cmpd="sng" cap="flat">
            <a:noFill/>
            <a:prstDash val="solid"/>
            <a:round/>
          </a:ln>
        </p:spPr>
      </p:pic>
      <p:sp>
        <p:nvSpPr>
          <p:cNvPr name="AutoShape 23" id="23"/>
          <p:cNvSpPr/>
          <p:nvPr/>
        </p:nvSpPr>
        <p:spPr>
          <a:xfrm rot="0" flipH="false" flipV="false">
            <a:off x="6870700" y="4673600"/>
            <a:ext cx="4826000" cy="762000"/>
          </a:xfrm>
          <a:prstGeom prst="roundRect">
            <a:avLst>
              <a:gd name="adj" fmla="val 0"/>
            </a:avLst>
          </a:prstGeom>
          <a:noFill/>
          <a:ln w="25400" cmpd="sng" cap="flat">
            <a:noFill/>
            <a:prstDash val="solid"/>
            <a:round/>
          </a:ln>
        </p:spPr>
        <p:txBody>
          <a:bodyPr anchor="t" rtlCol="false" anchorCtr="false" vert="horz" wrap="square" lIns="0" rIns="0" tIns="0" bIns="0"/>
          <a:lstStyle/>
          <a:p>
            <a:pPr algn="l" indent="0">
              <a:lnSpc>
                <a:spcPct val="116666"/>
              </a:lnSpc>
              <a:defRPr/>
            </a:pPr>
            <a:r>
              <a:rPr lang="en-US" b="true" i="false" strike="noStrike" u="none" sz="1300">
                <a:solidFill>
                  <a:srgbClr val="2F4F4F"/>
                </a:solidFill>
                <a:latin typeface="Poppins"/>
                <a:ea typeface="Poppins"/>
                <a:cs typeface="Poppins"/>
                <a:sym typeface="Poppins"/>
              </a:rPr>
              <a:t>active_now:</a:t>
            </a:r>
            <a:r>
              <a:rPr lang="en-US" b="false" i="false" strike="noStrike" u="none" sz="1300">
                <a:solidFill>
                  <a:srgbClr val="505050"/>
                </a:solidFill>
                <a:latin typeface="Poppins"/>
                <a:ea typeface="Poppins"/>
                <a:cs typeface="Poppins"/>
                <a:sym typeface="Poppins"/>
              </a:rPr>
              <a:t>Flag showing if the license is currently active (based on the latest data snapshot).</a:t>
            </a:r>
            <a:endParaRPr lang="en-US" sz="1100"/>
          </a:p>
        </p:txBody>
      </p:sp>
      <p:pic>
        <p:nvPicPr>
          <p:cNvPr name="Picture 24" id="24"/>
          <p:cNvPicPr>
            <a:picLocks noChangeAspect="true"/>
          </p:cNvPicPr>
          <p:nvPr/>
        </p:nvPicPr>
        <p:blipFill>
          <a:blip r:embed="rId9"/>
          <a:srcRect l="0" r="0" t="0" b="0"/>
          <a:stretch>
            <a:fillRect/>
          </a:stretch>
        </p:blipFill>
        <p:spPr>
          <a:xfrm rot="0" flipH="false" flipV="false">
            <a:off x="6464300" y="5588000"/>
            <a:ext cx="254000" cy="254000"/>
          </a:xfrm>
          <a:prstGeom prst="rect">
            <a:avLst/>
          </a:prstGeom>
          <a:noFill/>
          <a:ln w="25400" cmpd="sng" cap="flat">
            <a:noFill/>
            <a:prstDash val="solid"/>
            <a:round/>
          </a:ln>
        </p:spPr>
      </p:pic>
      <p:sp>
        <p:nvSpPr>
          <p:cNvPr name="AutoShape 25" id="25"/>
          <p:cNvSpPr/>
          <p:nvPr/>
        </p:nvSpPr>
        <p:spPr>
          <a:xfrm rot="0" flipH="false" flipV="false">
            <a:off x="6870700" y="5562600"/>
            <a:ext cx="4826000" cy="762000"/>
          </a:xfrm>
          <a:prstGeom prst="roundRect">
            <a:avLst>
              <a:gd name="adj" fmla="val 0"/>
            </a:avLst>
          </a:prstGeom>
          <a:noFill/>
          <a:ln w="25400" cmpd="sng" cap="flat">
            <a:noFill/>
            <a:prstDash val="solid"/>
            <a:round/>
          </a:ln>
        </p:spPr>
        <p:txBody>
          <a:bodyPr anchor="t" rtlCol="false" anchorCtr="false" vert="horz" wrap="square" lIns="0" rIns="0" tIns="0" bIns="0"/>
          <a:lstStyle/>
          <a:p>
            <a:pPr algn="l" indent="0">
              <a:lnSpc>
                <a:spcPct val="116666"/>
              </a:lnSpc>
              <a:defRPr/>
            </a:pPr>
            <a:r>
              <a:rPr lang="en-US" b="true" i="false" strike="noStrike" u="none" sz="1300">
                <a:solidFill>
                  <a:srgbClr val="2F4F4F"/>
                </a:solidFill>
                <a:latin typeface="Poppins"/>
                <a:ea typeface="Poppins"/>
                <a:cs typeface="Poppins"/>
                <a:sym typeface="Poppins"/>
              </a:rPr>
              <a:t>license_group:</a:t>
            </a:r>
            <a:r>
              <a:rPr lang="en-US" b="false" i="false" strike="noStrike" u="none" sz="1300">
                <a:solidFill>
                  <a:srgbClr val="505050"/>
                </a:solidFill>
                <a:latin typeface="Poppins"/>
                <a:ea typeface="Poppins"/>
                <a:cs typeface="Poppins"/>
                <a:sym typeface="Poppins"/>
              </a:rPr>
              <a:t>Categorized tag grouping licenses by business type or regulatory category.</a:t>
            </a:r>
            <a:endParaRPr lang="en-US" sz="1100"/>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058400" y="4673600"/>
            <a:ext cx="3759200" cy="3759200"/>
          </a:xfrm>
          <a:prstGeom prst="ellipse">
            <a:avLst/>
          </a:prstGeom>
          <a:solidFill>
            <a:srgbClr val="FFC844">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 id="3"/>
          <p:cNvPicPr>
            <a:picLocks noChangeAspect="true"/>
          </p:cNvPicPr>
          <p:nvPr/>
        </p:nvPicPr>
        <p:blipFill>
          <a:blip r:embed="rId2"/>
          <a:srcRect l="0" r="0" t="469" b="469"/>
          <a:stretch>
            <a:fillRect/>
          </a:stretch>
        </p:blipFill>
        <p:spPr>
          <a:xfrm rot="0" flipH="false" flipV="false">
            <a:off x="520700" y="279400"/>
            <a:ext cx="2552700" cy="355600"/>
          </a:xfrm>
          <a:prstGeom prst="rect">
            <a:avLst/>
          </a:prstGeom>
          <a:noFill/>
          <a:ln w="25400" cmpd="sng" cap="flat">
            <a:noFill/>
            <a:prstDash val="solid"/>
            <a:round/>
          </a:ln>
        </p:spPr>
      </p:pic>
      <p:sp>
        <p:nvSpPr>
          <p:cNvPr name="AutoShape 4" id="4"/>
          <p:cNvSpPr/>
          <p:nvPr/>
        </p:nvSpPr>
        <p:spPr>
          <a:xfrm rot="0" flipH="false" flipV="false">
            <a:off x="762000" y="876300"/>
            <a:ext cx="10668000" cy="5588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2F4F4F"/>
                </a:solidFill>
                <a:latin typeface="Poppins"/>
                <a:ea typeface="Poppins"/>
                <a:cs typeface="Poppins"/>
                <a:sym typeface="Poppins"/>
              </a:rPr>
              <a:t>Step 3-B. Spatial Join and QA</a:t>
            </a:r>
            <a:endParaRPr lang="en-US" sz="1100"/>
          </a:p>
        </p:txBody>
      </p:sp>
      <p:cxnSp>
        <p:nvCxnSpPr>
          <p:cNvPr name="Connector 5" id="5"/>
          <p:cNvCxnSpPr/>
          <p:nvPr/>
        </p:nvCxnSpPr>
        <p:spPr>
          <a:xfrm rot="-4092" flipH="false" flipV="false">
            <a:off x="762004" y="1581150"/>
            <a:ext cx="10668000" cy="12700"/>
          </a:xfrm>
          <a:prstGeom prst="straightConnector1">
            <a:avLst/>
          </a:prstGeom>
          <a:solidFill>
            <a:srgbClr val="DEE0E3">
              <a:alpha val="100000"/>
            </a:srgbClr>
          </a:solidFill>
          <a:ln w="12700" cmpd="sng" cap="flat">
            <a:solidFill>
              <a:srgbClr val="2F4F4F">
                <a:alpha val="30000"/>
              </a:srgbClr>
            </a:solidFill>
            <a:prstDash val="solid"/>
            <a:round/>
            <a:headEnd type="none" w="med" len="med"/>
            <a:tailEnd type="none" w="med" len="med"/>
          </a:ln>
        </p:spPr>
      </p:cxnSp>
      <p:sp>
        <p:nvSpPr>
          <p:cNvPr name="AutoShape 6" id="6"/>
          <p:cNvSpPr/>
          <p:nvPr/>
        </p:nvSpPr>
        <p:spPr>
          <a:xfrm rot="0" flipH="false" flipV="false">
            <a:off x="762000" y="1892300"/>
            <a:ext cx="5080000" cy="381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2F4F4F"/>
                </a:solidFill>
                <a:latin typeface="Poppins"/>
                <a:ea typeface="Poppins"/>
                <a:cs typeface="Poppins"/>
                <a:sym typeface="Poppins"/>
              </a:rPr>
              <a:t>Geospatial Workflow</a:t>
            </a:r>
            <a:endParaRPr lang="en-US" sz="1100"/>
          </a:p>
        </p:txBody>
      </p:sp>
      <p:pic>
        <p:nvPicPr>
          <p:cNvPr name="Picture 7" id="7"/>
          <p:cNvPicPr>
            <a:picLocks noChangeAspect="true"/>
          </p:cNvPicPr>
          <p:nvPr/>
        </p:nvPicPr>
        <p:blipFill>
          <a:blip r:embed="rId3"/>
          <a:srcRect l="0" r="0" t="0" b="0"/>
          <a:stretch>
            <a:fillRect/>
          </a:stretch>
        </p:blipFill>
        <p:spPr>
          <a:xfrm rot="0" flipH="false" flipV="false">
            <a:off x="762000" y="2527300"/>
            <a:ext cx="304800" cy="304800"/>
          </a:xfrm>
          <a:prstGeom prst="rect">
            <a:avLst/>
          </a:prstGeom>
          <a:noFill/>
          <a:ln w="25400" cmpd="sng" cap="flat">
            <a:noFill/>
            <a:prstDash val="solid"/>
            <a:round/>
          </a:ln>
        </p:spPr>
      </p:pic>
      <p:sp>
        <p:nvSpPr>
          <p:cNvPr name="AutoShape 8" id="8"/>
          <p:cNvSpPr/>
          <p:nvPr/>
        </p:nvSpPr>
        <p:spPr>
          <a:xfrm rot="0" flipH="false" flipV="false">
            <a:off x="1270000" y="2527300"/>
            <a:ext cx="4572000" cy="762000"/>
          </a:xfrm>
          <a:prstGeom prst="roundRect">
            <a:avLst>
              <a:gd name="adj" fmla="val 0"/>
            </a:avLst>
          </a:prstGeom>
          <a:noFill/>
          <a:ln w="25400" cmpd="sng" cap="flat">
            <a:noFill/>
            <a:prstDash val="solid"/>
            <a:round/>
          </a:ln>
        </p:spPr>
        <p:txBody>
          <a:bodyPr anchor="t" rtlCol="false" anchorCtr="false" vert="horz" wrap="square" lIns="0" rIns="0" tIns="0" bIns="0"/>
          <a:lstStyle/>
          <a:p>
            <a:pPr algn="l" indent="0">
              <a:lnSpc>
                <a:spcPct val="108333"/>
              </a:lnSpc>
              <a:defRPr/>
            </a:pPr>
            <a:r>
              <a:rPr lang="en-US" b="true" i="false" strike="noStrike" u="none" sz="1600">
                <a:solidFill>
                  <a:srgbClr val="2F4F4F"/>
                </a:solidFill>
                <a:latin typeface="Poppins"/>
                <a:ea typeface="Poppins"/>
                <a:cs typeface="Poppins"/>
                <a:sym typeface="Poppins"/>
              </a:rPr>
              <a:t>Convert license latitude and longitude into point geometry</a:t>
            </a:r>
            <a:endParaRPr lang="en-US" sz="1100"/>
          </a:p>
        </p:txBody>
      </p:sp>
      <p:pic>
        <p:nvPicPr>
          <p:cNvPr name="Picture 9" id="9"/>
          <p:cNvPicPr>
            <a:picLocks noChangeAspect="true"/>
          </p:cNvPicPr>
          <p:nvPr/>
        </p:nvPicPr>
        <p:blipFill>
          <a:blip r:embed="rId4"/>
          <a:srcRect l="0" r="0" t="0" b="0"/>
          <a:stretch>
            <a:fillRect/>
          </a:stretch>
        </p:blipFill>
        <p:spPr>
          <a:xfrm rot="0" flipH="false" flipV="false">
            <a:off x="762000" y="3543300"/>
            <a:ext cx="304800" cy="304800"/>
          </a:xfrm>
          <a:prstGeom prst="rect">
            <a:avLst/>
          </a:prstGeom>
          <a:noFill/>
          <a:ln w="25400" cmpd="sng" cap="flat">
            <a:noFill/>
            <a:prstDash val="solid"/>
            <a:round/>
          </a:ln>
        </p:spPr>
      </p:pic>
      <p:sp>
        <p:nvSpPr>
          <p:cNvPr name="AutoShape 10" id="10"/>
          <p:cNvSpPr/>
          <p:nvPr/>
        </p:nvSpPr>
        <p:spPr>
          <a:xfrm rot="0" flipH="false" flipV="false">
            <a:off x="1270000" y="3543300"/>
            <a:ext cx="4572000" cy="762000"/>
          </a:xfrm>
          <a:prstGeom prst="roundRect">
            <a:avLst>
              <a:gd name="adj" fmla="val 0"/>
            </a:avLst>
          </a:prstGeom>
          <a:noFill/>
          <a:ln w="25400" cmpd="sng" cap="flat">
            <a:noFill/>
            <a:prstDash val="solid"/>
            <a:round/>
          </a:ln>
        </p:spPr>
        <p:txBody>
          <a:bodyPr anchor="t" rtlCol="false" anchorCtr="false" vert="horz" wrap="square" lIns="0" rIns="0" tIns="0" bIns="0"/>
          <a:lstStyle/>
          <a:p>
            <a:pPr algn="l" indent="0">
              <a:lnSpc>
                <a:spcPct val="108333"/>
              </a:lnSpc>
              <a:defRPr/>
            </a:pPr>
            <a:r>
              <a:rPr lang="en-US" b="true" i="false" strike="noStrike" u="none" sz="1600">
                <a:solidFill>
                  <a:srgbClr val="2F4F4F"/>
                </a:solidFill>
                <a:latin typeface="Poppins"/>
                <a:ea typeface="Poppins"/>
                <a:cs typeface="Poppins"/>
                <a:sym typeface="Poppins"/>
              </a:rPr>
              <a:t>Reproject points into the parcel CRS</a:t>
            </a:r>
            <a:endParaRPr lang="en-US" sz="1100"/>
          </a:p>
        </p:txBody>
      </p:sp>
      <p:pic>
        <p:nvPicPr>
          <p:cNvPr name="Picture 11" id="11"/>
          <p:cNvPicPr>
            <a:picLocks noChangeAspect="true"/>
          </p:cNvPicPr>
          <p:nvPr/>
        </p:nvPicPr>
        <p:blipFill>
          <a:blip r:embed="rId5"/>
          <a:srcRect l="0" r="0" t="0" b="0"/>
          <a:stretch>
            <a:fillRect/>
          </a:stretch>
        </p:blipFill>
        <p:spPr>
          <a:xfrm rot="0" flipH="false" flipV="false">
            <a:off x="762000" y="4559300"/>
            <a:ext cx="304800" cy="304800"/>
          </a:xfrm>
          <a:prstGeom prst="rect">
            <a:avLst/>
          </a:prstGeom>
          <a:noFill/>
          <a:ln w="25400" cmpd="sng" cap="flat">
            <a:noFill/>
            <a:prstDash val="solid"/>
            <a:round/>
          </a:ln>
        </p:spPr>
      </p:pic>
      <p:sp>
        <p:nvSpPr>
          <p:cNvPr name="AutoShape 12" id="12"/>
          <p:cNvSpPr/>
          <p:nvPr/>
        </p:nvSpPr>
        <p:spPr>
          <a:xfrm rot="0" flipH="false" flipV="false">
            <a:off x="1270000" y="4559300"/>
            <a:ext cx="4572000" cy="762000"/>
          </a:xfrm>
          <a:prstGeom prst="roundRect">
            <a:avLst>
              <a:gd name="adj" fmla="val 0"/>
            </a:avLst>
          </a:prstGeom>
          <a:noFill/>
          <a:ln w="25400" cmpd="sng" cap="flat">
            <a:noFill/>
            <a:prstDash val="solid"/>
            <a:round/>
          </a:ln>
        </p:spPr>
        <p:txBody>
          <a:bodyPr anchor="t" rtlCol="false" anchorCtr="false" vert="horz" wrap="square" lIns="0" rIns="0" tIns="0" bIns="0"/>
          <a:lstStyle/>
          <a:p>
            <a:pPr algn="l" indent="0">
              <a:lnSpc>
                <a:spcPct val="108333"/>
              </a:lnSpc>
              <a:defRPr/>
            </a:pPr>
            <a:r>
              <a:rPr lang="en-US" b="true" i="false" strike="noStrike" u="none" sz="1600">
                <a:solidFill>
                  <a:srgbClr val="2F4F4F"/>
                </a:solidFill>
                <a:latin typeface="Poppins"/>
                <a:ea typeface="Poppins"/>
                <a:cs typeface="Poppins"/>
                <a:sym typeface="Poppins"/>
              </a:rPr>
              <a:t>Apply a within predicate spatial join</a:t>
            </a:r>
            <a:endParaRPr lang="en-US" sz="1100"/>
          </a:p>
        </p:txBody>
      </p:sp>
      <p:pic>
        <p:nvPicPr>
          <p:cNvPr name="Picture 13" id="13"/>
          <p:cNvPicPr>
            <a:picLocks noChangeAspect="true"/>
          </p:cNvPicPr>
          <p:nvPr/>
        </p:nvPicPr>
        <p:blipFill>
          <a:blip r:embed="rId6"/>
          <a:srcRect l="0" r="0" t="0" b="0"/>
          <a:stretch>
            <a:fillRect/>
          </a:stretch>
        </p:blipFill>
        <p:spPr>
          <a:xfrm rot="0" flipH="false" flipV="false">
            <a:off x="762000" y="5448300"/>
            <a:ext cx="304800" cy="304800"/>
          </a:xfrm>
          <a:prstGeom prst="rect">
            <a:avLst/>
          </a:prstGeom>
          <a:noFill/>
          <a:ln w="25400" cmpd="sng" cap="flat">
            <a:noFill/>
            <a:prstDash val="solid"/>
            <a:round/>
          </a:ln>
        </p:spPr>
      </p:pic>
      <p:sp>
        <p:nvSpPr>
          <p:cNvPr name="AutoShape 14" id="14"/>
          <p:cNvSpPr/>
          <p:nvPr/>
        </p:nvSpPr>
        <p:spPr>
          <a:xfrm rot="0" flipH="false" flipV="false">
            <a:off x="1270000" y="5448300"/>
            <a:ext cx="4572000" cy="762000"/>
          </a:xfrm>
          <a:prstGeom prst="roundRect">
            <a:avLst>
              <a:gd name="adj" fmla="val 0"/>
            </a:avLst>
          </a:prstGeom>
          <a:noFill/>
          <a:ln w="25400" cmpd="sng" cap="flat">
            <a:noFill/>
            <a:prstDash val="solid"/>
            <a:round/>
          </a:ln>
        </p:spPr>
        <p:txBody>
          <a:bodyPr anchor="t" rtlCol="false" anchorCtr="false" vert="horz" wrap="square" lIns="0" rIns="0" tIns="0" bIns="0"/>
          <a:lstStyle/>
          <a:p>
            <a:pPr algn="l" indent="0">
              <a:lnSpc>
                <a:spcPct val="108333"/>
              </a:lnSpc>
              <a:defRPr/>
            </a:pPr>
            <a:r>
              <a:rPr lang="en-US" b="true" i="false" strike="noStrike" u="none" sz="1500">
                <a:solidFill>
                  <a:srgbClr val="2F4F4F"/>
                </a:solidFill>
                <a:latin typeface="Poppins"/>
                <a:ea typeface="Poppins"/>
                <a:cs typeface="Poppins"/>
                <a:sym typeface="Poppins"/>
              </a:rPr>
              <a:t>Review matched row counts, unique licenses, and unique parcels</a:t>
            </a:r>
            <a:endParaRPr lang="en-US" sz="1100"/>
          </a:p>
        </p:txBody>
      </p:sp>
      <p:cxnSp>
        <p:nvCxnSpPr>
          <p:cNvPr name="Connector 15" id="15"/>
          <p:cNvCxnSpPr/>
          <p:nvPr/>
        </p:nvCxnSpPr>
        <p:spPr>
          <a:xfrm rot="5389257" flipH="false" flipV="false">
            <a:off x="4064000" y="3917960"/>
            <a:ext cx="4064000" cy="12700"/>
          </a:xfrm>
          <a:prstGeom prst="straightConnector1">
            <a:avLst/>
          </a:prstGeom>
          <a:solidFill>
            <a:srgbClr val="DEE0E3">
              <a:alpha val="100000"/>
            </a:srgbClr>
          </a:solidFill>
          <a:ln w="12700" cmpd="sng" cap="flat">
            <a:solidFill>
              <a:srgbClr val="2F4F4F">
                <a:alpha val="20000"/>
              </a:srgbClr>
            </a:solidFill>
            <a:prstDash val="dash"/>
            <a:round/>
            <a:headEnd type="none" w="med" len="med"/>
            <a:tailEnd type="none" w="med" len="med"/>
          </a:ln>
        </p:spPr>
      </p:cxnSp>
      <p:sp>
        <p:nvSpPr>
          <p:cNvPr name="AutoShape 16" id="16"/>
          <p:cNvSpPr/>
          <p:nvPr/>
        </p:nvSpPr>
        <p:spPr>
          <a:xfrm rot="0" flipH="false" flipV="false">
            <a:off x="6604000" y="1892300"/>
            <a:ext cx="5080000" cy="381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2F4F4F"/>
                </a:solidFill>
                <a:latin typeface="Poppins"/>
                <a:ea typeface="Poppins"/>
                <a:cs typeface="Poppins"/>
                <a:sym typeface="Poppins"/>
              </a:rPr>
              <a:t>Quality Checks</a:t>
            </a:r>
            <a:endParaRPr lang="en-US" sz="1100"/>
          </a:p>
        </p:txBody>
      </p:sp>
      <p:pic>
        <p:nvPicPr>
          <p:cNvPr name="Picture 17" id="17"/>
          <p:cNvPicPr>
            <a:picLocks noChangeAspect="true"/>
          </p:cNvPicPr>
          <p:nvPr/>
        </p:nvPicPr>
        <p:blipFill>
          <a:blip r:embed="rId7"/>
          <a:srcRect l="0" r="0" t="0" b="0"/>
          <a:stretch>
            <a:fillRect/>
          </a:stretch>
        </p:blipFill>
        <p:spPr>
          <a:xfrm rot="0" flipH="false" flipV="false">
            <a:off x="6604000" y="2667000"/>
            <a:ext cx="304800" cy="304800"/>
          </a:xfrm>
          <a:prstGeom prst="rect">
            <a:avLst/>
          </a:prstGeom>
          <a:noFill/>
          <a:ln w="25400" cmpd="sng" cap="flat">
            <a:noFill/>
            <a:prstDash val="solid"/>
            <a:round/>
          </a:ln>
        </p:spPr>
      </p:pic>
      <p:sp>
        <p:nvSpPr>
          <p:cNvPr name="AutoShape 18" id="18"/>
          <p:cNvSpPr/>
          <p:nvPr/>
        </p:nvSpPr>
        <p:spPr>
          <a:xfrm rot="0" flipH="false" flipV="false">
            <a:off x="7112000" y="2667000"/>
            <a:ext cx="4572000" cy="889000"/>
          </a:xfrm>
          <a:prstGeom prst="roundRect">
            <a:avLst>
              <a:gd name="adj" fmla="val 0"/>
            </a:avLst>
          </a:prstGeom>
          <a:noFill/>
          <a:ln w="25400" cmpd="sng" cap="flat">
            <a:noFill/>
            <a:prstDash val="solid"/>
            <a:round/>
          </a:ln>
        </p:spPr>
        <p:txBody>
          <a:bodyPr anchor="t" rtlCol="false" anchorCtr="false" vert="horz" wrap="square" lIns="0" rIns="0" tIns="0" bIns="0"/>
          <a:lstStyle/>
          <a:p>
            <a:pPr algn="l" indent="0">
              <a:lnSpc>
                <a:spcPct val="116666"/>
              </a:lnSpc>
              <a:defRPr/>
            </a:pPr>
            <a:r>
              <a:rPr lang="en-US" b="true" i="false" strike="noStrike" u="none" sz="1600">
                <a:solidFill>
                  <a:srgbClr val="2F4F4F"/>
                </a:solidFill>
                <a:latin typeface="Poppins"/>
                <a:ea typeface="Poppins"/>
                <a:cs typeface="Poppins"/>
                <a:sym typeface="Poppins"/>
              </a:rPr>
              <a:t>Match rate calculation</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400">
                <a:solidFill>
                  <a:srgbClr val="696969"/>
                </a:solidFill>
                <a:latin typeface="Poppins"/>
                <a:ea typeface="Poppins"/>
                <a:cs typeface="Poppins"/>
                <a:sym typeface="Poppins"/>
              </a:rPr>
              <a:t>Calculate match rate over valid geocoded licenses</a:t>
            </a:r>
            <a:endParaRPr lang="en-US" sz="1100"/>
          </a:p>
        </p:txBody>
      </p:sp>
      <p:pic>
        <p:nvPicPr>
          <p:cNvPr name="Picture 19" id="19"/>
          <p:cNvPicPr>
            <a:picLocks noChangeAspect="true"/>
          </p:cNvPicPr>
          <p:nvPr/>
        </p:nvPicPr>
        <p:blipFill>
          <a:blip r:embed="rId8"/>
          <a:srcRect l="0" r="0" t="0" b="0"/>
          <a:stretch>
            <a:fillRect/>
          </a:stretch>
        </p:blipFill>
        <p:spPr>
          <a:xfrm rot="0" flipH="false" flipV="false">
            <a:off x="6604000" y="3810000"/>
            <a:ext cx="304800" cy="304800"/>
          </a:xfrm>
          <a:prstGeom prst="rect">
            <a:avLst/>
          </a:prstGeom>
          <a:noFill/>
          <a:ln w="25400" cmpd="sng" cap="flat">
            <a:noFill/>
            <a:prstDash val="solid"/>
            <a:round/>
          </a:ln>
        </p:spPr>
      </p:pic>
      <p:sp>
        <p:nvSpPr>
          <p:cNvPr name="AutoShape 20" id="20"/>
          <p:cNvSpPr/>
          <p:nvPr/>
        </p:nvSpPr>
        <p:spPr>
          <a:xfrm rot="0" flipH="false" flipV="false">
            <a:off x="7112000" y="3810000"/>
            <a:ext cx="4572000" cy="889000"/>
          </a:xfrm>
          <a:prstGeom prst="roundRect">
            <a:avLst>
              <a:gd name="adj" fmla="val 0"/>
            </a:avLst>
          </a:prstGeom>
          <a:noFill/>
          <a:ln w="25400" cmpd="sng" cap="flat">
            <a:noFill/>
            <a:prstDash val="solid"/>
            <a:round/>
          </a:ln>
        </p:spPr>
        <p:txBody>
          <a:bodyPr anchor="t" rtlCol="false" anchorCtr="false" vert="horz" wrap="square" lIns="0" rIns="0" tIns="0" bIns="0"/>
          <a:lstStyle/>
          <a:p>
            <a:pPr algn="l" indent="0">
              <a:lnSpc>
                <a:spcPct val="116666"/>
              </a:lnSpc>
              <a:defRPr/>
            </a:pPr>
            <a:r>
              <a:rPr lang="en-US" b="true" i="false" strike="noStrike" u="none" sz="1600">
                <a:solidFill>
                  <a:srgbClr val="2F4F4F"/>
                </a:solidFill>
                <a:latin typeface="Poppins"/>
                <a:ea typeface="Poppins"/>
                <a:cs typeface="Poppins"/>
                <a:sym typeface="Poppins"/>
              </a:rPr>
              <a:t>Data distribution analysis</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400">
                <a:solidFill>
                  <a:srgbClr val="696969"/>
                </a:solidFill>
                <a:latin typeface="Poppins"/>
                <a:ea typeface="Poppins"/>
                <a:cs typeface="Poppins"/>
                <a:sym typeface="Poppins"/>
              </a:rPr>
              <a:t>Examine distribution by license_group category</a:t>
            </a:r>
            <a:endParaRPr lang="en-US" sz="1100"/>
          </a:p>
        </p:txBody>
      </p:sp>
      <p:pic>
        <p:nvPicPr>
          <p:cNvPr name="Picture 21" id="21"/>
          <p:cNvPicPr>
            <a:picLocks noChangeAspect="true"/>
          </p:cNvPicPr>
          <p:nvPr/>
        </p:nvPicPr>
        <p:blipFill>
          <a:blip r:embed="rId9"/>
          <a:srcRect l="0" r="0" t="0" b="0"/>
          <a:stretch>
            <a:fillRect/>
          </a:stretch>
        </p:blipFill>
        <p:spPr>
          <a:xfrm rot="0" flipH="false" flipV="false">
            <a:off x="6604000" y="4953000"/>
            <a:ext cx="304800" cy="304800"/>
          </a:xfrm>
          <a:prstGeom prst="rect">
            <a:avLst/>
          </a:prstGeom>
          <a:noFill/>
          <a:ln w="25400" cmpd="sng" cap="flat">
            <a:noFill/>
            <a:prstDash val="solid"/>
            <a:round/>
          </a:ln>
        </p:spPr>
      </p:pic>
      <p:sp>
        <p:nvSpPr>
          <p:cNvPr name="AutoShape 22" id="22"/>
          <p:cNvSpPr/>
          <p:nvPr/>
        </p:nvSpPr>
        <p:spPr>
          <a:xfrm rot="0" flipH="false" flipV="false">
            <a:off x="7112000" y="4953000"/>
            <a:ext cx="4572000" cy="889000"/>
          </a:xfrm>
          <a:prstGeom prst="roundRect">
            <a:avLst>
              <a:gd name="adj" fmla="val 0"/>
            </a:avLst>
          </a:prstGeom>
          <a:noFill/>
          <a:ln w="25400" cmpd="sng" cap="flat">
            <a:noFill/>
            <a:prstDash val="solid"/>
            <a:round/>
          </a:ln>
        </p:spPr>
        <p:txBody>
          <a:bodyPr anchor="t" rtlCol="false" anchorCtr="false" vert="horz" wrap="square" lIns="0" rIns="0" tIns="0" bIns="0"/>
          <a:lstStyle/>
          <a:p>
            <a:pPr algn="l" indent="0">
              <a:lnSpc>
                <a:spcPct val="116666"/>
              </a:lnSpc>
              <a:defRPr/>
            </a:pPr>
            <a:r>
              <a:rPr lang="en-US" b="true" i="false" strike="noStrike" u="none" sz="1600">
                <a:solidFill>
                  <a:srgbClr val="2F4F4F"/>
                </a:solidFill>
                <a:latin typeface="Poppins"/>
                <a:ea typeface="Poppins"/>
                <a:cs typeface="Poppins"/>
                <a:sym typeface="Poppins"/>
              </a:rPr>
              <a:t>Attribute verification</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400">
                <a:solidFill>
                  <a:srgbClr val="696969"/>
                </a:solidFill>
                <a:latin typeface="Poppins"/>
                <a:ea typeface="Poppins"/>
                <a:cs typeface="Poppins"/>
                <a:sym typeface="Poppins"/>
              </a:rPr>
              <a:t>Visual preview of the joined spatial and tabular attributes</a:t>
            </a:r>
            <a:endParaRPr lang="en-US" sz="1100"/>
          </a:p>
        </p:txBody>
      </p:sp>
      <p:cxnSp>
        <p:nvCxnSpPr>
          <p:cNvPr name="Connector 23" id="23"/>
          <p:cNvCxnSpPr/>
          <p:nvPr/>
        </p:nvCxnSpPr>
        <p:spPr>
          <a:xfrm rot="-4092" flipH="false" flipV="false">
            <a:off x="762004" y="6203950"/>
            <a:ext cx="10668000" cy="12700"/>
          </a:xfrm>
          <a:prstGeom prst="straightConnector1">
            <a:avLst/>
          </a:prstGeom>
          <a:solidFill>
            <a:srgbClr val="DEE0E3">
              <a:alpha val="100000"/>
            </a:srgbClr>
          </a:solidFill>
          <a:ln w="12700" cmpd="sng" cap="flat">
            <a:solidFill>
              <a:srgbClr val="2F4F4F">
                <a:alpha val="30000"/>
              </a:srgbClr>
            </a:solidFill>
            <a:prstDash val="solid"/>
            <a:round/>
            <a:headEnd type="none" w="med" len="med"/>
            <a:tailEnd type="none" w="med" len="med"/>
          </a:ln>
        </p:spPr>
      </p:cxn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058400" y="4673600"/>
            <a:ext cx="3759200" cy="3759200"/>
          </a:xfrm>
          <a:prstGeom prst="ellipse">
            <a:avLst/>
          </a:prstGeom>
          <a:solidFill>
            <a:srgbClr val="FFC844">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 id="3"/>
          <p:cNvPicPr>
            <a:picLocks noChangeAspect="true"/>
          </p:cNvPicPr>
          <p:nvPr/>
        </p:nvPicPr>
        <p:blipFill>
          <a:blip r:embed="rId2"/>
          <a:srcRect l="0" r="0" t="469" b="469"/>
          <a:stretch>
            <a:fillRect/>
          </a:stretch>
        </p:blipFill>
        <p:spPr>
          <a:xfrm rot="0" flipH="false" flipV="false">
            <a:off x="520700" y="279400"/>
            <a:ext cx="2552700" cy="355600"/>
          </a:xfrm>
          <a:prstGeom prst="rect">
            <a:avLst/>
          </a:prstGeom>
          <a:noFill/>
          <a:ln w="25400" cmpd="sng" cap="flat">
            <a:noFill/>
            <a:prstDash val="solid"/>
            <a:round/>
          </a:ln>
        </p:spPr>
      </p:pic>
      <p:sp>
        <p:nvSpPr>
          <p:cNvPr name="AutoShape 4" id="4"/>
          <p:cNvSpPr/>
          <p:nvPr/>
        </p:nvSpPr>
        <p:spPr>
          <a:xfrm rot="0" flipH="false" flipV="false">
            <a:off x="749300" y="838200"/>
            <a:ext cx="10668000" cy="5588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3600">
                <a:solidFill>
                  <a:srgbClr val="2F4F4F"/>
                </a:solidFill>
                <a:latin typeface="Poppins"/>
                <a:ea typeface="Poppins"/>
                <a:cs typeface="Poppins"/>
                <a:sym typeface="Poppins"/>
              </a:rPr>
              <a:t>Step 3-C. Export Matched Outputs</a:t>
            </a:r>
            <a:endParaRPr lang="en-US" sz="1100"/>
          </a:p>
        </p:txBody>
      </p:sp>
      <p:cxnSp>
        <p:nvCxnSpPr>
          <p:cNvPr name="Connector 5" id="5"/>
          <p:cNvCxnSpPr/>
          <p:nvPr/>
        </p:nvCxnSpPr>
        <p:spPr>
          <a:xfrm rot="-4092" flipH="false" flipV="false">
            <a:off x="749304" y="1593850"/>
            <a:ext cx="10668000" cy="12700"/>
          </a:xfrm>
          <a:prstGeom prst="straightConnector1">
            <a:avLst/>
          </a:prstGeom>
          <a:solidFill>
            <a:srgbClr val="DEE0E3">
              <a:alpha val="100000"/>
            </a:srgbClr>
          </a:solidFill>
          <a:ln w="12700" cmpd="sng" cap="flat">
            <a:solidFill>
              <a:srgbClr val="2F4F4F">
                <a:alpha val="100000"/>
              </a:srgbClr>
            </a:solidFill>
            <a:prstDash val="solid"/>
            <a:round/>
            <a:headEnd type="none" w="med" len="med"/>
            <a:tailEnd type="none" w="med" len="med"/>
          </a:ln>
        </p:spPr>
      </p:cxnSp>
      <p:sp>
        <p:nvSpPr>
          <p:cNvPr name="AutoShape 6" id="6"/>
          <p:cNvSpPr/>
          <p:nvPr/>
        </p:nvSpPr>
        <p:spPr>
          <a:xfrm rot="0" flipH="false" flipV="false">
            <a:off x="749300" y="1905000"/>
            <a:ext cx="5080000" cy="4064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2F4F4F"/>
                </a:solidFill>
                <a:latin typeface="Poppins"/>
                <a:ea typeface="Poppins"/>
                <a:cs typeface="Poppins"/>
                <a:sym typeface="Poppins"/>
              </a:rPr>
              <a:t>Primary Output</a:t>
            </a:r>
            <a:endParaRPr lang="en-US" sz="1100"/>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749300" y="2667000"/>
            <a:ext cx="304800" cy="304800"/>
          </a:xfrm>
          <a:prstGeom prst="rect">
            <a:avLst/>
          </a:prstGeom>
        </p:spPr>
      </p:pic>
      <p:sp>
        <p:nvSpPr>
          <p:cNvPr name="AutoShape 8" id="8"/>
          <p:cNvSpPr/>
          <p:nvPr/>
        </p:nvSpPr>
        <p:spPr>
          <a:xfrm rot="0" flipH="false" flipV="false">
            <a:off x="1206500" y="2641600"/>
            <a:ext cx="4572000" cy="1016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2F4F4F"/>
                </a:solidFill>
                <a:latin typeface="Poppins"/>
                <a:ea typeface="Poppins"/>
                <a:cs typeface="Poppins"/>
                <a:sym typeface="Poppins"/>
              </a:rPr>
              <a:t>Geospatial Parquet File</a:t>
            </a:r>
            <a:r>
              <a:rPr lang="en-US" b="false" i="false" strike="noStrike" u="none" sz="1600">
                <a:solidFill>
                  <a:srgbClr val="1F2329"/>
                </a:solidFill>
                <a:latin typeface="Poppins"/>
                <a:ea typeface="Poppins"/>
                <a:cs typeface="Poppins"/>
                <a:sym typeface="Poppins"/>
              </a:rPr>
              <a:t/>
            </a:r>
            <a:endParaRPr lang="en-US" sz="1100"/>
          </a:p>
          <a:p>
            <a:pPr algn="ctr" indent="0">
              <a:lnSpc>
                <a:spcPct val="116666"/>
              </a:lnSpc>
            </a:pPr>
            <a:r>
              <a:rPr lang="en-US" b="false" i="false" strike="noStrike" u="none" sz="1300">
                <a:solidFill>
                  <a:srgbClr val="505050"/>
                </a:solidFill>
                <a:latin typeface="Poppins"/>
                <a:ea typeface="Poppins"/>
                <a:cs typeface="Poppins"/>
                <a:sym typeface="Poppins"/>
              </a:rPr>
              <a:t>The final result is a geospatial Parquet file containing all successfully matched license records.</a:t>
            </a:r>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749300" y="3937000"/>
            <a:ext cx="304800" cy="304800"/>
          </a:xfrm>
          <a:prstGeom prst="rect">
            <a:avLst/>
          </a:prstGeom>
        </p:spPr>
      </p:pic>
      <p:sp>
        <p:nvSpPr>
          <p:cNvPr name="AutoShape 10" id="10"/>
          <p:cNvSpPr/>
          <p:nvPr/>
        </p:nvSpPr>
        <p:spPr>
          <a:xfrm rot="0" flipH="false" flipV="false">
            <a:off x="1206500" y="3911600"/>
            <a:ext cx="4572000" cy="1905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2F4F4F"/>
                </a:solidFill>
                <a:latin typeface="Poppins"/>
                <a:ea typeface="Poppins"/>
                <a:cs typeface="Poppins"/>
                <a:sym typeface="Poppins"/>
              </a:rPr>
              <a:t>Why Parquet?</a:t>
            </a:r>
            <a:r>
              <a:rPr lang="en-US" b="false" i="false" strike="noStrike" u="none" sz="1600">
                <a:solidFill>
                  <a:srgbClr val="1F2329"/>
                </a:solidFill>
                <a:latin typeface="Poppins"/>
                <a:ea typeface="Poppins"/>
                <a:cs typeface="Poppins"/>
                <a:sym typeface="Poppins"/>
              </a:rPr>
              <a:t/>
            </a:r>
            <a:endParaRPr lang="en-US" sz="1100"/>
          </a:p>
          <a:p>
            <a:pPr algn="ctr" indent="0">
              <a:lnSpc>
                <a:spcPct val="125000"/>
              </a:lnSpc>
            </a:pPr>
            <a:r>
              <a:rPr lang="en-US" b="false" i="false" strike="noStrike" u="none" sz="1300">
                <a:solidFill>
                  <a:srgbClr val="505050"/>
                </a:solidFill>
                <a:latin typeface="Poppins"/>
                <a:ea typeface="Poppins"/>
                <a:cs typeface="Poppins"/>
                <a:sym typeface="Poppins"/>
              </a:rPr>
              <a:t>• Compact storage to save disk space</a:t>
            </a:r>
            <a:r>
              <a:rPr lang="en-US" b="false" i="false" strike="noStrike" u="none" sz="1600">
                <a:solidFill>
                  <a:srgbClr val="1F2329"/>
                </a:solidFill>
                <a:latin typeface="Poppins"/>
                <a:ea typeface="Poppins"/>
                <a:cs typeface="Poppins"/>
                <a:sym typeface="Poppins"/>
              </a:rPr>
              <a:t/>
            </a:r>
          </a:p>
          <a:p>
            <a:pPr algn="ctr" indent="0">
              <a:lnSpc>
                <a:spcPct val="125000"/>
              </a:lnSpc>
            </a:pPr>
            <a:r>
              <a:rPr lang="en-US" b="false" i="false" strike="noStrike" u="none" sz="1300">
                <a:solidFill>
                  <a:srgbClr val="505050"/>
                </a:solidFill>
                <a:latin typeface="Poppins"/>
                <a:ea typeface="Poppins"/>
                <a:cs typeface="Poppins"/>
                <a:sym typeface="Poppins"/>
              </a:rPr>
              <a:t>• Significantly faster downstream reading speeds</a:t>
            </a:r>
            <a:r>
              <a:rPr lang="en-US" b="false" i="false" strike="noStrike" u="none" sz="1600">
                <a:solidFill>
                  <a:srgbClr val="1F2329"/>
                </a:solidFill>
                <a:latin typeface="Poppins"/>
                <a:ea typeface="Poppins"/>
                <a:cs typeface="Poppins"/>
                <a:sym typeface="Poppins"/>
              </a:rPr>
              <a:t/>
            </a:r>
          </a:p>
          <a:p>
            <a:pPr algn="ctr" indent="0">
              <a:lnSpc>
                <a:spcPct val="125000"/>
              </a:lnSpc>
            </a:pPr>
            <a:r>
              <a:rPr lang="en-US" b="false" i="false" strike="noStrike" u="none" sz="1300">
                <a:solidFill>
                  <a:srgbClr val="505050"/>
                </a:solidFill>
                <a:latin typeface="Poppins"/>
                <a:ea typeface="Poppins"/>
                <a:cs typeface="Poppins"/>
                <a:sym typeface="Poppins"/>
              </a:rPr>
              <a:t>• Optimized format for data analytics pipelines</a:t>
            </a:r>
          </a:p>
        </p:txBody>
      </p:sp>
      <p:cxnSp>
        <p:nvCxnSpPr>
          <p:cNvPr name="Connector 11" id="11"/>
          <p:cNvCxnSpPr/>
          <p:nvPr/>
        </p:nvCxnSpPr>
        <p:spPr>
          <a:xfrm rot="5388765" flipH="false" flipV="false">
            <a:off x="4140200" y="3841760"/>
            <a:ext cx="3886200" cy="12700"/>
          </a:xfrm>
          <a:prstGeom prst="straightConnector1">
            <a:avLst/>
          </a:prstGeom>
          <a:solidFill>
            <a:srgbClr val="DEE0E3">
              <a:alpha val="100000"/>
            </a:srgbClr>
          </a:solidFill>
          <a:ln w="12700" cmpd="sng" cap="flat">
            <a:solidFill>
              <a:srgbClr val="2F4F4F">
                <a:alpha val="30000"/>
              </a:srgbClr>
            </a:solidFill>
            <a:prstDash val="dash"/>
            <a:round/>
            <a:headEnd type="none" w="med" len="med"/>
            <a:tailEnd type="none" w="med" len="med"/>
          </a:ln>
        </p:spPr>
      </p:cxnSp>
      <p:sp>
        <p:nvSpPr>
          <p:cNvPr name="AutoShape 12" id="12"/>
          <p:cNvSpPr/>
          <p:nvPr/>
        </p:nvSpPr>
        <p:spPr>
          <a:xfrm rot="0" flipH="false" flipV="false">
            <a:off x="6464300" y="1905000"/>
            <a:ext cx="5080000" cy="4064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2F4F4F"/>
                </a:solidFill>
                <a:latin typeface="Poppins"/>
                <a:ea typeface="Poppins"/>
                <a:cs typeface="Poppins"/>
                <a:sym typeface="Poppins"/>
              </a:rPr>
              <a:t>Optional Verification</a:t>
            </a:r>
            <a:endParaRPr lang="en-US" sz="1100"/>
          </a:p>
        </p:txBody>
      </p:sp>
      <p:pic>
        <p:nvPicPr>
          <p:cNvPr name="Picture 13" id="13"/>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464300" y="2921000"/>
            <a:ext cx="406400" cy="406400"/>
          </a:xfrm>
          <a:prstGeom prst="rect">
            <a:avLst/>
          </a:prstGeom>
        </p:spPr>
      </p:pic>
      <p:sp>
        <p:nvSpPr>
          <p:cNvPr name="AutoShape 14" id="14"/>
          <p:cNvSpPr/>
          <p:nvPr/>
        </p:nvSpPr>
        <p:spPr>
          <a:xfrm rot="0" flipH="false" flipV="false">
            <a:off x="7048500" y="2895600"/>
            <a:ext cx="4572000" cy="22860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2F4F4F"/>
                </a:solidFill>
                <a:latin typeface="Poppins"/>
                <a:ea typeface="Poppins"/>
                <a:cs typeface="Poppins"/>
                <a:sym typeface="Poppins"/>
              </a:rPr>
              <a:t>Visual Preview Maps</a:t>
            </a:r>
            <a:r>
              <a:rPr lang="en-US" b="false" i="false" strike="noStrike" u="none" sz="1600">
                <a:solidFill>
                  <a:srgbClr val="1F2329"/>
                </a:solidFill>
                <a:latin typeface="Poppins"/>
                <a:ea typeface="Poppins"/>
                <a:cs typeface="Poppins"/>
                <a:sym typeface="Poppins"/>
              </a:rPr>
              <a:t/>
            </a:r>
            <a:endParaRPr lang="en-US" sz="1100"/>
          </a:p>
          <a:p>
            <a:pPr algn="ctr" indent="0">
              <a:lnSpc>
                <a:spcPct val="125000"/>
              </a:lnSpc>
              <a:spcBef>
                <a:spcPts val="1000"/>
              </a:spcBef>
            </a:pPr>
            <a:r>
              <a:rPr lang="en-US" b="false" i="false" strike="noStrike" u="none" sz="1400">
                <a:solidFill>
                  <a:srgbClr val="505050"/>
                </a:solidFill>
                <a:latin typeface="Poppins"/>
                <a:ea typeface="Poppins"/>
                <a:cs typeface="Poppins"/>
                <a:sym typeface="Poppins"/>
              </a:rPr>
              <a:t>An optional but highly recommended step: generate a spatial map from the output file.</a:t>
            </a:r>
            <a:r>
              <a:rPr lang="en-US" b="false" i="false" strike="noStrike" u="none" sz="1600">
                <a:solidFill>
                  <a:srgbClr val="1F2329"/>
                </a:solidFill>
                <a:latin typeface="Poppins"/>
                <a:ea typeface="Poppins"/>
                <a:cs typeface="Poppins"/>
                <a:sym typeface="Poppins"/>
              </a:rPr>
              <a:t/>
            </a:r>
          </a:p>
          <a:p>
            <a:pPr algn="ctr" indent="0">
              <a:lnSpc>
                <a:spcPct val="125000"/>
              </a:lnSpc>
            </a:pPr>
            <a:r>
              <a:rPr lang="en-US" b="false" i="false" strike="noStrike" u="none" sz="1400">
                <a:solidFill>
                  <a:srgbClr val="505050"/>
                </a:solidFill>
                <a:latin typeface="Poppins"/>
                <a:ea typeface="Poppins"/>
                <a:cs typeface="Poppins"/>
                <a:sym typeface="Poppins"/>
              </a:rPr>
              <a:t>This helps students visually inspect and verify that the join operation has worked as expected, ensuring no spatial misalignment.</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058400" y="4673600"/>
            <a:ext cx="3759200" cy="3759200"/>
          </a:xfrm>
          <a:prstGeom prst="ellipse">
            <a:avLst/>
          </a:prstGeom>
          <a:solidFill>
            <a:srgbClr val="FFC844">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876300"/>
            <a:ext cx="10668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2F4F4F"/>
                </a:solidFill>
                <a:latin typeface="Poppins"/>
                <a:ea typeface="Poppins"/>
                <a:cs typeface="Poppins"/>
                <a:sym typeface="Poppins"/>
              </a:rPr>
              <a:t>Part 4. Multi-Year Extension</a:t>
            </a:r>
            <a:endParaRPr lang="en-US" sz="1100"/>
          </a:p>
        </p:txBody>
      </p:sp>
      <p:cxnSp>
        <p:nvCxnSpPr>
          <p:cNvPr name="Connector 4" id="4"/>
          <p:cNvCxnSpPr/>
          <p:nvPr/>
        </p:nvCxnSpPr>
        <p:spPr>
          <a:xfrm rot="-4092" flipH="false" flipV="false">
            <a:off x="762004" y="1835150"/>
            <a:ext cx="10668000" cy="12700"/>
          </a:xfrm>
          <a:prstGeom prst="straightConnector1">
            <a:avLst/>
          </a:prstGeom>
          <a:solidFill>
            <a:srgbClr val="DEE0E3">
              <a:alpha val="100000"/>
            </a:srgbClr>
          </a:solidFill>
          <a:ln w="12700" cmpd="sng" cap="flat">
            <a:solidFill>
              <a:srgbClr val="2F4F4F">
                <a:alpha val="30000"/>
              </a:srgbClr>
            </a:solidFill>
            <a:prstDash val="solid"/>
            <a:round/>
            <a:headEnd type="none" w="med" len="med"/>
            <a:tailEnd type="none" w="med" len="med"/>
          </a:ln>
        </p:spPr>
      </p:cxnSp>
      <p:sp>
        <p:nvSpPr>
          <p:cNvPr name="AutoShape 5" id="5"/>
          <p:cNvSpPr/>
          <p:nvPr/>
        </p:nvSpPr>
        <p:spPr>
          <a:xfrm rot="0" flipH="false" flipV="false">
            <a:off x="762000" y="20955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696969"/>
                </a:solidFill>
                <a:latin typeface="Poppins"/>
                <a:ea typeface="Poppins"/>
                <a:cs typeface="Poppins"/>
                <a:sym typeface="Poppins"/>
              </a:rPr>
              <a:t>The last section converts the one-year workflow into a scalable pipeline.</a:t>
            </a:r>
            <a:endParaRPr lang="en-US" sz="1100"/>
          </a:p>
        </p:txBody>
      </p:sp>
      <p:sp>
        <p:nvSpPr>
          <p:cNvPr name="AutoShape 6" id="6"/>
          <p:cNvSpPr/>
          <p:nvPr/>
        </p:nvSpPr>
        <p:spPr>
          <a:xfrm rot="0" flipH="false" flipV="false">
            <a:off x="762000" y="2921000"/>
            <a:ext cx="5207000" cy="1524000"/>
          </a:xfrm>
          <a:prstGeom prst="roundRect">
            <a:avLst>
              <a:gd name="adj" fmla="val 6666"/>
            </a:avLst>
          </a:prstGeom>
          <a:solidFill>
            <a:srgbClr val="F0F8FF">
              <a:alpha val="100000"/>
            </a:srgbClr>
          </a:solidFill>
          <a:ln w="12700" cmpd="sng" cap="flat">
            <a:solidFill>
              <a:srgbClr val="E0F2FE">
                <a:alpha val="10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3238500"/>
            <a:ext cx="508000" cy="508000"/>
          </a:xfrm>
          <a:prstGeom prst="rect">
            <a:avLst/>
          </a:prstGeom>
        </p:spPr>
      </p:pic>
      <p:sp>
        <p:nvSpPr>
          <p:cNvPr name="AutoShape 8" id="8"/>
          <p:cNvSpPr/>
          <p:nvPr/>
        </p:nvSpPr>
        <p:spPr>
          <a:xfrm rot="0" flipH="false" flipV="false">
            <a:off x="1778000" y="3175000"/>
            <a:ext cx="3937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2F4F4F"/>
                </a:solidFill>
                <a:latin typeface="Poppins"/>
                <a:ea typeface="Poppins"/>
                <a:cs typeface="Poppins"/>
                <a:sym typeface="Poppins"/>
              </a:rPr>
              <a:t>Detect available parcel years</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64748B"/>
                </a:solidFill>
                <a:latin typeface="Noto Sans SC"/>
                <a:ea typeface="Noto Sans SC"/>
                <a:cs typeface="Noto Sans SC"/>
                <a:sym typeface="Noto Sans SC"/>
              </a:rPr>
              <a:t>Automatically identify and validate data sources for different calendar years to avoid manual input.</a:t>
            </a:r>
          </a:p>
        </p:txBody>
      </p:sp>
      <p:sp>
        <p:nvSpPr>
          <p:cNvPr name="AutoShape 9" id="9"/>
          <p:cNvSpPr/>
          <p:nvPr/>
        </p:nvSpPr>
        <p:spPr>
          <a:xfrm rot="0" flipH="false" flipV="false">
            <a:off x="6223000" y="2921000"/>
            <a:ext cx="5207000" cy="1524000"/>
          </a:xfrm>
          <a:prstGeom prst="roundRect">
            <a:avLst>
              <a:gd name="adj" fmla="val 6666"/>
            </a:avLst>
          </a:prstGeom>
          <a:solidFill>
            <a:srgbClr val="FFFBEB">
              <a:alpha val="100000"/>
            </a:srgbClr>
          </a:solidFill>
          <a:ln w="12700" cmpd="sng" cap="flat">
            <a:solidFill>
              <a:srgbClr val="FEF3C7">
                <a:alpha val="10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477000" y="3238500"/>
            <a:ext cx="508000" cy="508000"/>
          </a:xfrm>
          <a:prstGeom prst="rect">
            <a:avLst/>
          </a:prstGeom>
        </p:spPr>
      </p:pic>
      <p:sp>
        <p:nvSpPr>
          <p:cNvPr name="AutoShape 11" id="11"/>
          <p:cNvSpPr/>
          <p:nvPr/>
        </p:nvSpPr>
        <p:spPr>
          <a:xfrm rot="0" flipH="false" flipV="false">
            <a:off x="7239000" y="3175000"/>
            <a:ext cx="3937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B45309"/>
                </a:solidFill>
                <a:latin typeface="Poppins"/>
                <a:ea typeface="Poppins"/>
                <a:cs typeface="Poppins"/>
                <a:sym typeface="Poppins"/>
              </a:rPr>
              <a:t>Add optional Google Drive sourcing</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78350F"/>
                </a:solidFill>
                <a:latin typeface="Noto Sans SC"/>
                <a:ea typeface="Noto Sans SC"/>
                <a:cs typeface="Noto Sans SC"/>
                <a:sym typeface="Noto Sans SC"/>
              </a:rPr>
              <a:t>Expand input options to support cloud-based data retrieval for enhanced flexibility and collaboration.</a:t>
            </a:r>
          </a:p>
        </p:txBody>
      </p:sp>
      <p:sp>
        <p:nvSpPr>
          <p:cNvPr name="AutoShape 12" id="12"/>
          <p:cNvSpPr/>
          <p:nvPr/>
        </p:nvSpPr>
        <p:spPr>
          <a:xfrm rot="0" flipH="false" flipV="false">
            <a:off x="762000" y="4699000"/>
            <a:ext cx="5207000" cy="1524000"/>
          </a:xfrm>
          <a:prstGeom prst="roundRect">
            <a:avLst>
              <a:gd name="adj" fmla="val 6666"/>
            </a:avLst>
          </a:prstGeom>
          <a:solidFill>
            <a:srgbClr val="F0FDF4">
              <a:alpha val="100000"/>
            </a:srgbClr>
          </a:solidFill>
          <a:ln w="12700" cmpd="sng" cap="flat">
            <a:solidFill>
              <a:srgbClr val="DCFCE7">
                <a:alpha val="10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16000" y="5016500"/>
            <a:ext cx="508000" cy="508000"/>
          </a:xfrm>
          <a:prstGeom prst="rect">
            <a:avLst/>
          </a:prstGeom>
        </p:spPr>
      </p:pic>
      <p:sp>
        <p:nvSpPr>
          <p:cNvPr name="AutoShape 14" id="14"/>
          <p:cNvSpPr/>
          <p:nvPr/>
        </p:nvSpPr>
        <p:spPr>
          <a:xfrm rot="0" flipH="false" flipV="false">
            <a:off x="1778000" y="4953000"/>
            <a:ext cx="3937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5803D"/>
                </a:solidFill>
                <a:latin typeface="Poppins"/>
                <a:ea typeface="Poppins"/>
                <a:cs typeface="Poppins"/>
                <a:sym typeface="Poppins"/>
              </a:rPr>
              <a:t>Reuse core logic across years</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14532D"/>
                </a:solidFill>
                <a:latin typeface="Noto Sans SC"/>
                <a:ea typeface="Noto Sans SC"/>
                <a:cs typeface="Noto Sans SC"/>
                <a:sym typeface="Noto Sans SC"/>
              </a:rPr>
              <a:t>Leverage the existing Step 2 and Step 3 processing modules for different datasets to ensure consistency.</a:t>
            </a:r>
          </a:p>
        </p:txBody>
      </p:sp>
      <p:sp>
        <p:nvSpPr>
          <p:cNvPr name="AutoShape 15" id="15"/>
          <p:cNvSpPr/>
          <p:nvPr/>
        </p:nvSpPr>
        <p:spPr>
          <a:xfrm rot="0" flipH="false" flipV="false">
            <a:off x="6223000" y="4699000"/>
            <a:ext cx="5207000" cy="1524000"/>
          </a:xfrm>
          <a:prstGeom prst="roundRect">
            <a:avLst>
              <a:gd name="adj" fmla="val 6666"/>
            </a:avLst>
          </a:prstGeom>
          <a:solidFill>
            <a:srgbClr val="FAF5FF">
              <a:alpha val="100000"/>
            </a:srgbClr>
          </a:solidFill>
          <a:ln w="12700" cmpd="sng" cap="flat">
            <a:solidFill>
              <a:srgbClr val="F3E8FF">
                <a:alpha val="100000"/>
              </a:srgbClr>
            </a:solid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477000" y="5016500"/>
            <a:ext cx="508000" cy="508000"/>
          </a:xfrm>
          <a:prstGeom prst="rect">
            <a:avLst/>
          </a:prstGeom>
        </p:spPr>
      </p:pic>
      <p:sp>
        <p:nvSpPr>
          <p:cNvPr name="AutoShape 17" id="17"/>
          <p:cNvSpPr/>
          <p:nvPr/>
        </p:nvSpPr>
        <p:spPr>
          <a:xfrm rot="0" flipH="false" flipV="false">
            <a:off x="7239000" y="4953000"/>
            <a:ext cx="3937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7E22CE"/>
                </a:solidFill>
                <a:latin typeface="Poppins"/>
                <a:ea typeface="Poppins"/>
                <a:cs typeface="Poppins"/>
                <a:sym typeface="Poppins"/>
              </a:rPr>
              <a:t>Write a consolidated process log</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4C1D95"/>
                </a:solidFill>
                <a:latin typeface="Noto Sans SC"/>
                <a:ea typeface="Noto Sans SC"/>
                <a:cs typeface="Noto Sans SC"/>
                <a:sym typeface="Noto Sans SC"/>
              </a:rPr>
              <a:t>Generate a unified log file to track the multi-year pipeline execution, simplifying debugging and auditing.</a:t>
            </a:r>
          </a:p>
        </p:txBody>
      </p:sp>
    </p:spTree>
  </p:cSld>
  <p:clrMapOvr>
    <a:masterClrMapping/>
  </p:clrMapOvr>
</p:sld>
</file>

<file path=ppt/slides/slide25.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058400" y="4673600"/>
            <a:ext cx="3759200" cy="3759200"/>
          </a:xfrm>
          <a:prstGeom prst="ellipse">
            <a:avLst/>
          </a:prstGeom>
          <a:solidFill>
            <a:srgbClr val="FFC844">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520700" y="279400"/>
            <a:ext cx="2552700" cy="355600"/>
          </a:xfrm>
          <a:prstGeom prst="roundRect">
            <a:avLst>
              <a:gd name="adj" fmla="val 0"/>
            </a:avLst>
          </a:prstGeom>
          <a:solidFill>
            <a:srgbClr val="F3F4F6">
              <a:alpha val="100000"/>
            </a:srgbClr>
          </a:solidFill>
          <a:ln w="254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6B7280"/>
                </a:solidFill>
                <a:latin typeface="Poppins"/>
                <a:ea typeface="Poppins"/>
                <a:cs typeface="Poppins"/>
                <a:sym typeface="Poppins"/>
              </a:rPr>
              <a:t>PROJECT EXTENSION</a:t>
            </a:r>
            <a:endParaRPr lang="en-US" sz="1100"/>
          </a:p>
        </p:txBody>
      </p:sp>
      <p:sp>
        <p:nvSpPr>
          <p:cNvPr name="AutoShape 4" id="4"/>
          <p:cNvSpPr/>
          <p:nvPr/>
        </p:nvSpPr>
        <p:spPr>
          <a:xfrm rot="0" flipH="false" flipV="false">
            <a:off x="749300" y="838200"/>
            <a:ext cx="10668000" cy="5588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2F4F4F"/>
                </a:solidFill>
                <a:latin typeface="Poppins"/>
                <a:ea typeface="Poppins"/>
                <a:cs typeface="Poppins"/>
                <a:sym typeface="Poppins"/>
              </a:rPr>
              <a:t>Part 4. Multi-Year Extension</a:t>
            </a:r>
            <a:endParaRPr lang="en-US" sz="1100"/>
          </a:p>
        </p:txBody>
      </p:sp>
      <p:cxnSp>
        <p:nvCxnSpPr>
          <p:cNvPr name="Connector 5" id="5"/>
          <p:cNvCxnSpPr/>
          <p:nvPr/>
        </p:nvCxnSpPr>
        <p:spPr>
          <a:xfrm rot="-4092" flipH="false" flipV="false">
            <a:off x="749304" y="1593850"/>
            <a:ext cx="10668000" cy="12700"/>
          </a:xfrm>
          <a:prstGeom prst="straightConnector1">
            <a:avLst/>
          </a:prstGeom>
          <a:solidFill>
            <a:srgbClr val="DEE0E3">
              <a:alpha val="100000"/>
            </a:srgbClr>
          </a:solidFill>
          <a:ln w="12700" cmpd="sng" cap="flat">
            <a:solidFill>
              <a:srgbClr val="2F4F4F">
                <a:alpha val="100000"/>
              </a:srgbClr>
            </a:solidFill>
            <a:prstDash val="solid"/>
            <a:round/>
            <a:headEnd type="none" w="med" len="med"/>
            <a:tailEnd type="none" w="med" len="med"/>
          </a:ln>
        </p:spPr>
      </p:cxnSp>
      <p:sp>
        <p:nvSpPr>
          <p:cNvPr name="AutoShape 6" id="6"/>
          <p:cNvSpPr/>
          <p:nvPr/>
        </p:nvSpPr>
        <p:spPr>
          <a:xfrm rot="0" flipH="false" flipV="false">
            <a:off x="749300" y="1905000"/>
            <a:ext cx="5334000" cy="5080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2F4F4F"/>
                </a:solidFill>
                <a:latin typeface="Poppins"/>
                <a:ea typeface="Poppins"/>
                <a:cs typeface="Poppins"/>
                <a:sym typeface="Poppins"/>
              </a:rPr>
              <a:t>4-1A. Detect Available Years &amp; Output Paths</a:t>
            </a:r>
            <a:endParaRPr lang="en-US" sz="1100"/>
          </a:p>
        </p:txBody>
      </p:sp>
      <p:sp>
        <p:nvSpPr>
          <p:cNvPr name="AutoShape 7" id="7"/>
          <p:cNvSpPr/>
          <p:nvPr/>
        </p:nvSpPr>
        <p:spPr>
          <a:xfrm rot="0" flipH="false" flipV="false">
            <a:off x="749300" y="2667000"/>
            <a:ext cx="5334000" cy="1714500"/>
          </a:xfrm>
          <a:prstGeom prst="roundRect">
            <a:avLst>
              <a:gd name="adj" fmla="val 5925"/>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952500" y="2857500"/>
            <a:ext cx="4826000" cy="1333500"/>
          </a:xfrm>
          <a:prstGeom prst="roundRect">
            <a:avLst>
              <a:gd name="adj" fmla="val 0"/>
            </a:avLst>
          </a:prstGeom>
          <a:noFill/>
          <a:ln w="25400" cmpd="sng" cap="flat">
            <a:noFill/>
            <a:prstDash val="solid"/>
            <a:round/>
          </a:ln>
        </p:spPr>
        <p:txBody>
          <a:bodyPr anchor="t" rtlCol="false" anchorCtr="false" vert="horz" wrap="square" lIns="0" rIns="0" tIns="0" bIns="0"/>
          <a:lstStyle/>
          <a:p>
            <a:pPr algn="l" indent="0">
              <a:lnSpc>
                <a:spcPct val="108333"/>
              </a:lnSpc>
              <a:defRPr/>
            </a:pPr>
            <a:r>
              <a:rPr lang="en-US" b="true" i="false" strike="noStrike" u="none" sz="1600">
                <a:solidFill>
                  <a:srgbClr val="1F2937"/>
                </a:solidFill>
                <a:latin typeface="Poppins"/>
                <a:ea typeface="Poppins"/>
                <a:cs typeface="Poppins"/>
                <a:sym typeface="Poppins"/>
              </a:rPr>
              <a:t>🔍 Local Workflow Automation</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600"/>
              </a:spcBef>
            </a:pPr>
            <a:r>
              <a:rPr lang="en-US" b="false" i="false" strike="noStrike" u="none" sz="1300">
                <a:solidFill>
                  <a:srgbClr val="4B5563"/>
                </a:solidFill>
                <a:latin typeface="Noto Sans SC"/>
                <a:ea typeface="Noto Sans SC"/>
                <a:cs typeface="Noto Sans SC"/>
                <a:sym typeface="Noto Sans SC"/>
              </a:rPr>
              <a:t>Automatically search parcel directories, detect data years, create structured output folders, and log all processing steps.</a:t>
            </a:r>
            <a:r>
              <a:rPr lang="en-US" b="false" i="false" strike="noStrike" u="none" sz="1600">
                <a:solidFill>
                  <a:srgbClr val="1F2329"/>
                </a:solidFill>
                <a:latin typeface="Noto Sans SC"/>
                <a:ea typeface="Noto Sans SC"/>
                <a:cs typeface="Noto Sans SC"/>
                <a:sym typeface="Noto Sans SC"/>
              </a:rPr>
              <a:t/>
            </a:r>
          </a:p>
          <a:p>
            <a:pPr algn="l" indent="0">
              <a:lnSpc>
                <a:spcPct val="108333"/>
              </a:lnSpc>
              <a:spcBef>
                <a:spcPts val="600"/>
              </a:spcBef>
            </a:pPr>
            <a:r>
              <a:rPr lang="en-US" b="false" i="true" strike="noStrike" u="none" sz="1200">
                <a:solidFill>
                  <a:srgbClr val="DC2626"/>
                </a:solidFill>
                <a:latin typeface="Noto Sans SC"/>
                <a:ea typeface="Noto Sans SC"/>
                <a:cs typeface="Noto Sans SC"/>
                <a:sym typeface="Noto Sans SC"/>
              </a:rPr>
              <a:t>Key Benefit: Eliminates hard-coded year lists from the pipeline.</a:t>
            </a:r>
          </a:p>
        </p:txBody>
      </p:sp>
      <p:sp>
        <p:nvSpPr>
          <p:cNvPr name="AutoShape 9" id="9"/>
          <p:cNvSpPr/>
          <p:nvPr/>
        </p:nvSpPr>
        <p:spPr>
          <a:xfrm rot="0" flipH="false" flipV="false">
            <a:off x="749300" y="4572000"/>
            <a:ext cx="5334000" cy="1714500"/>
          </a:xfrm>
          <a:prstGeom prst="roundRect">
            <a:avLst>
              <a:gd name="adj" fmla="val 5925"/>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952500" y="4762500"/>
            <a:ext cx="4826000" cy="1333500"/>
          </a:xfrm>
          <a:prstGeom prst="roundRect">
            <a:avLst>
              <a:gd name="adj" fmla="val 0"/>
            </a:avLst>
          </a:prstGeom>
          <a:noFill/>
          <a:ln w="25400" cmpd="sng" cap="flat">
            <a:noFill/>
            <a:prstDash val="solid"/>
            <a:round/>
          </a:ln>
        </p:spPr>
        <p:txBody>
          <a:bodyPr anchor="t" rtlCol="false" anchorCtr="false" vert="horz" wrap="square" lIns="0" rIns="0" tIns="0" bIns="0"/>
          <a:lstStyle/>
          <a:p>
            <a:pPr algn="l" indent="0">
              <a:lnSpc>
                <a:spcPct val="108333"/>
              </a:lnSpc>
              <a:defRPr/>
            </a:pPr>
            <a:r>
              <a:rPr lang="en-US" b="true" i="false" strike="noStrike" u="none" sz="1600">
                <a:solidFill>
                  <a:srgbClr val="1F2937"/>
                </a:solidFill>
                <a:latin typeface="Poppins"/>
                <a:ea typeface="Poppins"/>
                <a:cs typeface="Poppins"/>
                <a:sym typeface="Poppins"/>
              </a:rPr>
              <a:t>☁️ 4-1B. Google Drive Integration</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600"/>
              </a:spcBef>
            </a:pPr>
            <a:r>
              <a:rPr lang="en-US" b="true" i="false" strike="noStrike" u="none" sz="1300">
                <a:solidFill>
                  <a:srgbClr val="4B5563"/>
                </a:solidFill>
                <a:latin typeface="Noto Sans SC"/>
                <a:ea typeface="Noto Sans SC"/>
                <a:cs typeface="Noto Sans SC"/>
                <a:sym typeface="Noto Sans SC"/>
              </a:rPr>
              <a:t>Context:</a:t>
            </a:r>
            <a:r>
              <a:rPr lang="en-US" b="false" i="false" strike="noStrike" u="none" sz="1300">
                <a:solidFill>
                  <a:srgbClr val="4B5563"/>
                </a:solidFill>
                <a:latin typeface="Noto Sans SC"/>
                <a:ea typeface="Noto Sans SC"/>
                <a:cs typeface="Noto Sans SC"/>
                <a:sym typeface="Noto Sans SC"/>
              </a:rPr>
              <a:t>Addresses data stored in shared Google Drive folders.</a:t>
            </a:r>
            <a:r>
              <a:rPr lang="en-US" b="false" i="false" strike="noStrike" u="none" sz="1600">
                <a:solidFill>
                  <a:srgbClr val="1F2329"/>
                </a:solidFill>
                <a:latin typeface="Noto Sans SC"/>
                <a:ea typeface="Noto Sans SC"/>
                <a:cs typeface="Noto Sans SC"/>
                <a:sym typeface="Noto Sans SC"/>
              </a:rPr>
              <a:t/>
            </a:r>
          </a:p>
          <a:p>
            <a:pPr algn="l" indent="0">
              <a:lnSpc>
                <a:spcPct val="108333"/>
              </a:lnSpc>
            </a:pPr>
            <a:r>
              <a:rPr lang="en-US" b="true" i="false" strike="noStrike" u="none" sz="1300">
                <a:solidFill>
                  <a:srgbClr val="4B5563"/>
                </a:solidFill>
                <a:latin typeface="Noto Sans SC"/>
                <a:ea typeface="Noto Sans SC"/>
                <a:cs typeface="Noto Sans SC"/>
                <a:sym typeface="Noto Sans SC"/>
              </a:rPr>
              <a:t>Method:</a:t>
            </a:r>
            <a:r>
              <a:rPr lang="en-US" b="false" i="false" strike="noStrike" u="none" sz="1300">
                <a:solidFill>
                  <a:srgbClr val="4B5563"/>
                </a:solidFill>
                <a:latin typeface="Noto Sans SC"/>
                <a:ea typeface="Noto Sans SC"/>
                <a:cs typeface="Noto Sans SC"/>
                <a:sym typeface="Noto Sans SC"/>
              </a:rPr>
              <a:t>Parse folder HTML, locate archive files, use HTTP Range Requests to inspect file contents and identify types.</a:t>
            </a:r>
          </a:p>
        </p:txBody>
      </p:sp>
      <p:sp>
        <p:nvSpPr>
          <p:cNvPr name="AutoShape 11" id="11"/>
          <p:cNvSpPr/>
          <p:nvPr/>
        </p:nvSpPr>
        <p:spPr>
          <a:xfrm rot="0" flipH="false" flipV="false">
            <a:off x="6477000" y="2032000"/>
            <a:ext cx="4953000" cy="1968500"/>
          </a:xfrm>
          <a:prstGeom prst="roundRect">
            <a:avLst>
              <a:gd name="adj" fmla="val 0"/>
            </a:avLst>
          </a:prstGeom>
          <a:solidFill>
            <a:srgbClr val="EBF8FF">
              <a:alpha val="100000"/>
            </a:srgbClr>
          </a:solidFill>
          <a:ln w="12700" cmpd="sng" cap="flat">
            <a:solidFill>
              <a:srgbClr val="BFDBFE">
                <a:alpha val="100000"/>
              </a:srgbClr>
            </a:solid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6731000" y="2286000"/>
            <a:ext cx="4445000" cy="14605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1E40AF"/>
                </a:solidFill>
                <a:latin typeface="Poppins"/>
                <a:ea typeface="Poppins"/>
                <a:cs typeface="Poppins"/>
                <a:sym typeface="Poppins"/>
              </a:rPr>
              <a:t>Data Detection Logic</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16666"/>
              </a:lnSpc>
              <a:spcBef>
                <a:spcPts val="1200"/>
              </a:spcBef>
            </a:pPr>
            <a:r>
              <a:rPr lang="en-US" b="false" i="false" strike="noStrike" u="none" sz="1300">
                <a:solidFill>
                  <a:srgbClr val="374151"/>
                </a:solidFill>
                <a:latin typeface="Noto Sans SC"/>
                <a:ea typeface="Noto Sans SC"/>
                <a:cs typeface="Noto Sans SC"/>
                <a:sym typeface="Noto Sans SC"/>
              </a:rPr>
              <a:t>The system dynamically identifies available data years without manual configuration, ensuring scalability and adaptability to new datasets.</a:t>
            </a:r>
          </a:p>
        </p:txBody>
      </p:sp>
      <p:sp>
        <p:nvSpPr>
          <p:cNvPr name="AutoShape 13" id="13"/>
          <p:cNvSpPr/>
          <p:nvPr/>
        </p:nvSpPr>
        <p:spPr>
          <a:xfrm rot="0" flipH="false" flipV="false">
            <a:off x="6477000" y="4318000"/>
            <a:ext cx="4953000" cy="1968500"/>
          </a:xfrm>
          <a:prstGeom prst="roundRect">
            <a:avLst>
              <a:gd name="adj" fmla="val 0"/>
            </a:avLst>
          </a:prstGeom>
          <a:solidFill>
            <a:srgbClr val="F0FDF4">
              <a:alpha val="100000"/>
            </a:srgbClr>
          </a:solidFill>
          <a:ln w="12700" cmpd="sng" cap="flat">
            <a:solidFill>
              <a:srgbClr val="BBF7D0">
                <a:alpha val="100000"/>
              </a:srgbClr>
            </a:solid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731000" y="4572000"/>
            <a:ext cx="4445000" cy="1460500"/>
          </a:xfrm>
          <a:prstGeom prst="roundRect">
            <a:avLst>
              <a:gd name="adj" fmla="val 0"/>
            </a:avLst>
          </a:prstGeom>
          <a:noFill/>
          <a:ln w="254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15803D"/>
                </a:solidFill>
                <a:latin typeface="Poppins"/>
                <a:ea typeface="Poppins"/>
                <a:cs typeface="Poppins"/>
                <a:sym typeface="Poppins"/>
              </a:rPr>
              <a:t>Cloud Compatibility</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16666"/>
              </a:lnSpc>
              <a:spcBef>
                <a:spcPts val="1200"/>
              </a:spcBef>
            </a:pPr>
            <a:r>
              <a:rPr lang="en-US" b="false" i="false" strike="noStrike" u="none" sz="1300">
                <a:solidFill>
                  <a:srgbClr val="374151"/>
                </a:solidFill>
                <a:latin typeface="Noto Sans SC"/>
                <a:ea typeface="Noto Sans SC"/>
                <a:cs typeface="Noto Sans SC"/>
                <a:sym typeface="Noto Sans SC"/>
              </a:rPr>
              <a:t>Enables direct access to archived data in Google Drive via web parsing, bridging local processing with cloud storage.</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058400" y="4673600"/>
            <a:ext cx="3759200" cy="3759200"/>
          </a:xfrm>
          <a:prstGeom prst="ellipse">
            <a:avLst/>
          </a:prstGeom>
          <a:solidFill>
            <a:srgbClr val="FFC844">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 id="3"/>
          <p:cNvPicPr>
            <a:picLocks noChangeAspect="true"/>
          </p:cNvPicPr>
          <p:nvPr/>
        </p:nvPicPr>
        <p:blipFill>
          <a:blip r:embed="rId2"/>
          <a:srcRect l="0" r="0" t="469" b="469"/>
          <a:stretch>
            <a:fillRect/>
          </a:stretch>
        </p:blipFill>
        <p:spPr>
          <a:xfrm rot="0" flipH="false" flipV="false">
            <a:off x="520700" y="279400"/>
            <a:ext cx="2552700" cy="355600"/>
          </a:xfrm>
          <a:prstGeom prst="rect">
            <a:avLst/>
          </a:prstGeom>
          <a:noFill/>
          <a:ln w="25400" cmpd="sng" cap="flat">
            <a:noFill/>
            <a:prstDash val="solid"/>
            <a:round/>
          </a:ln>
        </p:spPr>
      </p:pic>
      <p:sp>
        <p:nvSpPr>
          <p:cNvPr name="AutoShape 4" id="4"/>
          <p:cNvSpPr/>
          <p:nvPr/>
        </p:nvSpPr>
        <p:spPr>
          <a:xfrm rot="0" flipH="false" flipV="false">
            <a:off x="749300" y="838200"/>
            <a:ext cx="10668000" cy="558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2F4F4F"/>
                </a:solidFill>
                <a:latin typeface="Poppins"/>
                <a:ea typeface="Poppins"/>
                <a:cs typeface="Poppins"/>
                <a:sym typeface="Poppins"/>
              </a:rPr>
              <a:t>Part 4. Multi-Year Extension</a:t>
            </a:r>
            <a:endParaRPr lang="en-US" sz="1100"/>
          </a:p>
        </p:txBody>
      </p:sp>
      <p:cxnSp>
        <p:nvCxnSpPr>
          <p:cNvPr name="Connector 5" id="5"/>
          <p:cNvCxnSpPr/>
          <p:nvPr/>
        </p:nvCxnSpPr>
        <p:spPr>
          <a:xfrm rot="-4092" flipH="false" flipV="false">
            <a:off x="749304" y="1593850"/>
            <a:ext cx="10668000" cy="12700"/>
          </a:xfrm>
          <a:prstGeom prst="straightConnector1">
            <a:avLst/>
          </a:prstGeom>
          <a:solidFill>
            <a:srgbClr val="DEE0E3">
              <a:alpha val="100000"/>
            </a:srgbClr>
          </a:solidFill>
          <a:ln w="12700" cmpd="sng" cap="flat">
            <a:solidFill>
              <a:srgbClr val="2F4F4F">
                <a:alpha val="100000"/>
              </a:srgbClr>
            </a:solidFill>
            <a:prstDash val="solid"/>
            <a:round/>
            <a:headEnd type="none" w="med" len="med"/>
            <a:tailEnd type="none" w="med" len="med"/>
          </a:ln>
        </p:spPr>
      </p:cxnSp>
      <p:sp>
        <p:nvSpPr>
          <p:cNvPr name="AutoShape 6" id="6"/>
          <p:cNvSpPr/>
          <p:nvPr/>
        </p:nvSpPr>
        <p:spPr>
          <a:xfrm rot="0" flipH="false" flipV="false">
            <a:off x="749300" y="1905000"/>
            <a:ext cx="508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2F4F4F"/>
                </a:solidFill>
                <a:latin typeface="Poppins"/>
                <a:ea typeface="Poppins"/>
                <a:cs typeface="Poppins"/>
                <a:sym typeface="Poppins"/>
              </a:rPr>
              <a:t>4-2. Define the Reusable One-Year Function</a:t>
            </a:r>
            <a:endParaRPr lang="en-US" sz="1100"/>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749300" y="2794000"/>
            <a:ext cx="406400" cy="406400"/>
          </a:xfrm>
          <a:prstGeom prst="rect">
            <a:avLst/>
          </a:prstGeom>
        </p:spPr>
      </p:pic>
      <p:sp>
        <p:nvSpPr>
          <p:cNvPr name="AutoShape 8" id="8"/>
          <p:cNvSpPr/>
          <p:nvPr/>
        </p:nvSpPr>
        <p:spPr>
          <a:xfrm rot="0" flipH="false" flipV="false">
            <a:off x="1397000" y="2768600"/>
            <a:ext cx="4445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600">
                <a:solidFill>
                  <a:srgbClr val="1F2329"/>
                </a:solidFill>
                <a:latin typeface="Poppins"/>
                <a:ea typeface="Poppins"/>
                <a:cs typeface="Poppins"/>
                <a:sym typeface="Poppins"/>
              </a:rPr>
              <a:t>Core Idea</a:t>
            </a:r>
            <a:r>
              <a:rPr lang="en-US" b="false" i="false" strike="noStrike" u="none" sz="1600">
                <a:solidFill>
                  <a:srgbClr val="1F2329"/>
                </a:solidFill>
                <a:latin typeface="Poppins"/>
                <a:ea typeface="Poppins"/>
                <a:cs typeface="Poppins"/>
                <a:sym typeface="Poppins"/>
              </a:rPr>
              <a:t/>
            </a:r>
            <a:endParaRPr lang="en-US" sz="1100"/>
          </a:p>
          <a:p>
            <a:pPr algn="l" indent="0">
              <a:lnSpc>
                <a:spcPct val="108333"/>
              </a:lnSpc>
            </a:pPr>
            <a:r>
              <a:rPr lang="en-US" b="false" i="false" strike="noStrike" u="none" sz="1300">
                <a:solidFill>
                  <a:srgbClr val="505050"/>
                </a:solidFill>
                <a:latin typeface="Poppins"/>
                <a:ea typeface="Poppins"/>
                <a:cs typeface="Poppins"/>
                <a:sym typeface="Poppins"/>
              </a:rPr>
              <a:t>The notebook wraps all annual logic into a single, callable function to eliminate code redundancy and ensure consistency across years.</a:t>
            </a:r>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749300" y="4191000"/>
            <a:ext cx="406400" cy="406400"/>
          </a:xfrm>
          <a:prstGeom prst="rect">
            <a:avLst/>
          </a:prstGeom>
        </p:spPr>
      </p:pic>
      <p:sp>
        <p:nvSpPr>
          <p:cNvPr name="AutoShape 10" id="10"/>
          <p:cNvSpPr/>
          <p:nvPr/>
        </p:nvSpPr>
        <p:spPr>
          <a:xfrm rot="0" flipH="false" flipV="false">
            <a:off x="1397000" y="4191000"/>
            <a:ext cx="4445000" cy="1905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600">
                <a:solidFill>
                  <a:srgbClr val="1F2329"/>
                </a:solidFill>
                <a:latin typeface="Poppins"/>
                <a:ea typeface="Poppins"/>
                <a:cs typeface="Poppins"/>
                <a:sym typeface="Poppins"/>
              </a:rPr>
              <a:t>Key Responsibilities</a:t>
            </a:r>
            <a:r>
              <a:rPr lang="en-US" b="false" i="false" strike="noStrike" u="none" sz="1600">
                <a:solidFill>
                  <a:srgbClr val="1F2329"/>
                </a:solidFill>
                <a:latin typeface="Poppins"/>
                <a:ea typeface="Poppins"/>
                <a:cs typeface="Poppins"/>
                <a:sym typeface="Poppins"/>
              </a:rPr>
              <a:t/>
            </a:r>
            <a:endParaRPr lang="en-US" sz="1100"/>
          </a:p>
          <a:p>
            <a:pPr algn="l" indent="0">
              <a:lnSpc>
                <a:spcPct val="116666"/>
              </a:lnSpc>
            </a:pPr>
            <a:r>
              <a:rPr lang="en-US" b="false" i="false" strike="noStrike" u="none" sz="1300">
                <a:solidFill>
                  <a:srgbClr val="505050"/>
                </a:solidFill>
                <a:latin typeface="Poppins"/>
                <a:ea typeface="Poppins"/>
                <a:cs typeface="Poppins"/>
                <a:sym typeface="Poppins"/>
              </a:rPr>
              <a:t>• Load raw parcel data &amp; normalize unique keys</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300">
                <a:solidFill>
                  <a:srgbClr val="505050"/>
                </a:solidFill>
                <a:latin typeface="Poppins"/>
                <a:ea typeface="Poppins"/>
                <a:cs typeface="Poppins"/>
                <a:sym typeface="Poppins"/>
              </a:rPr>
              <a:t>• Construct unified commercial parcel boundaries</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300">
                <a:solidFill>
                  <a:srgbClr val="505050"/>
                </a:solidFill>
                <a:latin typeface="Poppins"/>
                <a:ea typeface="Poppins"/>
                <a:cs typeface="Poppins"/>
                <a:sym typeface="Poppins"/>
              </a:rPr>
              <a:t>• Filter active business licenses &amp; run spatial join</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300">
                <a:solidFill>
                  <a:srgbClr val="505050"/>
                </a:solidFill>
                <a:latin typeface="Poppins"/>
                <a:ea typeface="Poppins"/>
                <a:cs typeface="Poppins"/>
                <a:sym typeface="Poppins"/>
              </a:rPr>
              <a:t>• Validate &amp; save final outputs to disk</a:t>
            </a:r>
          </a:p>
        </p:txBody>
      </p:sp>
      <p:sp>
        <p:nvSpPr>
          <p:cNvPr name="AutoShape 11" id="11"/>
          <p:cNvSpPr/>
          <p:nvPr/>
        </p:nvSpPr>
        <p:spPr>
          <a:xfrm rot="0" flipH="false" flipV="false">
            <a:off x="6477000" y="2032000"/>
            <a:ext cx="5207000" cy="4318000"/>
          </a:xfrm>
          <a:prstGeom prst="roundRect">
            <a:avLst>
              <a:gd name="adj" fmla="val 0"/>
            </a:avLst>
          </a:prstGeom>
          <a:solidFill>
            <a:srgbClr val="F7F9FB">
              <a:alpha val="100000"/>
            </a:srgbClr>
          </a:solidFill>
          <a:ln w="12700" cmpd="sng" cap="flat">
            <a:solidFill>
              <a:srgbClr val="2F4F4F">
                <a:alpha val="30000"/>
              </a:srgbClr>
            </a:solid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6731000" y="2286000"/>
            <a:ext cx="4699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2F4F4F"/>
                </a:solidFill>
                <a:latin typeface="Poppins"/>
                <a:ea typeface="Poppins"/>
                <a:cs typeface="Poppins"/>
                <a:sym typeface="Poppins"/>
              </a:rPr>
              <a:t>4-3. Run the Workflow for All Years</a:t>
            </a:r>
            <a:endParaRPr lang="en-US" sz="1100"/>
          </a:p>
        </p:txBody>
      </p:sp>
      <p:sp>
        <p:nvSpPr>
          <p:cNvPr name="AutoShape 13" id="13"/>
          <p:cNvSpPr/>
          <p:nvPr/>
        </p:nvSpPr>
        <p:spPr>
          <a:xfrm rot="0" flipH="false" flipV="false">
            <a:off x="6731000" y="3175000"/>
            <a:ext cx="4699000" cy="1778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true" i="false" strike="noStrike" u="none" sz="1400">
                <a:solidFill>
                  <a:srgbClr val="1F2329"/>
                </a:solidFill>
                <a:latin typeface="Poppins"/>
                <a:ea typeface="Poppins"/>
                <a:cs typeface="Poppins"/>
                <a:sym typeface="Poppins"/>
              </a:rPr>
              <a:t>Pipeline Execution Logic:</a:t>
            </a:r>
            <a:r>
              <a:rPr lang="en-US" b="false" i="false" strike="noStrike" u="none" sz="1600">
                <a:solidFill>
                  <a:srgbClr val="1F2329"/>
                </a:solidFill>
                <a:latin typeface="Poppins"/>
                <a:ea typeface="Poppins"/>
                <a:cs typeface="Poppins"/>
                <a:sym typeface="Poppins"/>
              </a:rPr>
              <a:t/>
            </a:r>
            <a:endParaRPr lang="en-US" sz="1100"/>
          </a:p>
          <a:p>
            <a:pPr algn="l" indent="0">
              <a:lnSpc>
                <a:spcPct val="116666"/>
              </a:lnSpc>
            </a:pPr>
            <a:r>
              <a:rPr lang="en-US" b="false" i="false" strike="noStrike" u="none" sz="1300">
                <a:solidFill>
                  <a:srgbClr val="505050"/>
                </a:solidFill>
                <a:latin typeface="Poppins"/>
                <a:ea typeface="Poppins"/>
                <a:cs typeface="Poppins"/>
                <a:sym typeface="Poppins"/>
              </a:rPr>
              <a:t>1. **Load Once**: Source data is read once to avoid redundant I/O operations</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300">
                <a:solidFill>
                  <a:srgbClr val="505050"/>
                </a:solidFill>
                <a:latin typeface="Poppins"/>
                <a:ea typeface="Poppins"/>
                <a:cs typeface="Poppins"/>
                <a:sym typeface="Poppins"/>
              </a:rPr>
              <a:t>2. **Loop**: Iterate programmatically through the list of target years</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300">
                <a:solidFill>
                  <a:srgbClr val="505050"/>
                </a:solidFill>
                <a:latin typeface="Poppins"/>
                <a:ea typeface="Poppins"/>
                <a:cs typeface="Poppins"/>
                <a:sym typeface="Poppins"/>
              </a:rPr>
              <a:t>3. **Idempotency**: Automatically skip processing if output files already exist</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300">
                <a:solidFill>
                  <a:srgbClr val="505050"/>
                </a:solidFill>
                <a:latin typeface="Poppins"/>
                <a:ea typeface="Poppins"/>
                <a:cs typeface="Poppins"/>
                <a:sym typeface="Poppins"/>
              </a:rPr>
              <a:t>4. **Logging**: Maintain detailed run logs for debugging and traceability</a:t>
            </a:r>
          </a:p>
        </p:txBody>
      </p:sp>
      <p:sp>
        <p:nvSpPr>
          <p:cNvPr name="AutoShape 14" id="14"/>
          <p:cNvSpPr/>
          <p:nvPr/>
        </p:nvSpPr>
        <p:spPr>
          <a:xfrm rot="0" flipH="false" flipV="false">
            <a:off x="6731000" y="5080000"/>
            <a:ext cx="4699000" cy="1016000"/>
          </a:xfrm>
          <a:prstGeom prst="roundRect">
            <a:avLst>
              <a:gd name="adj" fmla="val 0"/>
            </a:avLst>
          </a:prstGeom>
          <a:solidFill>
            <a:srgbClr val="FFF8DC">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6858000" y="5232400"/>
            <a:ext cx="4445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true" strike="noStrike" u="none" sz="1300">
                <a:solidFill>
                  <a:srgbClr val="A65A00"/>
                </a:solidFill>
                <a:latin typeface="Poppins"/>
                <a:ea typeface="Poppins"/>
                <a:cs typeface="Poppins"/>
                <a:sym typeface="Poppins"/>
              </a:rPr>
              <a:t>💡 This is the **production-friendly version** of the classroom demo, optimized for stability and ease of maintenance.</a:t>
            </a:r>
            <a:endParaRPr lang="en-US" sz="1100"/>
          </a:p>
        </p:txBody>
      </p:sp>
    </p:spTree>
  </p:cSld>
  <p:clrMapOvr>
    <a:masterClrMapping/>
  </p:clrMapOvr>
</p:sld>
</file>

<file path=ppt/slides/slide27.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381000"/>
            <a:ext cx="12192000" cy="1016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000">
                <a:solidFill>
                  <a:srgbClr val="1F2329"/>
                </a:solidFill>
                <a:latin typeface="Calibri"/>
                <a:ea typeface="Calibri"/>
                <a:cs typeface="Calibri"/>
                <a:sym typeface="Calibri"/>
              </a:rPr>
              <a:t>Key Outputs Across the Workflow</a:t>
            </a:r>
            <a:endParaRPr lang="en-US" sz="1100"/>
          </a:p>
        </p:txBody>
      </p:sp>
      <p:sp>
        <p:nvSpPr>
          <p:cNvPr name="AutoShape 3" id="3"/>
          <p:cNvSpPr/>
          <p:nvPr/>
        </p:nvSpPr>
        <p:spPr>
          <a:xfrm rot="0" flipH="false" flipV="false">
            <a:off x="609600" y="1905000"/>
            <a:ext cx="2794000" cy="4191000"/>
          </a:xfrm>
          <a:prstGeom prst="roundRect">
            <a:avLst>
              <a:gd name="adj" fmla="val 5454"/>
            </a:avLst>
          </a:prstGeom>
          <a:solidFill>
            <a:srgbClr val="FEF3C7">
              <a:alpha val="100000"/>
            </a:srgbClr>
          </a:solidFill>
          <a:ln w="25400" cmpd="sng" cap="flat">
            <a:solidFill>
              <a:srgbClr val="F59E0B">
                <a:alpha val="100000"/>
              </a:srgbClr>
            </a:solid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36600" y="2413000"/>
            <a:ext cx="2540000" cy="3175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800">
                <a:solidFill>
                  <a:srgbClr val="B45309"/>
                </a:solidFill>
                <a:latin typeface="Calibri"/>
                <a:ea typeface="Calibri"/>
                <a:cs typeface="Calibri"/>
                <a:sym typeface="Calibri"/>
              </a:rPr>
              <a:t>Data Processing</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true" i="false" strike="noStrike" u="none" sz="2800">
                <a:solidFill>
                  <a:srgbClr val="B45309"/>
                </a:solidFill>
                <a:latin typeface="Calibri"/>
                <a:ea typeface="Calibri"/>
                <a:cs typeface="Calibri"/>
                <a:sym typeface="Calibri"/>
              </a:rPr>
              <a:t>Pipeline</a:t>
            </a:r>
            <a:r>
              <a:rPr lang="en-US" b="false" i="false" strike="noStrike" u="none" sz="1600">
                <a:solidFill>
                  <a:srgbClr val="1F2329"/>
                </a:solidFill>
                <a:latin typeface="Noto Sans SC"/>
                <a:ea typeface="Noto Sans SC"/>
                <a:cs typeface="Noto Sans SC"/>
                <a:sym typeface="Noto Sans SC"/>
              </a:rPr>
              <a:t/>
            </a:r>
          </a:p>
          <a:p>
            <a:pPr algn="ctr" indent="0">
              <a:lnSpc>
                <a:spcPct val="125000"/>
              </a:lnSpc>
            </a:pPr>
            <a:r>
              <a:rPr lang="en-US" b="false" i="false" strike="noStrike" u="none" sz="1400">
                <a:solidFill>
                  <a:srgbClr val="92400E"/>
                </a:solidFill>
                <a:latin typeface="Noto Sans SC"/>
                <a:ea typeface="Noto Sans SC"/>
                <a:cs typeface="Noto Sans SC"/>
                <a:sym typeface="Noto Sans SC"/>
              </a:rPr>
              <a:t>From raw data filtering to final analysis-ready datasets and logs.</a:t>
            </a:r>
          </a:p>
        </p:txBody>
      </p:sp>
      <p:sp>
        <p:nvSpPr>
          <p:cNvPr name="AutoShape 5" id="5"/>
          <p:cNvSpPr/>
          <p:nvPr/>
        </p:nvSpPr>
        <p:spPr>
          <a:xfrm rot="0" flipH="false" flipV="false">
            <a:off x="3683000" y="2032000"/>
            <a:ext cx="1905000" cy="1016000"/>
          </a:xfrm>
          <a:prstGeom prst="roundRect">
            <a:avLst>
              <a:gd name="adj" fmla="val 12500"/>
            </a:avLst>
          </a:prstGeom>
          <a:solidFill>
            <a:srgbClr val="EF4444">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3683000" y="2159000"/>
            <a:ext cx="1905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200">
                <a:solidFill>
                  <a:srgbClr val="FFFFFF"/>
                </a:solidFill>
                <a:latin typeface="Calibri"/>
                <a:ea typeface="Calibri"/>
                <a:cs typeface="Calibri"/>
                <a:sym typeface="Calibri"/>
              </a:rPr>
              <a:t>Step 1</a:t>
            </a:r>
            <a:r>
              <a:rPr lang="en-US" b="false" i="false" strike="noStrike" u="none" sz="1600">
                <a:solidFill>
                  <a:srgbClr val="1F2329"/>
                </a:solidFill>
                <a:latin typeface="Calibri"/>
                <a:ea typeface="Calibri"/>
                <a:cs typeface="Calibri"/>
                <a:sym typeface="Calibri"/>
              </a:rPr>
              <a:t/>
            </a:r>
            <a:endParaRPr lang="en-US" sz="1100"/>
          </a:p>
          <a:p>
            <a:pPr algn="ctr" indent="0">
              <a:lnSpc>
                <a:spcPct val="125000"/>
              </a:lnSpc>
            </a:pPr>
            <a:r>
              <a:rPr lang="en-US" b="false" i="false" strike="noStrike" u="none" sz="1200">
                <a:solidFill>
                  <a:srgbClr val="FFFFFF">
                    <a:alpha val="90196"/>
                  </a:srgbClr>
                </a:solidFill>
                <a:latin typeface="Calibri"/>
                <a:ea typeface="Calibri"/>
                <a:cs typeface="Calibri"/>
                <a:sym typeface="Calibri"/>
              </a:rPr>
              <a:t>Data Filtering</a:t>
            </a:r>
          </a:p>
        </p:txBody>
      </p:sp>
      <p:sp>
        <p:nvSpPr>
          <p:cNvPr name="AutoShape 7" id="7"/>
          <p:cNvSpPr/>
          <p:nvPr/>
        </p:nvSpPr>
        <p:spPr>
          <a:xfrm rot="0" flipH="false" flipV="false">
            <a:off x="3683000" y="3302000"/>
            <a:ext cx="1905000" cy="2540000"/>
          </a:xfrm>
          <a:prstGeom prst="roundRect">
            <a:avLst>
              <a:gd name="adj" fmla="val 6666"/>
            </a:avLst>
          </a:prstGeom>
          <a:solidFill>
            <a:srgbClr val="FEF2F2">
              <a:alpha val="100000"/>
            </a:srgbClr>
          </a:solidFill>
          <a:ln w="12700" cmpd="sng" cap="flat">
            <a:solidFill>
              <a:srgbClr val="EF4444">
                <a:alpha val="30000"/>
              </a:srgbClr>
            </a:solid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3810000" y="3556000"/>
            <a:ext cx="1651000" cy="203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1F2329"/>
                </a:solidFill>
                <a:latin typeface="Noto Sans SC"/>
                <a:ea typeface="Noto Sans SC"/>
                <a:cs typeface="Noto Sans SC"/>
                <a:sym typeface="Noto Sans SC"/>
              </a:rPr>
              <a:t>• Filtered PIN-class exports</a:t>
            </a:r>
            <a:r>
              <a:rPr lang="en-US" b="true" i="false" strike="noStrike" u="none" sz="1400">
                <a:solidFill>
                  <a:srgbClr val="1F2329"/>
                </a:solidFill>
                <a:latin typeface="Noto Sans SC"/>
                <a:ea typeface="Noto Sans SC"/>
                <a:cs typeface="Noto Sans SC"/>
                <a:sym typeface="Noto Sans SC"/>
              </a:rPr>
              <a:t/>
            </a:r>
            <a:endParaRPr lang="en-US" sz="1100"/>
          </a:p>
          <a:p>
            <a:pPr algn="l" indent="0">
              <a:lnSpc>
                <a:spcPct val="125000"/>
              </a:lnSpc>
            </a:pPr>
            <a:r>
              <a:rPr lang="en-US" b="true" i="false" strike="noStrike" u="none" sz="1400">
                <a:solidFill>
                  <a:srgbClr val="1F2329"/>
                </a:solidFill>
                <a:latin typeface="Noto Sans SC"/>
                <a:ea typeface="Noto Sans SC"/>
                <a:cs typeface="Noto Sans SC"/>
                <a:sym typeface="Noto Sans SC"/>
              </a:rPr>
              <a:t>• Class summary tables</a:t>
            </a:r>
          </a:p>
        </p:txBody>
      </p:sp>
      <p:sp>
        <p:nvSpPr>
          <p:cNvPr name="AutoShape 9" id="9"/>
          <p:cNvSpPr/>
          <p:nvPr/>
        </p:nvSpPr>
        <p:spPr>
          <a:xfrm rot="0" flipH="false" flipV="false">
            <a:off x="5842000" y="2032000"/>
            <a:ext cx="1905000" cy="1016000"/>
          </a:xfrm>
          <a:prstGeom prst="roundRect">
            <a:avLst>
              <a:gd name="adj" fmla="val 12500"/>
            </a:avLst>
          </a:prstGeom>
          <a:solidFill>
            <a:srgbClr val="F59E0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5842000" y="2159000"/>
            <a:ext cx="1905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200">
                <a:solidFill>
                  <a:srgbClr val="FFFFFF"/>
                </a:solidFill>
                <a:latin typeface="Calibri"/>
                <a:ea typeface="Calibri"/>
                <a:cs typeface="Calibri"/>
                <a:sym typeface="Calibri"/>
              </a:rPr>
              <a:t>Step 2</a:t>
            </a:r>
            <a:r>
              <a:rPr lang="en-US" b="false" i="false" strike="noStrike" u="none" sz="1600">
                <a:solidFill>
                  <a:srgbClr val="1F2329"/>
                </a:solidFill>
                <a:latin typeface="Calibri"/>
                <a:ea typeface="Calibri"/>
                <a:cs typeface="Calibri"/>
                <a:sym typeface="Calibri"/>
              </a:rPr>
              <a:t/>
            </a:r>
            <a:endParaRPr lang="en-US" sz="1100"/>
          </a:p>
          <a:p>
            <a:pPr algn="ctr" indent="0">
              <a:lnSpc>
                <a:spcPct val="125000"/>
              </a:lnSpc>
            </a:pPr>
            <a:r>
              <a:rPr lang="en-US" b="false" i="false" strike="noStrike" u="none" sz="1200">
                <a:solidFill>
                  <a:srgbClr val="FFFFFF">
                    <a:alpha val="90196"/>
                  </a:srgbClr>
                </a:solidFill>
                <a:latin typeface="Calibri"/>
                <a:ea typeface="Calibri"/>
                <a:cs typeface="Calibri"/>
                <a:sym typeface="Calibri"/>
              </a:rPr>
              <a:t>Data Formatting</a:t>
            </a:r>
          </a:p>
        </p:txBody>
      </p:sp>
      <p:sp>
        <p:nvSpPr>
          <p:cNvPr name="AutoShape 11" id="11"/>
          <p:cNvSpPr/>
          <p:nvPr/>
        </p:nvSpPr>
        <p:spPr>
          <a:xfrm rot="0" flipH="false" flipV="false">
            <a:off x="5842000" y="3302000"/>
            <a:ext cx="1905000" cy="2540000"/>
          </a:xfrm>
          <a:prstGeom prst="roundRect">
            <a:avLst>
              <a:gd name="adj" fmla="val 6666"/>
            </a:avLst>
          </a:prstGeom>
          <a:solidFill>
            <a:srgbClr val="FFFBEB">
              <a:alpha val="100000"/>
            </a:srgbClr>
          </a:solidFill>
          <a:ln w="12700" cmpd="sng" cap="flat">
            <a:solidFill>
              <a:srgbClr val="F59E0B">
                <a:alpha val="30000"/>
              </a:srgbClr>
            </a:solid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5969000" y="3556000"/>
            <a:ext cx="1651000" cy="203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1F2329"/>
                </a:solidFill>
                <a:latin typeface="Noto Sans SC"/>
                <a:ea typeface="Noto Sans SC"/>
                <a:cs typeface="Noto Sans SC"/>
                <a:sym typeface="Noto Sans SC"/>
              </a:rPr>
              <a:t>• Commercial parcel GeoPackage</a:t>
            </a:r>
            <a:r>
              <a:rPr lang="en-US" b="true" i="false" strike="noStrike" u="none" sz="1400">
                <a:solidFill>
                  <a:srgbClr val="1F2329"/>
                </a:solidFill>
                <a:latin typeface="Noto Sans SC"/>
                <a:ea typeface="Noto Sans SC"/>
                <a:cs typeface="Noto Sans SC"/>
                <a:sym typeface="Noto Sans SC"/>
              </a:rPr>
              <a:t/>
            </a:r>
            <a:endParaRPr lang="en-US" sz="1100"/>
          </a:p>
          <a:p>
            <a:pPr algn="l" indent="0">
              <a:lnSpc>
                <a:spcPct val="125000"/>
              </a:lnSpc>
            </a:pPr>
            <a:r>
              <a:rPr lang="en-US" b="true" i="false" strike="noStrike" u="none" sz="1400">
                <a:solidFill>
                  <a:srgbClr val="1F2329"/>
                </a:solidFill>
                <a:latin typeface="Noto Sans SC"/>
                <a:ea typeface="Noto Sans SC"/>
                <a:cs typeface="Noto Sans SC"/>
                <a:sym typeface="Noto Sans SC"/>
              </a:rPr>
              <a:t>• Parcel attribute CSV</a:t>
            </a:r>
          </a:p>
        </p:txBody>
      </p:sp>
      <p:sp>
        <p:nvSpPr>
          <p:cNvPr name="AutoShape 13" id="13"/>
          <p:cNvSpPr/>
          <p:nvPr/>
        </p:nvSpPr>
        <p:spPr>
          <a:xfrm rot="0" flipH="false" flipV="false">
            <a:off x="8001000" y="2032000"/>
            <a:ext cx="1905000" cy="1016000"/>
          </a:xfrm>
          <a:prstGeom prst="roundRect">
            <a:avLst>
              <a:gd name="adj" fmla="val 1250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8001000" y="2159000"/>
            <a:ext cx="1905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200">
                <a:solidFill>
                  <a:srgbClr val="FFFFFF"/>
                </a:solidFill>
                <a:latin typeface="Calibri"/>
                <a:ea typeface="Calibri"/>
                <a:cs typeface="Calibri"/>
                <a:sym typeface="Calibri"/>
              </a:rPr>
              <a:t>Step 3</a:t>
            </a:r>
            <a:r>
              <a:rPr lang="en-US" b="false" i="false" strike="noStrike" u="none" sz="1600">
                <a:solidFill>
                  <a:srgbClr val="1F2329"/>
                </a:solidFill>
                <a:latin typeface="Calibri"/>
                <a:ea typeface="Calibri"/>
                <a:cs typeface="Calibri"/>
                <a:sym typeface="Calibri"/>
              </a:rPr>
              <a:t/>
            </a:r>
            <a:endParaRPr lang="en-US" sz="1100"/>
          </a:p>
          <a:p>
            <a:pPr algn="ctr" indent="0">
              <a:lnSpc>
                <a:spcPct val="125000"/>
              </a:lnSpc>
            </a:pPr>
            <a:r>
              <a:rPr lang="en-US" b="false" i="false" strike="noStrike" u="none" sz="1200">
                <a:solidFill>
                  <a:srgbClr val="FFFFFF">
                    <a:alpha val="90196"/>
                  </a:srgbClr>
                </a:solidFill>
                <a:latin typeface="Calibri"/>
                <a:ea typeface="Calibri"/>
                <a:cs typeface="Calibri"/>
                <a:sym typeface="Calibri"/>
              </a:rPr>
              <a:t>Data Matching</a:t>
            </a:r>
          </a:p>
        </p:txBody>
      </p:sp>
      <p:sp>
        <p:nvSpPr>
          <p:cNvPr name="AutoShape 15" id="15"/>
          <p:cNvSpPr/>
          <p:nvPr/>
        </p:nvSpPr>
        <p:spPr>
          <a:xfrm rot="0" flipH="false" flipV="false">
            <a:off x="8001000" y="3302000"/>
            <a:ext cx="1905000" cy="2540000"/>
          </a:xfrm>
          <a:prstGeom prst="roundRect">
            <a:avLst>
              <a:gd name="adj" fmla="val 6666"/>
            </a:avLst>
          </a:prstGeom>
          <a:solidFill>
            <a:srgbClr val="ECFDF5">
              <a:alpha val="100000"/>
            </a:srgbClr>
          </a:solidFill>
          <a:ln w="12700" cmpd="sng" cap="flat">
            <a:solidFill>
              <a:srgbClr val="10B981">
                <a:alpha val="30000"/>
              </a:srgbClr>
            </a:solid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8128000" y="3556000"/>
            <a:ext cx="1651000" cy="203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1F2329"/>
                </a:solidFill>
                <a:latin typeface="Noto Sans SC"/>
                <a:ea typeface="Noto Sans SC"/>
                <a:cs typeface="Noto Sans SC"/>
                <a:sym typeface="Noto Sans SC"/>
              </a:rPr>
              <a:t>• Matched license geospatial Parquet</a:t>
            </a:r>
            <a:endParaRPr lang="en-US" sz="1100"/>
          </a:p>
        </p:txBody>
      </p:sp>
      <p:sp>
        <p:nvSpPr>
          <p:cNvPr name="AutoShape 17" id="17"/>
          <p:cNvSpPr/>
          <p:nvPr/>
        </p:nvSpPr>
        <p:spPr>
          <a:xfrm rot="0" flipH="false" flipV="false">
            <a:off x="10033000" y="2032000"/>
            <a:ext cx="1905000" cy="1016000"/>
          </a:xfrm>
          <a:prstGeom prst="roundRect">
            <a:avLst>
              <a:gd name="adj" fmla="val 12500"/>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10033000" y="2159000"/>
            <a:ext cx="1905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200">
                <a:solidFill>
                  <a:srgbClr val="FFFFFF"/>
                </a:solidFill>
                <a:latin typeface="Calibri"/>
                <a:ea typeface="Calibri"/>
                <a:cs typeface="Calibri"/>
                <a:sym typeface="Calibri"/>
              </a:rPr>
              <a:t>Part 4</a:t>
            </a:r>
            <a:r>
              <a:rPr lang="en-US" b="false" i="false" strike="noStrike" u="none" sz="1600">
                <a:solidFill>
                  <a:srgbClr val="1F2329"/>
                </a:solidFill>
                <a:latin typeface="Calibri"/>
                <a:ea typeface="Calibri"/>
                <a:cs typeface="Calibri"/>
                <a:sym typeface="Calibri"/>
              </a:rPr>
              <a:t/>
            </a:r>
            <a:endParaRPr lang="en-US" sz="1100"/>
          </a:p>
          <a:p>
            <a:pPr algn="ctr" indent="0">
              <a:lnSpc>
                <a:spcPct val="125000"/>
              </a:lnSpc>
            </a:pPr>
            <a:r>
              <a:rPr lang="en-US" b="false" i="false" strike="noStrike" u="none" sz="1200">
                <a:solidFill>
                  <a:srgbClr val="FFFFFF">
                    <a:alpha val="90196"/>
                  </a:srgbClr>
                </a:solidFill>
                <a:latin typeface="Calibri"/>
                <a:ea typeface="Calibri"/>
                <a:cs typeface="Calibri"/>
                <a:sym typeface="Calibri"/>
              </a:rPr>
              <a:t>Process Logging</a:t>
            </a:r>
          </a:p>
        </p:txBody>
      </p:sp>
      <p:sp>
        <p:nvSpPr>
          <p:cNvPr name="AutoShape 19" id="19"/>
          <p:cNvSpPr/>
          <p:nvPr/>
        </p:nvSpPr>
        <p:spPr>
          <a:xfrm rot="0" flipH="false" flipV="false">
            <a:off x="10033000" y="3302000"/>
            <a:ext cx="1905000" cy="2540000"/>
          </a:xfrm>
          <a:prstGeom prst="roundRect">
            <a:avLst>
              <a:gd name="adj" fmla="val 6666"/>
            </a:avLst>
          </a:prstGeom>
          <a:solidFill>
            <a:srgbClr val="EFF6FF">
              <a:alpha val="100000"/>
            </a:srgbClr>
          </a:solidFill>
          <a:ln w="12700" cmpd="sng" cap="flat">
            <a:solidFill>
              <a:srgbClr val="3B82F6">
                <a:alpha val="30000"/>
              </a:srgbClr>
            </a:solid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10160000" y="3556000"/>
            <a:ext cx="1651000" cy="203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1F2329"/>
                </a:solidFill>
                <a:latin typeface="Noto Sans SC"/>
                <a:ea typeface="Noto Sans SC"/>
                <a:cs typeface="Noto Sans SC"/>
                <a:sym typeface="Noto Sans SC"/>
              </a:rPr>
              <a:t>• Multi-year process log</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6B7280"/>
                </a:solidFill>
                <a:latin typeface="Noto Sans SC"/>
                <a:ea typeface="Noto Sans SC"/>
                <a:cs typeface="Noto Sans SC"/>
                <a:sym typeface="Noto Sans SC"/>
              </a:rPr>
              <a:t>Record of data transformations and validations</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058400" y="4673600"/>
            <a:ext cx="3759200" cy="3759200"/>
          </a:xfrm>
          <a:prstGeom prst="ellipse">
            <a:avLst/>
          </a:prstGeom>
          <a:solidFill>
            <a:srgbClr val="FFC844">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 id="3"/>
          <p:cNvPicPr>
            <a:picLocks noChangeAspect="true"/>
          </p:cNvPicPr>
          <p:nvPr/>
        </p:nvPicPr>
        <p:blipFill>
          <a:blip r:embed="rId2"/>
          <a:srcRect l="0" r="0" t="469" b="469"/>
          <a:stretch>
            <a:fillRect/>
          </a:stretch>
        </p:blipFill>
        <p:spPr>
          <a:xfrm rot="0" flipH="false" flipV="false">
            <a:off x="520700" y="279400"/>
            <a:ext cx="2552700" cy="355600"/>
          </a:xfrm>
          <a:prstGeom prst="rect">
            <a:avLst/>
          </a:prstGeom>
          <a:noFill/>
          <a:ln w="25400" cmpd="sng" cap="flat">
            <a:noFill/>
            <a:prstDash val="solid"/>
            <a:round/>
          </a:ln>
        </p:spPr>
      </p:pic>
      <p:sp>
        <p:nvSpPr>
          <p:cNvPr name="AutoShape 4" id="4"/>
          <p:cNvSpPr/>
          <p:nvPr/>
        </p:nvSpPr>
        <p:spPr>
          <a:xfrm rot="0" flipH="false" flipV="false">
            <a:off x="762000" y="876300"/>
            <a:ext cx="10668000" cy="558800"/>
          </a:xfrm>
          <a:prstGeom prst="roundRect">
            <a:avLst>
              <a:gd name="adj" fmla="val 0"/>
            </a:avLst>
          </a:prstGeom>
          <a:noFill/>
          <a:ln w="254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2F4F4F"/>
                </a:solidFill>
                <a:latin typeface="Poppins"/>
                <a:ea typeface="Poppins"/>
                <a:cs typeface="Poppins"/>
                <a:sym typeface="Poppins"/>
              </a:rPr>
              <a:t>Teaching Takeaways</a:t>
            </a:r>
            <a:endParaRPr lang="en-US" sz="1100"/>
          </a:p>
        </p:txBody>
      </p:sp>
      <p:cxnSp>
        <p:nvCxnSpPr>
          <p:cNvPr name="Connector 5" id="5"/>
          <p:cNvCxnSpPr/>
          <p:nvPr/>
        </p:nvCxnSpPr>
        <p:spPr>
          <a:xfrm rot="-4092" flipH="false" flipV="false">
            <a:off x="762004" y="1644650"/>
            <a:ext cx="10668000" cy="12700"/>
          </a:xfrm>
          <a:prstGeom prst="straightConnector1">
            <a:avLst/>
          </a:prstGeom>
          <a:solidFill>
            <a:srgbClr val="DEE0E3">
              <a:alpha val="100000"/>
            </a:srgbClr>
          </a:solidFill>
          <a:ln w="12700" cmpd="sng" cap="flat">
            <a:solidFill>
              <a:srgbClr val="2F4F4F">
                <a:alpha val="30000"/>
              </a:srgbClr>
            </a:solidFill>
            <a:prstDash val="solid"/>
            <a:round/>
            <a:headEnd type="none" w="med" len="med"/>
            <a:tailEnd type="none" w="med" len="med"/>
          </a:ln>
        </p:spPr>
      </p:cxnSp>
      <p:pic>
        <p:nvPicPr>
          <p:cNvPr name="Picture 6" id="6"/>
          <p:cNvPicPr>
            <a:picLocks noChangeAspect="true"/>
          </p:cNvPicPr>
          <p:nvPr/>
        </p:nvPicPr>
        <p:blipFill>
          <a:blip r:embed="rId3"/>
          <a:srcRect l="0" r="0" t="0" b="0"/>
          <a:stretch>
            <a:fillRect/>
          </a:stretch>
        </p:blipFill>
        <p:spPr>
          <a:xfrm rot="0" flipH="false" flipV="false">
            <a:off x="762000" y="2159000"/>
            <a:ext cx="406400" cy="406400"/>
          </a:xfrm>
          <a:prstGeom prst="rect">
            <a:avLst/>
          </a:prstGeom>
          <a:noFill/>
          <a:ln w="25400" cmpd="sng" cap="flat">
            <a:noFill/>
            <a:prstDash val="solid"/>
            <a:round/>
          </a:ln>
        </p:spPr>
      </p:pic>
      <p:sp>
        <p:nvSpPr>
          <p:cNvPr name="AutoShape 7" id="7"/>
          <p:cNvSpPr/>
          <p:nvPr/>
        </p:nvSpPr>
        <p:spPr>
          <a:xfrm rot="0" flipH="false" flipV="false">
            <a:off x="1397000" y="2095500"/>
            <a:ext cx="4445000" cy="1143000"/>
          </a:xfrm>
          <a:prstGeom prst="roundRect">
            <a:avLst>
              <a:gd name="adj" fmla="val 0"/>
            </a:avLst>
          </a:prstGeom>
          <a:noFill/>
          <a:ln w="25400" cmpd="sng" cap="flat">
            <a:noFill/>
            <a:prstDash val="solid"/>
            <a:round/>
          </a:ln>
        </p:spPr>
        <p:txBody>
          <a:bodyPr anchor="t" rtlCol="false" anchorCtr="false" vert="horz" wrap="square" lIns="0" rIns="0" tIns="0" bIns="0"/>
          <a:lstStyle/>
          <a:p>
            <a:pPr algn="l" indent="0">
              <a:lnSpc>
                <a:spcPct val="100000"/>
              </a:lnSpc>
              <a:defRPr/>
            </a:pPr>
            <a:r>
              <a:rPr lang="en-US" b="true" i="false" strike="noStrike" u="none" sz="1800">
                <a:solidFill>
                  <a:srgbClr val="2F4F4F"/>
                </a:solidFill>
                <a:latin typeface="Poppins"/>
                <a:ea typeface="Poppins"/>
                <a:cs typeface="Poppins"/>
                <a:sym typeface="Poppins"/>
              </a:rPr>
              <a:t>01. Key Normalization</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600"/>
              </a:spcBef>
            </a:pPr>
            <a:r>
              <a:rPr lang="en-US" b="false" i="false" strike="noStrike" u="none" sz="1300">
                <a:solidFill>
                  <a:srgbClr val="505050"/>
                </a:solidFill>
                <a:latin typeface="Noto Sans SC"/>
                <a:ea typeface="Noto Sans SC"/>
                <a:cs typeface="Noto Sans SC"/>
                <a:sym typeface="Noto Sans SC"/>
              </a:rPr>
              <a:t>Public datasets often need key normalization before they can be combined.</a:t>
            </a:r>
          </a:p>
        </p:txBody>
      </p:sp>
      <p:pic>
        <p:nvPicPr>
          <p:cNvPr name="Picture 8" id="8"/>
          <p:cNvPicPr>
            <a:picLocks noChangeAspect="true"/>
          </p:cNvPicPr>
          <p:nvPr/>
        </p:nvPicPr>
        <p:blipFill>
          <a:blip r:embed="rId4"/>
          <a:srcRect l="0" r="0" t="0" b="0"/>
          <a:stretch>
            <a:fillRect/>
          </a:stretch>
        </p:blipFill>
        <p:spPr>
          <a:xfrm rot="0" flipH="false" flipV="false">
            <a:off x="762000" y="3683000"/>
            <a:ext cx="406400" cy="406400"/>
          </a:xfrm>
          <a:prstGeom prst="rect">
            <a:avLst/>
          </a:prstGeom>
          <a:noFill/>
          <a:ln w="25400" cmpd="sng" cap="flat">
            <a:noFill/>
            <a:prstDash val="solid"/>
            <a:round/>
          </a:ln>
        </p:spPr>
      </p:pic>
      <p:sp>
        <p:nvSpPr>
          <p:cNvPr name="AutoShape 9" id="9"/>
          <p:cNvSpPr/>
          <p:nvPr/>
        </p:nvSpPr>
        <p:spPr>
          <a:xfrm rot="0" flipH="false" flipV="false">
            <a:off x="1397000" y="3619500"/>
            <a:ext cx="4445000" cy="1143000"/>
          </a:xfrm>
          <a:prstGeom prst="roundRect">
            <a:avLst>
              <a:gd name="adj" fmla="val 0"/>
            </a:avLst>
          </a:prstGeom>
          <a:noFill/>
          <a:ln w="25400" cmpd="sng" cap="flat">
            <a:noFill/>
            <a:prstDash val="solid"/>
            <a:round/>
          </a:ln>
        </p:spPr>
        <p:txBody>
          <a:bodyPr anchor="t" rtlCol="false" anchorCtr="false" vert="horz" wrap="square" lIns="0" rIns="0" tIns="0" bIns="0"/>
          <a:lstStyle/>
          <a:p>
            <a:pPr algn="l" indent="0">
              <a:lnSpc>
                <a:spcPct val="100000"/>
              </a:lnSpc>
              <a:defRPr/>
            </a:pPr>
            <a:r>
              <a:rPr lang="en-US" b="true" i="false" strike="noStrike" u="none" sz="1800">
                <a:solidFill>
                  <a:srgbClr val="2F4F4F"/>
                </a:solidFill>
                <a:latin typeface="Poppins"/>
                <a:ea typeface="Poppins"/>
                <a:cs typeface="Poppins"/>
                <a:sym typeface="Poppins"/>
              </a:rPr>
              <a:t>02. Filter Before Match</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600"/>
              </a:spcBef>
            </a:pPr>
            <a:r>
              <a:rPr lang="en-US" b="false" i="false" strike="noStrike" u="none" sz="1300">
                <a:solidFill>
                  <a:srgbClr val="505050"/>
                </a:solidFill>
                <a:latin typeface="Noto Sans SC"/>
                <a:ea typeface="Noto Sans SC"/>
                <a:cs typeface="Noto Sans SC"/>
                <a:sym typeface="Noto Sans SC"/>
              </a:rPr>
              <a:t>Parcel filtering should happen before spatial matching to reduce noise.</a:t>
            </a:r>
          </a:p>
        </p:txBody>
      </p:sp>
      <p:pic>
        <p:nvPicPr>
          <p:cNvPr name="Picture 10" id="10"/>
          <p:cNvPicPr>
            <a:picLocks noChangeAspect="true"/>
          </p:cNvPicPr>
          <p:nvPr/>
        </p:nvPicPr>
        <p:blipFill>
          <a:blip r:embed="rId5"/>
          <a:srcRect l="0" r="0" t="0" b="0"/>
          <a:stretch>
            <a:fillRect/>
          </a:stretch>
        </p:blipFill>
        <p:spPr>
          <a:xfrm rot="0" flipH="false" flipV="false">
            <a:off x="762000" y="5207000"/>
            <a:ext cx="406400" cy="406400"/>
          </a:xfrm>
          <a:prstGeom prst="rect">
            <a:avLst/>
          </a:prstGeom>
          <a:noFill/>
          <a:ln w="25400" cmpd="sng" cap="flat">
            <a:noFill/>
            <a:prstDash val="solid"/>
            <a:round/>
          </a:ln>
        </p:spPr>
      </p:pic>
      <p:sp>
        <p:nvSpPr>
          <p:cNvPr name="AutoShape 11" id="11"/>
          <p:cNvSpPr/>
          <p:nvPr/>
        </p:nvSpPr>
        <p:spPr>
          <a:xfrm rot="0" flipH="false" flipV="false">
            <a:off x="1397000" y="5143500"/>
            <a:ext cx="4445000" cy="1143000"/>
          </a:xfrm>
          <a:prstGeom prst="roundRect">
            <a:avLst>
              <a:gd name="adj" fmla="val 0"/>
            </a:avLst>
          </a:prstGeom>
          <a:noFill/>
          <a:ln w="25400" cmpd="sng" cap="flat">
            <a:noFill/>
            <a:prstDash val="solid"/>
            <a:round/>
          </a:ln>
        </p:spPr>
        <p:txBody>
          <a:bodyPr anchor="t" rtlCol="false" anchorCtr="false" vert="horz" wrap="square" lIns="0" rIns="0" tIns="0" bIns="0"/>
          <a:lstStyle/>
          <a:p>
            <a:pPr algn="l" indent="0">
              <a:lnSpc>
                <a:spcPct val="100000"/>
              </a:lnSpc>
              <a:defRPr/>
            </a:pPr>
            <a:r>
              <a:rPr lang="en-US" b="true" i="false" strike="noStrike" u="none" sz="1800">
                <a:solidFill>
                  <a:srgbClr val="2F4F4F"/>
                </a:solidFill>
                <a:latin typeface="Poppins"/>
                <a:ea typeface="Poppins"/>
                <a:cs typeface="Poppins"/>
                <a:sym typeface="Poppins"/>
              </a:rPr>
              <a:t>03. Preprocessing First</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600"/>
              </a:spcBef>
            </a:pPr>
            <a:r>
              <a:rPr lang="en-US" b="false" i="false" strike="noStrike" u="none" sz="1300">
                <a:solidFill>
                  <a:srgbClr val="505050"/>
                </a:solidFill>
                <a:latin typeface="Noto Sans SC"/>
                <a:ea typeface="Noto Sans SC"/>
                <a:cs typeface="Noto Sans SC"/>
                <a:sym typeface="Noto Sans SC"/>
              </a:rPr>
              <a:t>Spatial joins work best after strong tabular preprocessing.</a:t>
            </a:r>
          </a:p>
        </p:txBody>
      </p:sp>
      <p:pic>
        <p:nvPicPr>
          <p:cNvPr name="Picture 12" id="12"/>
          <p:cNvPicPr>
            <a:picLocks noChangeAspect="true"/>
          </p:cNvPicPr>
          <p:nvPr/>
        </p:nvPicPr>
        <p:blipFill>
          <a:blip r:embed="rId6"/>
          <a:srcRect l="0" r="0" t="0" b="0"/>
          <a:stretch>
            <a:fillRect/>
          </a:stretch>
        </p:blipFill>
        <p:spPr>
          <a:xfrm rot="0" flipH="false" flipV="false">
            <a:off x="6350000" y="2159000"/>
            <a:ext cx="406400" cy="406400"/>
          </a:xfrm>
          <a:prstGeom prst="rect">
            <a:avLst/>
          </a:prstGeom>
          <a:noFill/>
          <a:ln w="25400" cmpd="sng" cap="flat">
            <a:noFill/>
            <a:prstDash val="solid"/>
            <a:round/>
          </a:ln>
        </p:spPr>
      </p:pic>
      <p:sp>
        <p:nvSpPr>
          <p:cNvPr name="AutoShape 13" id="13"/>
          <p:cNvSpPr/>
          <p:nvPr/>
        </p:nvSpPr>
        <p:spPr>
          <a:xfrm rot="0" flipH="false" flipV="false">
            <a:off x="6985000" y="2095500"/>
            <a:ext cx="4445000" cy="1143000"/>
          </a:xfrm>
          <a:prstGeom prst="roundRect">
            <a:avLst>
              <a:gd name="adj" fmla="val 0"/>
            </a:avLst>
          </a:prstGeom>
          <a:noFill/>
          <a:ln w="25400" cmpd="sng" cap="flat">
            <a:noFill/>
            <a:prstDash val="solid"/>
            <a:round/>
          </a:ln>
        </p:spPr>
        <p:txBody>
          <a:bodyPr anchor="t" rtlCol="false" anchorCtr="false" vert="horz" wrap="square" lIns="0" rIns="0" tIns="0" bIns="0"/>
          <a:lstStyle/>
          <a:p>
            <a:pPr algn="l" indent="0">
              <a:lnSpc>
                <a:spcPct val="100000"/>
              </a:lnSpc>
              <a:defRPr/>
            </a:pPr>
            <a:r>
              <a:rPr lang="en-US" b="true" i="false" strike="noStrike" u="none" sz="1800">
                <a:solidFill>
                  <a:srgbClr val="2F4F4F"/>
                </a:solidFill>
                <a:latin typeface="Poppins"/>
                <a:ea typeface="Poppins"/>
                <a:cs typeface="Poppins"/>
                <a:sym typeface="Poppins"/>
              </a:rPr>
              <a:t>04. Export Structure</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600"/>
              </a:spcBef>
            </a:pPr>
            <a:r>
              <a:rPr lang="en-US" b="false" i="false" strike="noStrike" u="none" sz="1300">
                <a:solidFill>
                  <a:srgbClr val="505050"/>
                </a:solidFill>
                <a:latin typeface="Noto Sans SC"/>
                <a:ea typeface="Noto Sans SC"/>
                <a:cs typeface="Noto Sans SC"/>
                <a:sym typeface="Noto Sans SC"/>
              </a:rPr>
              <a:t>Export structure matters if the workflow must scale across multiple years.</a:t>
            </a:r>
          </a:p>
        </p:txBody>
      </p:sp>
      <p:pic>
        <p:nvPicPr>
          <p:cNvPr name="Picture 14" id="14"/>
          <p:cNvPicPr>
            <a:picLocks noChangeAspect="true"/>
          </p:cNvPicPr>
          <p:nvPr/>
        </p:nvPicPr>
        <p:blipFill>
          <a:blip r:embed="rId2"/>
          <a:srcRect l="42968" r="42968" t="0" b="0"/>
          <a:stretch>
            <a:fillRect/>
          </a:stretch>
        </p:blipFill>
        <p:spPr>
          <a:xfrm rot="0" flipH="false" flipV="false">
            <a:off x="6350000" y="3683000"/>
            <a:ext cx="406400" cy="406400"/>
          </a:xfrm>
          <a:prstGeom prst="rect">
            <a:avLst/>
          </a:prstGeom>
          <a:noFill/>
          <a:ln w="25400" cmpd="sng" cap="flat">
            <a:noFill/>
            <a:prstDash val="solid"/>
            <a:round/>
          </a:ln>
        </p:spPr>
      </p:pic>
      <p:sp>
        <p:nvSpPr>
          <p:cNvPr name="AutoShape 15" id="15"/>
          <p:cNvSpPr/>
          <p:nvPr/>
        </p:nvSpPr>
        <p:spPr>
          <a:xfrm rot="0" flipH="false" flipV="false">
            <a:off x="6985000" y="3619500"/>
            <a:ext cx="4445000" cy="1524000"/>
          </a:xfrm>
          <a:prstGeom prst="roundRect">
            <a:avLst>
              <a:gd name="adj" fmla="val 0"/>
            </a:avLst>
          </a:prstGeom>
          <a:noFill/>
          <a:ln w="25400" cmpd="sng" cap="flat">
            <a:noFill/>
            <a:prstDash val="solid"/>
            <a:round/>
          </a:ln>
        </p:spPr>
        <p:txBody>
          <a:bodyPr anchor="t" rtlCol="false" anchorCtr="false" vert="horz" wrap="square" lIns="0" rIns="0" tIns="0" bIns="0"/>
          <a:lstStyle/>
          <a:p>
            <a:pPr algn="l" indent="0">
              <a:lnSpc>
                <a:spcPct val="100000"/>
              </a:lnSpc>
              <a:defRPr/>
            </a:pPr>
            <a:r>
              <a:rPr lang="en-US" b="true" i="false" strike="noStrike" u="none" sz="1800">
                <a:solidFill>
                  <a:srgbClr val="2F4F4F"/>
                </a:solidFill>
                <a:latin typeface="Poppins"/>
                <a:ea typeface="Poppins"/>
                <a:cs typeface="Poppins"/>
                <a:sym typeface="Poppins"/>
              </a:rPr>
              <a:t>05. Balance is Key</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600"/>
              </a:spcBef>
            </a:pPr>
            <a:r>
              <a:rPr lang="en-US" b="false" i="false" strike="noStrike" u="none" sz="1300">
                <a:solidFill>
                  <a:srgbClr val="505050"/>
                </a:solidFill>
                <a:latin typeface="Noto Sans SC"/>
                <a:ea typeface="Noto Sans SC"/>
                <a:cs typeface="Noto Sans SC"/>
                <a:sym typeface="Noto Sans SC"/>
              </a:rPr>
              <a:t>A good teaching notebook balances reproducibility, clarity, and extensibility.</a:t>
            </a:r>
          </a:p>
        </p:txBody>
      </p:sp>
      <p:cxnSp>
        <p:nvCxnSpPr>
          <p:cNvPr name="Connector 16" id="16"/>
          <p:cNvCxnSpPr/>
          <p:nvPr/>
        </p:nvCxnSpPr>
        <p:spPr>
          <a:xfrm rot="-4092" flipH="false" flipV="false">
            <a:off x="762004" y="6203950"/>
            <a:ext cx="10668000" cy="12700"/>
          </a:xfrm>
          <a:prstGeom prst="straightConnector1">
            <a:avLst/>
          </a:prstGeom>
          <a:solidFill>
            <a:srgbClr val="DEE0E3">
              <a:alpha val="100000"/>
            </a:srgbClr>
          </a:solidFill>
          <a:ln w="12700" cmpd="sng" cap="flat">
            <a:solidFill>
              <a:srgbClr val="2F4F4F">
                <a:alpha val="30000"/>
              </a:srgbClr>
            </a:solidFill>
            <a:prstDash val="solid"/>
            <a:round/>
            <a:headEnd type="none" w="med" len="med"/>
            <a:tailEnd type="none" w="med" len="med"/>
          </a:ln>
        </p:spPr>
      </p:cxn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5400000" flipH="false" flipV="false">
            <a:off x="7797800" y="3098800"/>
            <a:ext cx="6858000" cy="1016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8000">
                <a:solidFill>
                  <a:srgbClr val="E5E7EB"/>
                </a:solidFill>
                <a:latin typeface="MiSans Bold"/>
                <a:ea typeface="MiSans Bold"/>
                <a:cs typeface="MiSans Bold"/>
                <a:sym typeface="MiSans Bold"/>
              </a:rPr>
              <a:t>END</a:t>
            </a:r>
            <a:endParaRPr lang="en-US" sz="1100"/>
          </a:p>
        </p:txBody>
      </p:sp>
      <p:pic>
        <p:nvPicPr>
          <p:cNvPr name="Picture 3" id="3"/>
          <p:cNvPicPr>
            <a:picLocks noChangeAspect="true"/>
          </p:cNvPicPr>
          <p:nvPr/>
        </p:nvPicPr>
        <p:blipFill>
          <a:blip r:embed="rId2"/>
          <a:srcRect l="230" r="230" t="0" b="0"/>
          <a:stretch>
            <a:fillRect/>
          </a:stretch>
        </p:blipFill>
        <p:spPr>
          <a:xfrm rot="0" flipH="false" flipV="false">
            <a:off x="6718300" y="-12700"/>
            <a:ext cx="6172200" cy="6883400"/>
          </a:xfrm>
          <a:prstGeom prst="rect">
            <a:avLst/>
          </a:prstGeom>
          <a:noFill/>
          <a:ln w="25400" cmpd="sng" cap="flat">
            <a:noFill/>
            <a:prstDash val="solid"/>
            <a:round/>
          </a:ln>
        </p:spPr>
      </p:pic>
      <p:sp>
        <p:nvSpPr>
          <p:cNvPr name="AutoShape 4" id="4"/>
          <p:cNvSpPr/>
          <p:nvPr/>
        </p:nvSpPr>
        <p:spPr>
          <a:xfrm rot="0" flipH="false" flipV="false">
            <a:off x="4559300" y="152400"/>
            <a:ext cx="127000" cy="127000"/>
          </a:xfrm>
          <a:prstGeom prst="ellipse">
            <a:avLst/>
          </a:prstGeom>
          <a:solidFill>
            <a:srgbClr val="FFC844">
              <a:alpha val="4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4876800" y="152400"/>
            <a:ext cx="127000" cy="127000"/>
          </a:xfrm>
          <a:prstGeom prst="ellipse">
            <a:avLst/>
          </a:prstGeom>
          <a:solidFill>
            <a:srgbClr val="FFC844">
              <a:alpha val="4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5156200" y="152400"/>
            <a:ext cx="127000" cy="127000"/>
          </a:xfrm>
          <a:prstGeom prst="ellipse">
            <a:avLst/>
          </a:prstGeom>
          <a:solidFill>
            <a:srgbClr val="FFC844">
              <a:alpha val="4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5448300" y="152400"/>
            <a:ext cx="127000" cy="127000"/>
          </a:xfrm>
          <a:prstGeom prst="ellipse">
            <a:avLst/>
          </a:prstGeom>
          <a:solidFill>
            <a:srgbClr val="FFC844">
              <a:alpha val="4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5740400" y="152400"/>
            <a:ext cx="127000" cy="127000"/>
          </a:xfrm>
          <a:prstGeom prst="ellipse">
            <a:avLst/>
          </a:prstGeom>
          <a:solidFill>
            <a:srgbClr val="FFC844">
              <a:alpha val="4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6032500" y="152400"/>
            <a:ext cx="127000" cy="127000"/>
          </a:xfrm>
          <a:prstGeom prst="ellipse">
            <a:avLst/>
          </a:prstGeom>
          <a:solidFill>
            <a:srgbClr val="FFC844">
              <a:alpha val="4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6324600" y="152400"/>
            <a:ext cx="127000" cy="127000"/>
          </a:xfrm>
          <a:prstGeom prst="ellipse">
            <a:avLst/>
          </a:prstGeom>
          <a:solidFill>
            <a:srgbClr val="FFC844">
              <a:alpha val="4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4876800" y="419100"/>
            <a:ext cx="127000" cy="127000"/>
          </a:xfrm>
          <a:prstGeom prst="ellipse">
            <a:avLst/>
          </a:prstGeom>
          <a:solidFill>
            <a:srgbClr val="FFC844">
              <a:alpha val="4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5156200" y="419100"/>
            <a:ext cx="127000" cy="127000"/>
          </a:xfrm>
          <a:prstGeom prst="ellipse">
            <a:avLst/>
          </a:prstGeom>
          <a:solidFill>
            <a:srgbClr val="FFC844">
              <a:alpha val="4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5448300" y="419100"/>
            <a:ext cx="127000" cy="127000"/>
          </a:xfrm>
          <a:prstGeom prst="ellipse">
            <a:avLst/>
          </a:prstGeom>
          <a:solidFill>
            <a:srgbClr val="FFC844">
              <a:alpha val="4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5740400" y="419100"/>
            <a:ext cx="127000" cy="127000"/>
          </a:xfrm>
          <a:prstGeom prst="ellipse">
            <a:avLst/>
          </a:prstGeom>
          <a:solidFill>
            <a:srgbClr val="FFC844">
              <a:alpha val="4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6032500" y="419100"/>
            <a:ext cx="127000" cy="127000"/>
          </a:xfrm>
          <a:prstGeom prst="ellipse">
            <a:avLst/>
          </a:prstGeom>
          <a:solidFill>
            <a:srgbClr val="FFC844">
              <a:alpha val="4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6324600" y="419100"/>
            <a:ext cx="127000" cy="127000"/>
          </a:xfrm>
          <a:prstGeom prst="ellipse">
            <a:avLst/>
          </a:prstGeom>
          <a:solidFill>
            <a:srgbClr val="FFC844">
              <a:alpha val="4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5156200" y="685800"/>
            <a:ext cx="127000" cy="127000"/>
          </a:xfrm>
          <a:prstGeom prst="ellipse">
            <a:avLst/>
          </a:prstGeom>
          <a:solidFill>
            <a:srgbClr val="FFC844">
              <a:alpha val="4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5448300" y="685800"/>
            <a:ext cx="127000" cy="127000"/>
          </a:xfrm>
          <a:prstGeom prst="ellipse">
            <a:avLst/>
          </a:prstGeom>
          <a:solidFill>
            <a:srgbClr val="FFC844">
              <a:alpha val="4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5740400" y="685800"/>
            <a:ext cx="127000" cy="127000"/>
          </a:xfrm>
          <a:prstGeom prst="ellipse">
            <a:avLst/>
          </a:prstGeom>
          <a:solidFill>
            <a:srgbClr val="FFC844">
              <a:alpha val="4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6032500" y="685800"/>
            <a:ext cx="127000" cy="127000"/>
          </a:xfrm>
          <a:prstGeom prst="ellipse">
            <a:avLst/>
          </a:prstGeom>
          <a:solidFill>
            <a:srgbClr val="FFC844">
              <a:alpha val="4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6324600" y="685800"/>
            <a:ext cx="127000" cy="127000"/>
          </a:xfrm>
          <a:prstGeom prst="ellipse">
            <a:avLst/>
          </a:prstGeom>
          <a:solidFill>
            <a:srgbClr val="FFC844">
              <a:alpha val="4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5448300" y="952500"/>
            <a:ext cx="127000" cy="127000"/>
          </a:xfrm>
          <a:prstGeom prst="ellipse">
            <a:avLst/>
          </a:prstGeom>
          <a:solidFill>
            <a:srgbClr val="FFC844">
              <a:alpha val="4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5740400" y="952500"/>
            <a:ext cx="127000" cy="127000"/>
          </a:xfrm>
          <a:prstGeom prst="ellipse">
            <a:avLst/>
          </a:prstGeom>
          <a:solidFill>
            <a:srgbClr val="FFC844">
              <a:alpha val="4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6032500" y="952500"/>
            <a:ext cx="127000" cy="127000"/>
          </a:xfrm>
          <a:prstGeom prst="ellipse">
            <a:avLst/>
          </a:prstGeom>
          <a:solidFill>
            <a:srgbClr val="FFC844">
              <a:alpha val="4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6324600" y="952500"/>
            <a:ext cx="127000" cy="127000"/>
          </a:xfrm>
          <a:prstGeom prst="ellipse">
            <a:avLst/>
          </a:prstGeom>
          <a:solidFill>
            <a:srgbClr val="FFC844">
              <a:alpha val="4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304800" y="2286000"/>
            <a:ext cx="6096000" cy="355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9600">
                <a:solidFill>
                  <a:srgbClr val="FA6400"/>
                </a:solidFill>
                <a:latin typeface="MiSans Heavy"/>
                <a:ea typeface="MiSans Heavy"/>
                <a:cs typeface="MiSans Heavy"/>
                <a:sym typeface="MiSans Heavy"/>
              </a:rPr>
              <a:t>End</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pPr>
            <a:r>
              <a:rPr lang="en-US" b="true" i="false" strike="noStrike" u="none" sz="2600">
                <a:solidFill>
                  <a:srgbClr val="1F2329"/>
                </a:solidFill>
                <a:latin typeface="Noto Sans SC"/>
                <a:ea typeface="Noto Sans SC"/>
                <a:cs typeface="Noto Sans SC"/>
                <a:sym typeface="Noto Sans SC"/>
              </a:rPr>
              <a:t>From Raw Public Data to Analysis-Ready Geospatial Outputs</a:t>
            </a:r>
            <a:r>
              <a:rPr lang="en-US" b="false" i="false" strike="noStrike" u="none" sz="1600">
                <a:solidFill>
                  <a:srgbClr val="1F2329"/>
                </a:solidFill>
                <a:latin typeface="Noto Sans SC"/>
                <a:ea typeface="Noto Sans SC"/>
                <a:cs typeface="Noto Sans SC"/>
                <a:sym typeface="Noto Sans SC"/>
              </a:rPr>
              <a:t/>
            </a:r>
          </a:p>
          <a:p>
            <a:pPr algn="l" indent="0">
              <a:lnSpc>
                <a:spcPct val="125000"/>
              </a:lnSpc>
              <a:spcBef>
                <a:spcPts val="1600"/>
              </a:spcBef>
            </a:pPr>
            <a:r>
              <a:rPr lang="en-US" b="false" i="false" strike="noStrike" u="none" sz="1800">
                <a:solidFill>
                  <a:srgbClr val="646A73"/>
                </a:solidFill>
                <a:latin typeface="Noto Sans SC"/>
                <a:ea typeface="Noto Sans SC"/>
                <a:cs typeface="Noto Sans SC"/>
                <a:sym typeface="Noto Sans SC"/>
              </a:rPr>
              <a:t>Chicago Business Licenses x Assessor Classes x Parcel Geometry</a:t>
            </a:r>
          </a:p>
        </p:txBody>
      </p:sp>
      <p:sp>
        <p:nvSpPr>
          <p:cNvPr name="AutoShape 27" id="27"/>
          <p:cNvSpPr/>
          <p:nvPr/>
        </p:nvSpPr>
        <p:spPr>
          <a:xfrm rot="-5400000" flipH="false" flipV="false">
            <a:off x="5105400" y="5207000"/>
            <a:ext cx="1231900" cy="393700"/>
          </a:xfrm>
          <a:prstGeom prst="roundRect">
            <a:avLst>
              <a:gd name="adj" fmla="val 0"/>
            </a:avLst>
          </a:prstGeom>
          <a:solidFill>
            <a:srgbClr val="FFC844">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8" id="28"/>
          <p:cNvSpPr/>
          <p:nvPr/>
        </p:nvSpPr>
        <p:spPr>
          <a:xfrm rot="10800000" flipH="false" flipV="false">
            <a:off x="4686300" y="5626100"/>
            <a:ext cx="1231900" cy="393700"/>
          </a:xfrm>
          <a:prstGeom prst="roundRect">
            <a:avLst>
              <a:gd name="adj" fmla="val 0"/>
            </a:avLst>
          </a:prstGeom>
          <a:solidFill>
            <a:srgbClr val="FFC844">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9" id="29"/>
          <p:cNvSpPr/>
          <p:nvPr/>
        </p:nvSpPr>
        <p:spPr>
          <a:xfrm rot="-8100000" flipH="false" flipV="false">
            <a:off x="4673600" y="5092700"/>
            <a:ext cx="1041400" cy="393700"/>
          </a:xfrm>
          <a:prstGeom prst="roundRect">
            <a:avLst>
              <a:gd name="adj" fmla="val 0"/>
            </a:avLst>
          </a:prstGeom>
          <a:solidFill>
            <a:srgbClr val="FFC844">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0" id="30"/>
          <p:cNvPicPr>
            <a:picLocks noChangeAspect="true"/>
          </p:cNvPicPr>
          <p:nvPr/>
        </p:nvPicPr>
        <p:blipFill>
          <a:blip r:embed="rId3"/>
          <a:srcRect l="0" r="0" t="469" b="469"/>
          <a:stretch>
            <a:fillRect/>
          </a:stretch>
        </p:blipFill>
        <p:spPr>
          <a:xfrm rot="0" flipH="false" flipV="false">
            <a:off x="444500" y="279400"/>
            <a:ext cx="2552700" cy="355600"/>
          </a:xfrm>
          <a:prstGeom prst="rect">
            <a:avLst/>
          </a:prstGeom>
          <a:noFill/>
          <a:ln w="25400" cmpd="sng" cap="flat">
            <a:noFill/>
            <a:prstDash val="solid"/>
            <a:round/>
          </a:ln>
        </p:spPr>
      </p:pic>
      <p:pic>
        <p:nvPicPr>
          <p:cNvPr name="Picture 31" id="31"/>
          <p:cNvPicPr>
            <a:picLocks noChangeAspect="true"/>
          </p:cNvPicPr>
          <p:nvPr/>
        </p:nvPicPr>
        <p:blipFill>
          <a:blip r:embed="rId5"/>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